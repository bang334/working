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A2E276B-BD07-4E60-9CF1-47894253596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4636EB5-BDF8-44A5-9D1B-7EF62646855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0723603-807E-4D01-ABBC-FFF57DCD4BC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92E823E-C1FA-4787-B7FC-5BACFDE6054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8850CA0-B5F0-44EF-91A3-6802C2FBA10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1789180-0096-406F-8B65-DDAC62C659B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AC8FF46-C0C6-4971-B2BD-1558C289C1B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611EF436-7252-48C5-B5F1-045E124F2CB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4DA9BA4-C83C-4D7B-A4E0-A9D4B34D1DB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02FF67C-A12E-4C05-B767-CEF5ED01B1A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1892BC-81C4-4D3C-8925-C03995B34547}"/>
              </a:ext>
            </a:extLst>
          </p:cNvPr>
          <p:cNvSpPr>
            <a:spLocks noGrp="1"/>
          </p:cNvSpPr>
          <p:nvPr/>
        </p:nvSpPr>
        <p:spPr>
          <a:xfrm>
            <a:off x="685800" y="571500"/>
            <a:ext cx="10477500" cy="333375"/>
          </a:xfrm>
          <a:prstGeom prst="rect">
            <a:avLst/>
          </a:prstGeom>
          <a:noFill/>
          <a:ln w="0">
            <a:noFill/>
          </a:ln>
        </p:spPr>
        <p:txBody>
          <a:bodyPr lIns="0" tIns="0" rIns="0" bIns="0" anchor="t"/>
          <a:lstStyle>
            <a:defPPr>
              <a:defRPr sz="1575" b="1">
                <a:solidFill>
                  <a:srgbClr val="6CD4D0"/>
                </a:solidFill>
                <a:latin typeface="Calibri"/>
                <a:ea typeface="Calibri"/>
                <a:cs typeface="Calibri"/>
              </a:defRPr>
            </a:defPPr>
            <a:lvl1pPr>
              <a:defRPr sz="1575" b="1">
                <a:solidFill>
                  <a:srgbClr val="6CD4D0"/>
                </a:solidFill>
                <a:latin typeface="Calibri"/>
                <a:ea typeface="Calibri"/>
                <a:cs typeface="Calibri"/>
              </a:defRPr>
            </a:lvl1pPr>
            <a:lvl2pPr>
              <a:defRPr sz="1575" b="1">
                <a:solidFill>
                  <a:srgbClr val="6CD4D0"/>
                </a:solidFill>
                <a:latin typeface="Calibri"/>
                <a:ea typeface="Calibri"/>
                <a:cs typeface="Calibri"/>
              </a:defRPr>
            </a:lvl2pPr>
            <a:lvl3pPr>
              <a:defRPr sz="1575" b="1">
                <a:solidFill>
                  <a:srgbClr val="6CD4D0"/>
                </a:solidFill>
                <a:latin typeface="Calibri"/>
                <a:ea typeface="Calibri"/>
                <a:cs typeface="Calibri"/>
              </a:defRPr>
            </a:lvl3pPr>
            <a:lvl4pPr>
              <a:defRPr sz="1575" b="1">
                <a:solidFill>
                  <a:srgbClr val="6CD4D0"/>
                </a:solidFill>
                <a:latin typeface="Calibri"/>
                <a:ea typeface="Calibri"/>
                <a:cs typeface="Calibri"/>
              </a:defRPr>
            </a:lvl4pPr>
            <a:lvl5pPr>
              <a:defRPr sz="1575" b="1">
                <a:solidFill>
                  <a:srgbClr val="6CD4D0"/>
                </a:solidFill>
                <a:latin typeface="Calibri"/>
                <a:ea typeface="Calibri"/>
                <a:cs typeface="Calibri"/>
              </a:defRPr>
            </a:lvl5pPr>
            <a:lvl6pPr>
              <a:defRPr sz="1575" b="1">
                <a:solidFill>
                  <a:srgbClr val="6CD4D0"/>
                </a:solidFill>
                <a:latin typeface="Calibri"/>
                <a:ea typeface="Calibri"/>
                <a:cs typeface="Calibri"/>
              </a:defRPr>
            </a:lvl6pPr>
            <a:lvl7pPr>
              <a:defRPr sz="1575" b="1">
                <a:solidFill>
                  <a:srgbClr val="6CD4D0"/>
                </a:solidFill>
                <a:latin typeface="Calibri"/>
                <a:ea typeface="Calibri"/>
                <a:cs typeface="Calibri"/>
              </a:defRPr>
            </a:lvl7pPr>
            <a:lvl8pPr>
              <a:defRPr sz="1575" b="1">
                <a:solidFill>
                  <a:srgbClr val="6CD4D0"/>
                </a:solidFill>
                <a:latin typeface="Calibri"/>
                <a:ea typeface="Calibri"/>
                <a:cs typeface="Calibri"/>
              </a:defRPr>
            </a:lvl8pPr>
            <a:lvl9pPr>
              <a:defRPr sz="1575" b="1">
                <a:solidFill>
                  <a:srgbClr val="6CD4D0"/>
                </a:solidFill>
                <a:latin typeface="Calibri"/>
                <a:ea typeface="Calibri"/>
                <a:cs typeface="Calibri"/>
              </a:defRPr>
            </a:lvl9pPr>
          </a:lstStyle>
          <a:p>
            <a:pPr>
              <a:defRPr sz="1575" b="1">
                <a:solidFill>
                  <a:srgbClr val="6CD4D0"/>
                </a:solidFill>
                <a:latin typeface="Calibri"/>
                <a:ea typeface="Calibri"/>
                <a:cs typeface="Calibri"/>
              </a:defRPr>
            </a:pPr>
            <a:r>
              <a:rPr sz="1575" b="1">
                <a:solidFill>
                  <a:srgbClr val="6CD4D0"/>
                </a:solidFill>
                <a:latin typeface="Calibri"/>
                <a:ea typeface="Calibri"/>
                <a:cs typeface="Calibri"/>
              </a:rPr>
              <a:t>HONG MING GLOBAL</a:t>
            </a:r>
          </a:p>
        </p:txBody>
      </p:sp>
      <p:sp>
        <p:nvSpPr>
          <p:cNvPr id="2" name="Rectangle 1">
            <a:extLst>
              <a:ext uri="{FF2B5EF4-FFF2-40B4-BE49-F238E27FC236}">
                <a16:creationId xmlns:a16="http://schemas.microsoft.com/office/drawing/2014/main" id="{72521286-B588-4322-839F-7634E9D442EB}"/>
              </a:ext>
            </a:extLst>
          </p:cNvPr>
          <p:cNvSpPr>
            <a:spLocks noGrp="1"/>
          </p:cNvSpPr>
          <p:nvPr/>
        </p:nvSpPr>
        <p:spPr>
          <a:xfrm>
            <a:off x="685800" y="2057400"/>
            <a:ext cx="10572750" cy="952500"/>
          </a:xfrm>
          <a:prstGeom prst="rect">
            <a:avLst/>
          </a:prstGeom>
          <a:noFill/>
          <a:ln w="0">
            <a:noFill/>
          </a:ln>
        </p:spPr>
        <p:txBody>
          <a:bodyPr lIns="0" tIns="0" rIns="0" bIns="0" anchor="t"/>
          <a:lstStyle>
            <a:defPPr>
              <a:defRPr sz="5250" b="1">
                <a:solidFill>
                  <a:srgbClr val="FFFFFF"/>
                </a:solidFill>
                <a:latin typeface="Calibri"/>
                <a:ea typeface="Calibri"/>
                <a:cs typeface="Calibri"/>
              </a:defRPr>
            </a:defPPr>
            <a:lvl1pPr>
              <a:defRPr sz="5250" b="1">
                <a:solidFill>
                  <a:srgbClr val="FFFFFF"/>
                </a:solidFill>
                <a:latin typeface="Calibri"/>
                <a:ea typeface="Calibri"/>
                <a:cs typeface="Calibri"/>
              </a:defRPr>
            </a:lvl1pPr>
            <a:lvl2pPr>
              <a:defRPr sz="5250" b="1">
                <a:solidFill>
                  <a:srgbClr val="FFFFFF"/>
                </a:solidFill>
                <a:latin typeface="Calibri"/>
                <a:ea typeface="Calibri"/>
                <a:cs typeface="Calibri"/>
              </a:defRPr>
            </a:lvl2pPr>
            <a:lvl3pPr>
              <a:defRPr sz="5250" b="1">
                <a:solidFill>
                  <a:srgbClr val="FFFFFF"/>
                </a:solidFill>
                <a:latin typeface="Calibri"/>
                <a:ea typeface="Calibri"/>
                <a:cs typeface="Calibri"/>
              </a:defRPr>
            </a:lvl3pPr>
            <a:lvl4pPr>
              <a:defRPr sz="5250" b="1">
                <a:solidFill>
                  <a:srgbClr val="FFFFFF"/>
                </a:solidFill>
                <a:latin typeface="Calibri"/>
                <a:ea typeface="Calibri"/>
                <a:cs typeface="Calibri"/>
              </a:defRPr>
            </a:lvl4pPr>
            <a:lvl5pPr>
              <a:defRPr sz="5250" b="1">
                <a:solidFill>
                  <a:srgbClr val="FFFFFF"/>
                </a:solidFill>
                <a:latin typeface="Calibri"/>
                <a:ea typeface="Calibri"/>
                <a:cs typeface="Calibri"/>
              </a:defRPr>
            </a:lvl5pPr>
            <a:lvl6pPr>
              <a:defRPr sz="5250" b="1">
                <a:solidFill>
                  <a:srgbClr val="FFFFFF"/>
                </a:solidFill>
                <a:latin typeface="Calibri"/>
                <a:ea typeface="Calibri"/>
                <a:cs typeface="Calibri"/>
              </a:defRPr>
            </a:lvl6pPr>
            <a:lvl7pPr>
              <a:defRPr sz="5250" b="1">
                <a:solidFill>
                  <a:srgbClr val="FFFFFF"/>
                </a:solidFill>
                <a:latin typeface="Calibri"/>
                <a:ea typeface="Calibri"/>
                <a:cs typeface="Calibri"/>
              </a:defRPr>
            </a:lvl7pPr>
            <a:lvl8pPr>
              <a:defRPr sz="5250" b="1">
                <a:solidFill>
                  <a:srgbClr val="FFFFFF"/>
                </a:solidFill>
                <a:latin typeface="Calibri"/>
                <a:ea typeface="Calibri"/>
                <a:cs typeface="Calibri"/>
              </a:defRPr>
            </a:lvl8pPr>
            <a:lvl9pPr>
              <a:defRPr sz="5250" b="1">
                <a:solidFill>
                  <a:srgbClr val="FFFFFF"/>
                </a:solidFill>
                <a:latin typeface="Calibri"/>
                <a:ea typeface="Calibri"/>
                <a:cs typeface="Calibri"/>
              </a:defRPr>
            </a:lvl9pPr>
          </a:lstStyle>
          <a:p>
            <a:pPr>
              <a:defRPr sz="5250" b="1">
                <a:solidFill>
                  <a:srgbClr val="FFFFFF"/>
                </a:solidFill>
                <a:latin typeface="Calibri"/>
                <a:ea typeface="Calibri"/>
                <a:cs typeface="Calibri"/>
              </a:defRPr>
            </a:pPr>
            <a:r>
              <a:rPr sz="5250" b="1">
                <a:solidFill>
                  <a:srgbClr val="FFFFFF"/>
                </a:solidFill>
                <a:latin typeface="Calibri"/>
                <a:ea typeface="Calibri"/>
                <a:cs typeface="Calibri"/>
              </a:rPr>
              <a:t>BÁO CÁO TUẦN</a:t>
            </a:r>
          </a:p>
        </p:txBody>
      </p:sp>
      <p:sp>
        <p:nvSpPr>
          <p:cNvPr id="3" name="Rectangle 2">
            <a:extLst>
              <a:ext uri="{FF2B5EF4-FFF2-40B4-BE49-F238E27FC236}">
                <a16:creationId xmlns:a16="http://schemas.microsoft.com/office/drawing/2014/main" id="{4F4343A6-8223-4FCB-A3E5-94C6EB853B81}"/>
              </a:ext>
            </a:extLst>
          </p:cNvPr>
          <p:cNvSpPr>
            <a:spLocks noGrp="1"/>
          </p:cNvSpPr>
          <p:nvPr/>
        </p:nvSpPr>
        <p:spPr>
          <a:xfrm>
            <a:off x="723900" y="3143250"/>
            <a:ext cx="10477500" cy="647700"/>
          </a:xfrm>
          <a:prstGeom prst="rect">
            <a:avLst/>
          </a:prstGeom>
          <a:noFill/>
          <a:ln w="0">
            <a:noFill/>
          </a:ln>
        </p:spPr>
        <p:txBody>
          <a:bodyPr lIns="0" tIns="0" rIns="0" bIns="0" anchor="t"/>
          <a:lstStyle>
            <a:defPPr>
              <a:defRPr sz="2625" b="0">
                <a:solidFill>
                  <a:srgbClr val="6CD4D0"/>
                </a:solidFill>
                <a:latin typeface="Microsoft JhengHei"/>
                <a:ea typeface="Microsoft JhengHei"/>
                <a:cs typeface="Microsoft JhengHei"/>
              </a:defRPr>
            </a:defPPr>
            <a:lvl1pPr>
              <a:defRPr sz="2625" b="0">
                <a:solidFill>
                  <a:srgbClr val="6CD4D0"/>
                </a:solidFill>
                <a:latin typeface="Microsoft JhengHei"/>
                <a:ea typeface="Microsoft JhengHei"/>
                <a:cs typeface="Microsoft JhengHei"/>
              </a:defRPr>
            </a:lvl1pPr>
            <a:lvl2pPr>
              <a:defRPr sz="2625" b="0">
                <a:solidFill>
                  <a:srgbClr val="6CD4D0"/>
                </a:solidFill>
                <a:latin typeface="Microsoft JhengHei"/>
                <a:ea typeface="Microsoft JhengHei"/>
                <a:cs typeface="Microsoft JhengHei"/>
              </a:defRPr>
            </a:lvl2pPr>
            <a:lvl3pPr>
              <a:defRPr sz="2625" b="0">
                <a:solidFill>
                  <a:srgbClr val="6CD4D0"/>
                </a:solidFill>
                <a:latin typeface="Microsoft JhengHei"/>
                <a:ea typeface="Microsoft JhengHei"/>
                <a:cs typeface="Microsoft JhengHei"/>
              </a:defRPr>
            </a:lvl3pPr>
            <a:lvl4pPr>
              <a:defRPr sz="2625" b="0">
                <a:solidFill>
                  <a:srgbClr val="6CD4D0"/>
                </a:solidFill>
                <a:latin typeface="Microsoft JhengHei"/>
                <a:ea typeface="Microsoft JhengHei"/>
                <a:cs typeface="Microsoft JhengHei"/>
              </a:defRPr>
            </a:lvl4pPr>
            <a:lvl5pPr>
              <a:defRPr sz="2625" b="0">
                <a:solidFill>
                  <a:srgbClr val="6CD4D0"/>
                </a:solidFill>
                <a:latin typeface="Microsoft JhengHei"/>
                <a:ea typeface="Microsoft JhengHei"/>
                <a:cs typeface="Microsoft JhengHei"/>
              </a:defRPr>
            </a:lvl5pPr>
            <a:lvl6pPr>
              <a:defRPr sz="2625" b="0">
                <a:solidFill>
                  <a:srgbClr val="6CD4D0"/>
                </a:solidFill>
                <a:latin typeface="Microsoft JhengHei"/>
                <a:ea typeface="Microsoft JhengHei"/>
                <a:cs typeface="Microsoft JhengHei"/>
              </a:defRPr>
            </a:lvl6pPr>
            <a:lvl7pPr>
              <a:defRPr sz="2625" b="0">
                <a:solidFill>
                  <a:srgbClr val="6CD4D0"/>
                </a:solidFill>
                <a:latin typeface="Microsoft JhengHei"/>
                <a:ea typeface="Microsoft JhengHei"/>
                <a:cs typeface="Microsoft JhengHei"/>
              </a:defRPr>
            </a:lvl7pPr>
            <a:lvl8pPr>
              <a:defRPr sz="2625" b="0">
                <a:solidFill>
                  <a:srgbClr val="6CD4D0"/>
                </a:solidFill>
                <a:latin typeface="Microsoft JhengHei"/>
                <a:ea typeface="Microsoft JhengHei"/>
                <a:cs typeface="Microsoft JhengHei"/>
              </a:defRPr>
            </a:lvl8pPr>
            <a:lvl9pPr>
              <a:defRPr sz="2625" b="0">
                <a:solidFill>
                  <a:srgbClr val="6CD4D0"/>
                </a:solidFill>
                <a:latin typeface="Microsoft JhengHei"/>
                <a:ea typeface="Microsoft JhengHei"/>
                <a:cs typeface="Microsoft JhengHei"/>
              </a:defRPr>
            </a:lvl9pPr>
          </a:lstStyle>
          <a:p>
            <a:pPr>
              <a:defRPr sz="2625" b="0">
                <a:solidFill>
                  <a:srgbClr val="6CD4D0"/>
                </a:solidFill>
                <a:latin typeface="Microsoft JhengHei"/>
                <a:ea typeface="Microsoft JhengHei"/>
                <a:cs typeface="Microsoft JhengHei"/>
              </a:defRPr>
            </a:pPr>
            <a:r>
              <a:rPr sz="2625" b="0">
                <a:solidFill>
                  <a:srgbClr val="6CD4D0"/>
                </a:solidFill>
                <a:latin typeface="Microsoft JhengHei"/>
                <a:ea typeface="Microsoft JhengHei"/>
                <a:cs typeface="Microsoft JhengHei"/>
              </a:rPr>
              <a:t>每週工作報告</a:t>
            </a:r>
          </a:p>
        </p:txBody>
      </p:sp>
      <p:sp>
        <p:nvSpPr>
          <p:cNvPr id="4" name="Rectangle 3">
            <a:extLst>
              <a:ext uri="{FF2B5EF4-FFF2-40B4-BE49-F238E27FC236}">
                <a16:creationId xmlns:a16="http://schemas.microsoft.com/office/drawing/2014/main" id="{8BAFD03A-6829-433A-A64A-C6179DA413FB}"/>
              </a:ext>
            </a:extLst>
          </p:cNvPr>
          <p:cNvSpPr>
            <a:spLocks noGrp="1"/>
          </p:cNvSpPr>
          <p:nvPr/>
        </p:nvSpPr>
        <p:spPr>
          <a:xfrm>
            <a:off x="723900" y="4457700"/>
            <a:ext cx="10477500" cy="495300"/>
          </a:xfrm>
          <a:prstGeom prst="rect">
            <a:avLst/>
          </a:prstGeom>
          <a:noFill/>
          <a:ln w="0">
            <a:noFill/>
          </a:ln>
        </p:spPr>
        <p:txBody>
          <a:bodyPr lIns="0" tIns="0" rIns="0" bIns="0" anchor="t"/>
          <a:lstStyle>
            <a:defPPr>
              <a:defRPr sz="2400" b="0">
                <a:solidFill>
                  <a:srgbClr val="FFFFFF"/>
                </a:solidFill>
                <a:latin typeface="Calibri"/>
                <a:ea typeface="Calibri"/>
                <a:cs typeface="Calibri"/>
              </a:defRPr>
            </a:defPPr>
            <a:lvl1pPr>
              <a:defRPr sz="2400" b="0">
                <a:solidFill>
                  <a:srgbClr val="FFFFFF"/>
                </a:solidFill>
                <a:latin typeface="Calibri"/>
                <a:ea typeface="Calibri"/>
                <a:cs typeface="Calibri"/>
              </a:defRPr>
            </a:lvl1pPr>
            <a:lvl2pPr>
              <a:defRPr sz="2400" b="0">
                <a:solidFill>
                  <a:srgbClr val="FFFFFF"/>
                </a:solidFill>
                <a:latin typeface="Calibri"/>
                <a:ea typeface="Calibri"/>
                <a:cs typeface="Calibri"/>
              </a:defRPr>
            </a:lvl2pPr>
            <a:lvl3pPr>
              <a:defRPr sz="2400" b="0">
                <a:solidFill>
                  <a:srgbClr val="FFFFFF"/>
                </a:solidFill>
                <a:latin typeface="Calibri"/>
                <a:ea typeface="Calibri"/>
                <a:cs typeface="Calibri"/>
              </a:defRPr>
            </a:lvl3pPr>
            <a:lvl4pPr>
              <a:defRPr sz="2400" b="0">
                <a:solidFill>
                  <a:srgbClr val="FFFFFF"/>
                </a:solidFill>
                <a:latin typeface="Calibri"/>
                <a:ea typeface="Calibri"/>
                <a:cs typeface="Calibri"/>
              </a:defRPr>
            </a:lvl4pPr>
            <a:lvl5pPr>
              <a:defRPr sz="2400" b="0">
                <a:solidFill>
                  <a:srgbClr val="FFFFFF"/>
                </a:solidFill>
                <a:latin typeface="Calibri"/>
                <a:ea typeface="Calibri"/>
                <a:cs typeface="Calibri"/>
              </a:defRPr>
            </a:lvl5pPr>
            <a:lvl6pPr>
              <a:defRPr sz="2400" b="0">
                <a:solidFill>
                  <a:srgbClr val="FFFFFF"/>
                </a:solidFill>
                <a:latin typeface="Calibri"/>
                <a:ea typeface="Calibri"/>
                <a:cs typeface="Calibri"/>
              </a:defRPr>
            </a:lvl6pPr>
            <a:lvl7pPr>
              <a:defRPr sz="2400" b="0">
                <a:solidFill>
                  <a:srgbClr val="FFFFFF"/>
                </a:solidFill>
                <a:latin typeface="Calibri"/>
                <a:ea typeface="Calibri"/>
                <a:cs typeface="Calibri"/>
              </a:defRPr>
            </a:lvl7pPr>
            <a:lvl8pPr>
              <a:defRPr sz="2400" b="0">
                <a:solidFill>
                  <a:srgbClr val="FFFFFF"/>
                </a:solidFill>
                <a:latin typeface="Calibri"/>
                <a:ea typeface="Calibri"/>
                <a:cs typeface="Calibri"/>
              </a:defRPr>
            </a:lvl8pPr>
            <a:lvl9pPr>
              <a:defRPr sz="2400" b="0">
                <a:solidFill>
                  <a:srgbClr val="FFFFFF"/>
                </a:solidFill>
                <a:latin typeface="Calibri"/>
                <a:ea typeface="Calibri"/>
                <a:cs typeface="Calibri"/>
              </a:defRPr>
            </a:lvl9pPr>
          </a:lstStyle>
          <a:p>
            <a:pPr>
              <a:defRPr sz="2400" b="0">
                <a:solidFill>
                  <a:srgbClr val="FFFFFF"/>
                </a:solidFill>
                <a:latin typeface="Calibri"/>
                <a:ea typeface="Calibri"/>
                <a:cs typeface="Calibri"/>
              </a:defRPr>
            </a:pPr>
            <a:r>
              <a:rPr sz="2400" b="0">
                <a:solidFill>
                  <a:srgbClr val="FFFFFF"/>
                </a:solidFill>
                <a:latin typeface="Calibri"/>
                <a:ea typeface="Calibri"/>
                <a:cs typeface="Calibri"/>
              </a:rPr>
              <a:t>26.10 – 31.10.2026</a:t>
            </a:r>
          </a:p>
        </p:txBody>
      </p:sp>
      <p:sp>
        <p:nvSpPr>
          <p:cNvPr id="5" name="Rectangle 4">
            <a:extLst>
              <a:ext uri="{FF2B5EF4-FFF2-40B4-BE49-F238E27FC236}">
                <a16:creationId xmlns:a16="http://schemas.microsoft.com/office/drawing/2014/main" id="{19E7EB93-29E4-41CB-BE69-545A5062E863}"/>
              </a:ext>
            </a:extLst>
          </p:cNvPr>
          <p:cNvSpPr>
            <a:spLocks noGrp="1"/>
          </p:cNvSpPr>
          <p:nvPr/>
        </p:nvSpPr>
        <p:spPr>
          <a:xfrm>
            <a:off x="733425" y="5391150"/>
            <a:ext cx="10477500" cy="342900"/>
          </a:xfrm>
          <a:prstGeom prst="rect">
            <a:avLst/>
          </a:prstGeom>
          <a:noFill/>
          <a:ln w="0">
            <a:noFill/>
          </a:ln>
        </p:spPr>
        <p:txBody>
          <a:bodyPr lIns="0" tIns="0" rIns="0" bIns="0" anchor="t"/>
          <a:lstStyle>
            <a:defPPr>
              <a:defRPr sz="1650" b="0">
                <a:solidFill>
                  <a:srgbClr val="B8CAD7"/>
                </a:solidFill>
                <a:latin typeface="Calibri"/>
                <a:ea typeface="Calibri"/>
                <a:cs typeface="Calibri"/>
              </a:defRPr>
            </a:defPPr>
            <a:lvl1pPr>
              <a:defRPr sz="1650" b="0">
                <a:solidFill>
                  <a:srgbClr val="B8CAD7"/>
                </a:solidFill>
                <a:latin typeface="Calibri"/>
                <a:ea typeface="Calibri"/>
                <a:cs typeface="Calibri"/>
              </a:defRPr>
            </a:lvl1pPr>
            <a:lvl2pPr>
              <a:defRPr sz="1650" b="0">
                <a:solidFill>
                  <a:srgbClr val="B8CAD7"/>
                </a:solidFill>
                <a:latin typeface="Calibri"/>
                <a:ea typeface="Calibri"/>
                <a:cs typeface="Calibri"/>
              </a:defRPr>
            </a:lvl2pPr>
            <a:lvl3pPr>
              <a:defRPr sz="1650" b="0">
                <a:solidFill>
                  <a:srgbClr val="B8CAD7"/>
                </a:solidFill>
                <a:latin typeface="Calibri"/>
                <a:ea typeface="Calibri"/>
                <a:cs typeface="Calibri"/>
              </a:defRPr>
            </a:lvl3pPr>
            <a:lvl4pPr>
              <a:defRPr sz="1650" b="0">
                <a:solidFill>
                  <a:srgbClr val="B8CAD7"/>
                </a:solidFill>
                <a:latin typeface="Calibri"/>
                <a:ea typeface="Calibri"/>
                <a:cs typeface="Calibri"/>
              </a:defRPr>
            </a:lvl4pPr>
            <a:lvl5pPr>
              <a:defRPr sz="1650" b="0">
                <a:solidFill>
                  <a:srgbClr val="B8CAD7"/>
                </a:solidFill>
                <a:latin typeface="Calibri"/>
                <a:ea typeface="Calibri"/>
                <a:cs typeface="Calibri"/>
              </a:defRPr>
            </a:lvl5pPr>
            <a:lvl6pPr>
              <a:defRPr sz="1650" b="0">
                <a:solidFill>
                  <a:srgbClr val="B8CAD7"/>
                </a:solidFill>
                <a:latin typeface="Calibri"/>
                <a:ea typeface="Calibri"/>
                <a:cs typeface="Calibri"/>
              </a:defRPr>
            </a:lvl6pPr>
            <a:lvl7pPr>
              <a:defRPr sz="1650" b="0">
                <a:solidFill>
                  <a:srgbClr val="B8CAD7"/>
                </a:solidFill>
                <a:latin typeface="Calibri"/>
                <a:ea typeface="Calibri"/>
                <a:cs typeface="Calibri"/>
              </a:defRPr>
            </a:lvl7pPr>
            <a:lvl8pPr>
              <a:defRPr sz="1650" b="0">
                <a:solidFill>
                  <a:srgbClr val="B8CAD7"/>
                </a:solidFill>
                <a:latin typeface="Calibri"/>
                <a:ea typeface="Calibri"/>
                <a:cs typeface="Calibri"/>
              </a:defRPr>
            </a:lvl8pPr>
            <a:lvl9pPr>
              <a:defRPr sz="1650" b="0">
                <a:solidFill>
                  <a:srgbClr val="B8CAD7"/>
                </a:solidFill>
                <a:latin typeface="Calibri"/>
                <a:ea typeface="Calibri"/>
                <a:cs typeface="Calibri"/>
              </a:defRPr>
            </a:lvl9pPr>
          </a:lstStyle>
          <a:p>
            <a:pPr>
              <a:defRPr sz="1650" b="0">
                <a:solidFill>
                  <a:srgbClr val="B8CAD7"/>
                </a:solidFill>
                <a:latin typeface="Calibri"/>
                <a:ea typeface="Calibri"/>
                <a:cs typeface="Calibri"/>
              </a:defRPr>
            </a:pPr>
            <a:r>
              <a:rPr sz="1650" b="0">
                <a:solidFill>
                  <a:srgbClr val="B8CAD7"/>
                </a:solidFill>
                <a:latin typeface="Calibri"/>
                <a:ea typeface="Calibri"/>
                <a:cs typeface="Calibri"/>
              </a:rPr>
              <a:t>NGUYEN SY KIM BANG</a:t>
            </a:r>
          </a:p>
        </p:txBody>
      </p:sp>
      <p:sp>
        <p:nvSpPr>
          <p:cNvPr id="6" name="Rectangle 5">
            <a:extLst>
              <a:ext uri="{FF2B5EF4-FFF2-40B4-BE49-F238E27FC236}">
                <a16:creationId xmlns:a16="http://schemas.microsoft.com/office/drawing/2014/main" id="{1E90A25C-4936-4376-9991-C90086F6F3ED}"/>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B8CAD7"/>
                </a:solidFill>
                <a:latin typeface="Calibri"/>
                <a:ea typeface="Calibri"/>
                <a:cs typeface="Calibri"/>
              </a:defRPr>
            </a:defPPr>
            <a:lvl1pPr>
              <a:defRPr sz="1050" b="0">
                <a:solidFill>
                  <a:srgbClr val="B8CAD7"/>
                </a:solidFill>
                <a:latin typeface="Calibri"/>
                <a:ea typeface="Calibri"/>
                <a:cs typeface="Calibri"/>
              </a:defRPr>
            </a:lvl1pPr>
            <a:lvl2pPr>
              <a:defRPr sz="1050" b="0">
                <a:solidFill>
                  <a:srgbClr val="B8CAD7"/>
                </a:solidFill>
                <a:latin typeface="Calibri"/>
                <a:ea typeface="Calibri"/>
                <a:cs typeface="Calibri"/>
              </a:defRPr>
            </a:lvl2pPr>
            <a:lvl3pPr>
              <a:defRPr sz="1050" b="0">
                <a:solidFill>
                  <a:srgbClr val="B8CAD7"/>
                </a:solidFill>
                <a:latin typeface="Calibri"/>
                <a:ea typeface="Calibri"/>
                <a:cs typeface="Calibri"/>
              </a:defRPr>
            </a:lvl3pPr>
            <a:lvl4pPr>
              <a:defRPr sz="1050" b="0">
                <a:solidFill>
                  <a:srgbClr val="B8CAD7"/>
                </a:solidFill>
                <a:latin typeface="Calibri"/>
                <a:ea typeface="Calibri"/>
                <a:cs typeface="Calibri"/>
              </a:defRPr>
            </a:lvl4pPr>
            <a:lvl5pPr>
              <a:defRPr sz="1050" b="0">
                <a:solidFill>
                  <a:srgbClr val="B8CAD7"/>
                </a:solidFill>
                <a:latin typeface="Calibri"/>
                <a:ea typeface="Calibri"/>
                <a:cs typeface="Calibri"/>
              </a:defRPr>
            </a:lvl5pPr>
            <a:lvl6pPr>
              <a:defRPr sz="1050" b="0">
                <a:solidFill>
                  <a:srgbClr val="B8CAD7"/>
                </a:solidFill>
                <a:latin typeface="Calibri"/>
                <a:ea typeface="Calibri"/>
                <a:cs typeface="Calibri"/>
              </a:defRPr>
            </a:lvl6pPr>
            <a:lvl7pPr>
              <a:defRPr sz="1050" b="0">
                <a:solidFill>
                  <a:srgbClr val="B8CAD7"/>
                </a:solidFill>
                <a:latin typeface="Calibri"/>
                <a:ea typeface="Calibri"/>
                <a:cs typeface="Calibri"/>
              </a:defRPr>
            </a:lvl7pPr>
            <a:lvl8pPr>
              <a:defRPr sz="1050" b="0">
                <a:solidFill>
                  <a:srgbClr val="B8CAD7"/>
                </a:solidFill>
                <a:latin typeface="Calibri"/>
                <a:ea typeface="Calibri"/>
                <a:cs typeface="Calibri"/>
              </a:defRPr>
            </a:lvl8pPr>
            <a:lvl9pPr>
              <a:defRPr sz="1050" b="0">
                <a:solidFill>
                  <a:srgbClr val="B8CAD7"/>
                </a:solidFill>
                <a:latin typeface="Calibri"/>
                <a:ea typeface="Calibri"/>
                <a:cs typeface="Calibri"/>
              </a:defRPr>
            </a:lvl9pPr>
          </a:lstStyle>
          <a:p>
            <a:pPr>
              <a:defRPr sz="1050" b="0">
                <a:solidFill>
                  <a:srgbClr val="B8CAD7"/>
                </a:solidFill>
                <a:latin typeface="Calibri"/>
                <a:ea typeface="Calibri"/>
                <a:cs typeface="Calibri"/>
              </a:defRPr>
            </a:pPr>
            <a:r>
              <a:rPr sz="1050" b="0">
                <a:solidFill>
                  <a:srgbClr val="B8CAD7"/>
                </a:solidFill>
                <a:latin typeface="Calibri"/>
                <a:ea typeface="Calibri"/>
                <a:cs typeface="Calibri"/>
              </a:rPr>
              <a:t>01 / 11</a:t>
            </a:r>
          </a:p>
        </p:txBody>
      </p:sp>
    </p:spTree>
    <p:extLst>
      <p:ext uri="{BB962C8B-B14F-4D97-AF65-F5344CB8AC3E}">
        <p14:creationId xmlns:p14="http://schemas.microsoft.com/office/powerpoint/2010/main" val="936840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5841A-F4C4-44CE-9174-DE9287292782}"/>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Lịch làm việc trong tuần</a:t>
            </a:r>
          </a:p>
        </p:txBody>
      </p:sp>
      <p:sp>
        <p:nvSpPr>
          <p:cNvPr id="2" name="Rectangle 1">
            <a:extLst>
              <a:ext uri="{FF2B5EF4-FFF2-40B4-BE49-F238E27FC236}">
                <a16:creationId xmlns:a16="http://schemas.microsoft.com/office/drawing/2014/main" id="{B0397842-029D-4897-AFBB-2BB792F740DB}"/>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26.10 – 31.10.2026  /  本週工作排程</a:t>
            </a:r>
          </a:p>
        </p:txBody>
      </p:sp>
      <p:sp>
        <p:nvSpPr>
          <p:cNvPr id="3" name="Rectangle 2">
            <a:extLst>
              <a:ext uri="{FF2B5EF4-FFF2-40B4-BE49-F238E27FC236}">
                <a16:creationId xmlns:a16="http://schemas.microsoft.com/office/drawing/2014/main" id="{17D49275-34E2-4B2C-97B3-7CEEACE41144}"/>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DB86E7F4-5E6A-40E0-8C0B-B1ED3167C799}"/>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02 / 11</a:t>
            </a:r>
          </a:p>
        </p:txBody>
      </p:sp>
      <p:graphicFrame>
        <p:nvGraphicFramePr>
          <p:cNvPr id="5" name="Table 4">
            <a:extLst>
              <a:ext uri="{FF2B5EF4-FFF2-40B4-BE49-F238E27FC236}">
                <a16:creationId xmlns:a16="http://schemas.microsoft.com/office/drawing/2014/main" id="{4473719E-3436-44E2-8D76-A488068D348A}"/>
              </a:ext>
            </a:extLst>
          </p:cNvPr>
          <p:cNvGraphicFramePr/>
          <p:nvPr>
            <p:extLst>
              <p:ext uri="{D42A27DB-BD31-4B8C-83A1-F6EECF244321}">
                <p14:modId xmlns:p14="http://schemas.microsoft.com/office/powerpoint/2010/main" val="1539032968"/>
              </p:ext>
            </p:extLst>
          </p:nvPr>
        </p:nvGraphicFramePr>
        <p:xfrm>
          <a:off x="571500" y="1362075"/>
          <a:ext cx="11049000" cy="4813935"/>
        </p:xfrm>
        <a:graphic>
          <a:graphicData uri="http://schemas.openxmlformats.org/drawingml/2006/table">
            <a:tbl>
              <a:tblPr/>
              <a:tblGrid>
                <a:gridCol w="1162050">
                  <a:extLst>
                    <a:ext uri="{9D8B030D-6E8A-4147-A177-3AD203B41FA5}">
                      <a16:colId xmlns:a16="http://schemas.microsoft.com/office/drawing/2014/main" val="20000"/>
                    </a:ext>
                  </a:extLst>
                </a:gridCol>
                <a:gridCol w="4943475">
                  <a:extLst>
                    <a:ext uri="{9D8B030D-6E8A-4147-A177-3AD203B41FA5}">
                      <a16:colId xmlns:a16="http://schemas.microsoft.com/office/drawing/2014/main" val="20001"/>
                    </a:ext>
                  </a:extLst>
                </a:gridCol>
                <a:gridCol w="4943475">
                  <a:extLst>
                    <a:ext uri="{9D8B030D-6E8A-4147-A177-3AD203B41FA5}">
                      <a16:colId xmlns:a16="http://schemas.microsoft.com/office/drawing/2014/main" val="20002"/>
                    </a:ext>
                  </a:extLst>
                </a:gridCol>
              </a:tblGrid>
              <a:tr h="447675">
                <a:tc>
                  <a:txBody>
                    <a:bodyPr/>
                    <a:lstStyle/>
                    <a:p>
                      <a:r>
                        <a:rPr sz="1275" b="1">
                          <a:solidFill>
                            <a:srgbClr val="FFFFFF"/>
                          </a:solidFill>
                          <a:latin typeface="Calibri"/>
                          <a:ea typeface="Calibri"/>
                          <a:cs typeface="Calibri"/>
                        </a:rPr>
                        <a:t>NGÀY / 日期</a:t>
                      </a:r>
                    </a:p>
                  </a:txBody>
                  <a:tcPr anchor="ctr">
                    <a:lnL w="5715">
                      <a:solidFill>
                        <a:srgbClr val="DBE5EC"/>
                      </a:solidFill>
                      <a:prstDash val="solid"/>
                    </a:lnL>
                    <a:lnR w="5715">
                      <a:solidFill>
                        <a:srgbClr val="DBE5EC"/>
                      </a:solidFill>
                      <a:prstDash val="solid"/>
                    </a:lnR>
                    <a:lnT w="5715">
                      <a:solidFill>
                        <a:srgbClr val="DBE5EC"/>
                      </a:solidFill>
                      <a:prstDash val="solid"/>
                    </a:lnT>
                    <a:lnB w="5715">
                      <a:solidFill>
                        <a:srgbClr val="DBE5EC"/>
                      </a:solidFill>
                      <a:prstDash val="solid"/>
                    </a:lnB>
                    <a:solidFill>
                      <a:srgbClr val="12304A"/>
                    </a:solidFill>
                  </a:tcPr>
                </a:tc>
                <a:tc>
                  <a:txBody>
                    <a:bodyPr/>
                    <a:lstStyle/>
                    <a:p>
                      <a:r>
                        <a:rPr sz="1275" b="1">
                          <a:solidFill>
                            <a:srgbClr val="FFFFFF"/>
                          </a:solidFill>
                          <a:latin typeface="Calibri"/>
                          <a:ea typeface="Calibri"/>
                          <a:cs typeface="Calibri"/>
                        </a:rPr>
                        <a:t>SÁNG / 上午  ·  08:00–12:00</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a:solidFill>
                        <a:srgbClr val="DBE5EC"/>
                      </a:solidFill>
                      <a:prstDash val="solid"/>
                    </a:lnT>
                    <a:lnB w="5715">
                      <a:solidFill>
                        <a:srgbClr val="DBE5EC"/>
                      </a:solidFill>
                      <a:prstDash val="solid"/>
                    </a:lnB>
                    <a:solidFill>
                      <a:srgbClr val="12304A"/>
                    </a:solidFill>
                  </a:tcPr>
                </a:tc>
                <a:tc>
                  <a:txBody>
                    <a:bodyPr/>
                    <a:lstStyle/>
                    <a:p>
                      <a:r>
                        <a:rPr sz="1275" b="1">
                          <a:solidFill>
                            <a:srgbClr val="FFFFFF"/>
                          </a:solidFill>
                          <a:latin typeface="Calibri"/>
                          <a:ea typeface="Calibri"/>
                          <a:cs typeface="Calibri"/>
                        </a:rPr>
                        <a:t>CHIỀU / 下午  ·  13:00–17:00</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a:solidFill>
                        <a:srgbClr val="DBE5EC"/>
                      </a:solidFill>
                      <a:prstDash val="solid"/>
                    </a:lnT>
                    <a:lnB w="5715">
                      <a:solidFill>
                        <a:srgbClr val="DBE5EC"/>
                      </a:solidFill>
                      <a:prstDash val="solid"/>
                    </a:lnB>
                    <a:solidFill>
                      <a:srgbClr val="12304A"/>
                    </a:solidFill>
                  </a:tcPr>
                </a:tc>
                <a:extLst>
                  <a:ext uri="{0D108BD9-81ED-4DB2-BD59-A6C34878D82A}">
                    <a16:rowId xmlns:a16="http://schemas.microsoft.com/office/drawing/2014/main" val="10000"/>
                  </a:ext>
                </a:extLst>
              </a:tr>
              <a:tr h="666750">
                <a:tc>
                  <a:txBody>
                    <a:bodyPr/>
                    <a:lstStyle/>
                    <a:p>
                      <a:r>
                        <a:rPr sz="1200" b="1">
                          <a:solidFill>
                            <a:srgbClr val="20384B"/>
                          </a:solidFill>
                          <a:latin typeface="Calibri"/>
                          <a:ea typeface="Calibri"/>
                          <a:cs typeface="Calibri"/>
                        </a:rPr>
                        <a:t>10/26 (一)</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dirty="0">
                          <a:solidFill>
                            <a:srgbClr val="20384B"/>
                          </a:solidFill>
                          <a:latin typeface="Calibri"/>
                          <a:ea typeface="Calibri"/>
                          <a:cs typeface="Calibri"/>
                        </a:rPr>
                        <a:t>Theo </a:t>
                      </a:r>
                      <a:r>
                        <a:rPr sz="1200" b="0" dirty="0" err="1">
                          <a:solidFill>
                            <a:srgbClr val="20384B"/>
                          </a:solidFill>
                          <a:latin typeface="Calibri"/>
                          <a:ea typeface="Calibri"/>
                          <a:cs typeface="Calibri"/>
                        </a:rPr>
                        <a:t>dõi</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công</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nợ</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nhận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hàng</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Darfon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kiểm</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tra</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lên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danh</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sách</a:t>
                      </a:r>
                      <a:r>
                        <a:rPr sz="1200" b="0" dirty="0">
                          <a:solidFill>
                            <a:srgbClr val="20384B"/>
                          </a:solidFill>
                          <a:latin typeface="Calibri"/>
                          <a:ea typeface="Calibri"/>
                          <a:cs typeface="Calibri"/>
                        </a:rPr>
                        <a:t>.</a:t>
                      </a:r>
                    </a:p>
                    <a:p>
                      <a:r>
                        <a:rPr sz="1125" b="0" dirty="0" err="1">
                          <a:solidFill>
                            <a:srgbClr val="526777"/>
                          </a:solidFill>
                          <a:latin typeface="Microsoft JhengHei"/>
                          <a:ea typeface="Microsoft JhengHei"/>
                          <a:cs typeface="Microsoft JhengHei"/>
                        </a:rPr>
                        <a:t>追蹤應收帳款；接收達方（Darfon）設備點收檢驗並建立清冊</a:t>
                      </a:r>
                      <a:r>
                        <a:rPr sz="1125" b="0" dirty="0">
                          <a:solidFill>
                            <a:srgbClr val="526777"/>
                          </a:solidFill>
                          <a:latin typeface="Microsoft JhengHei"/>
                          <a:ea typeface="Microsoft JhengHei"/>
                          <a:cs typeface="Microsoft JhengHei"/>
                        </a:rPr>
                        <a:t>。</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Đọc mail, xem cách viết mail và tham khảo mail mẫu.</a:t>
                      </a:r>
                    </a:p>
                    <a:p>
                      <a:r>
                        <a:rPr sz="1125" b="0">
                          <a:solidFill>
                            <a:srgbClr val="526777"/>
                          </a:solidFill>
                          <a:latin typeface="Microsoft JhengHei"/>
                          <a:ea typeface="Microsoft JhengHei"/>
                          <a:cs typeface="Microsoft JhengHei"/>
                        </a:rPr>
                        <a:t>研讀專案郵件，學習郵件撰寫規範並參考過往信件範例。</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1"/>
                  </a:ext>
                </a:extLst>
              </a:tr>
              <a:tr h="666750">
                <a:tc>
                  <a:txBody>
                    <a:bodyPr/>
                    <a:lstStyle/>
                    <a:p>
                      <a:r>
                        <a:rPr sz="1200" b="1">
                          <a:solidFill>
                            <a:srgbClr val="20384B"/>
                          </a:solidFill>
                          <a:latin typeface="Calibri"/>
                          <a:ea typeface="Calibri"/>
                          <a:cs typeface="Calibri"/>
                        </a:rPr>
                        <a:t>10/27 (二)</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lang="en-US" sz="1200" b="0" dirty="0">
                          <a:solidFill>
                            <a:srgbClr val="20384B"/>
                          </a:solidFill>
                          <a:latin typeface="Calibri"/>
                          <a:ea typeface="Calibri"/>
                          <a:cs typeface="Calibri"/>
                        </a:rPr>
                        <a:t>Theo </a:t>
                      </a:r>
                      <a:r>
                        <a:rPr lang="en-US" sz="1200" b="0" dirty="0" err="1">
                          <a:solidFill>
                            <a:srgbClr val="20384B"/>
                          </a:solidFill>
                          <a:latin typeface="Calibri"/>
                          <a:ea typeface="Calibri"/>
                          <a:cs typeface="Calibri"/>
                        </a:rPr>
                        <a:t>dõi</a:t>
                      </a:r>
                      <a:r>
                        <a:rPr lang="en-US" sz="1200" b="0" dirty="0">
                          <a:solidFill>
                            <a:srgbClr val="20384B"/>
                          </a:solidFill>
                          <a:latin typeface="Calibri"/>
                          <a:ea typeface="Calibri"/>
                          <a:cs typeface="Calibri"/>
                        </a:rPr>
                        <a:t> </a:t>
                      </a:r>
                      <a:r>
                        <a:rPr lang="en-US" sz="1200" b="0" dirty="0" err="1">
                          <a:solidFill>
                            <a:srgbClr val="20384B"/>
                          </a:solidFill>
                          <a:latin typeface="Calibri"/>
                          <a:ea typeface="Calibri"/>
                          <a:cs typeface="Calibri"/>
                        </a:rPr>
                        <a:t>công</a:t>
                      </a:r>
                      <a:r>
                        <a:rPr lang="en-US" sz="1200" b="0" dirty="0">
                          <a:solidFill>
                            <a:srgbClr val="20384B"/>
                          </a:solidFill>
                          <a:latin typeface="Calibri"/>
                          <a:ea typeface="Calibri"/>
                          <a:cs typeface="Calibri"/>
                        </a:rPr>
                        <a:t> </a:t>
                      </a:r>
                      <a:r>
                        <a:rPr lang="en-US" sz="1200" b="0" dirty="0" err="1">
                          <a:solidFill>
                            <a:srgbClr val="20384B"/>
                          </a:solidFill>
                          <a:latin typeface="Calibri"/>
                          <a:ea typeface="Calibri"/>
                          <a:cs typeface="Calibri"/>
                        </a:rPr>
                        <a:t>nợ</a:t>
                      </a:r>
                      <a:endParaRPr lang="en-US" sz="1200" b="0" dirty="0">
                        <a:solidFill>
                          <a:srgbClr val="20384B"/>
                        </a:solidFill>
                        <a:latin typeface="Calibri"/>
                        <a:ea typeface="Calibri"/>
                        <a:cs typeface="Calibri"/>
                      </a:endParaRPr>
                    </a:p>
                    <a:p>
                      <a:r>
                        <a:rPr lang="zh-TW" altLang="en-US" sz="1125" b="0" dirty="0">
                          <a:solidFill>
                            <a:srgbClr val="526777"/>
                          </a:solidFill>
                          <a:latin typeface="Microsoft JhengHei"/>
                          <a:ea typeface="Microsoft JhengHei"/>
                          <a:cs typeface="Microsoft JhengHei"/>
                        </a:rPr>
                        <a:t>追蹤應收帳款</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lang="en-US" sz="1200" b="0" dirty="0" err="1">
                          <a:solidFill>
                            <a:srgbClr val="20384B"/>
                          </a:solidFill>
                          <a:latin typeface="Calibri"/>
                          <a:ea typeface="Calibri"/>
                          <a:cs typeface="Calibri"/>
                        </a:rPr>
                        <a:t>K</a:t>
                      </a:r>
                      <a:r>
                        <a:rPr sz="1200" b="0" dirty="0" err="1">
                          <a:solidFill>
                            <a:srgbClr val="20384B"/>
                          </a:solidFill>
                          <a:latin typeface="Calibri"/>
                          <a:ea typeface="Calibri"/>
                          <a:cs typeface="Calibri"/>
                        </a:rPr>
                        <a:t>hảo</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sát</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hiện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trường</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dự</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án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buổi</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chiều</a:t>
                      </a:r>
                      <a:r>
                        <a:rPr sz="1200" b="0" dirty="0">
                          <a:solidFill>
                            <a:srgbClr val="20384B"/>
                          </a:solidFill>
                          <a:latin typeface="Calibri"/>
                          <a:ea typeface="Calibri"/>
                          <a:cs typeface="Calibri"/>
                        </a:rPr>
                        <a:t>).</a:t>
                      </a:r>
                    </a:p>
                    <a:p>
                      <a:r>
                        <a:rPr sz="1125" b="0" dirty="0" err="1">
                          <a:solidFill>
                            <a:srgbClr val="526777"/>
                          </a:solidFill>
                          <a:latin typeface="Microsoft JhengHei"/>
                          <a:ea typeface="Microsoft JhengHei"/>
                          <a:cs typeface="Microsoft JhengHei"/>
                        </a:rPr>
                        <a:t>持續進行專案現場實地勘查（下午時段</a:t>
                      </a:r>
                      <a:r>
                        <a:rPr sz="1125" b="0" dirty="0">
                          <a:solidFill>
                            <a:srgbClr val="526777"/>
                          </a:solidFill>
                          <a:latin typeface="Microsoft JhengHei"/>
                          <a:ea typeface="Microsoft JhengHei"/>
                          <a:cs typeface="Microsoft JhengHei"/>
                        </a:rPr>
                        <a:t>）。</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extLst>
                  <a:ext uri="{0D108BD9-81ED-4DB2-BD59-A6C34878D82A}">
                    <a16:rowId xmlns:a16="http://schemas.microsoft.com/office/drawing/2014/main" val="10002"/>
                  </a:ext>
                </a:extLst>
              </a:tr>
              <a:tr h="666750">
                <a:tc>
                  <a:txBody>
                    <a:bodyPr/>
                    <a:lstStyle/>
                    <a:p>
                      <a:r>
                        <a:rPr sz="1200" b="1">
                          <a:solidFill>
                            <a:srgbClr val="20384B"/>
                          </a:solidFill>
                          <a:latin typeface="Calibri"/>
                          <a:ea typeface="Calibri"/>
                          <a:cs typeface="Calibri"/>
                        </a:rPr>
                        <a:t>10/28 (三)</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Đi gặp gỡ và làm việc với khách hàng.</a:t>
                      </a:r>
                    </a:p>
                    <a:p>
                      <a:r>
                        <a:rPr sz="1125" b="0">
                          <a:solidFill>
                            <a:srgbClr val="526777"/>
                          </a:solidFill>
                          <a:latin typeface="Microsoft JhengHei"/>
                          <a:ea typeface="Microsoft JhengHei"/>
                          <a:cs typeface="Microsoft JhengHei"/>
                        </a:rPr>
                        <a:t>外出拜訪客戶洽談專案業務。</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dirty="0" err="1">
                          <a:solidFill>
                            <a:srgbClr val="20384B"/>
                          </a:solidFill>
                          <a:latin typeface="Calibri"/>
                          <a:ea typeface="Calibri"/>
                          <a:cs typeface="Calibri"/>
                        </a:rPr>
                        <a:t>Nghiên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cứu</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thông</a:t>
                      </a:r>
                      <a:r>
                        <a:rPr sz="1200" b="0" dirty="0">
                          <a:solidFill>
                            <a:srgbClr val="20384B"/>
                          </a:solidFill>
                          <a:latin typeface="Calibri"/>
                          <a:ea typeface="Calibri"/>
                          <a:cs typeface="Calibri"/>
                        </a:rPr>
                        <a:t> tin </a:t>
                      </a:r>
                      <a:r>
                        <a:rPr sz="1200" b="0" dirty="0" err="1">
                          <a:solidFill>
                            <a:srgbClr val="20384B"/>
                          </a:solidFill>
                          <a:latin typeface="Calibri"/>
                          <a:ea typeface="Calibri"/>
                          <a:cs typeface="Calibri"/>
                        </a:rPr>
                        <a:t>cuộc</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họp</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sáng</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nhận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bàn</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giao</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từ</a:t>
                      </a:r>
                      <a:r>
                        <a:rPr sz="1200" b="0" dirty="0">
                          <a:solidFill>
                            <a:srgbClr val="20384B"/>
                          </a:solidFill>
                          <a:latin typeface="Calibri"/>
                          <a:ea typeface="Calibri"/>
                          <a:cs typeface="Calibri"/>
                        </a:rPr>
                        <a:t> </a:t>
                      </a:r>
                      <a:r>
                        <a:rPr sz="1200" b="0" dirty="0" err="1">
                          <a:solidFill>
                            <a:srgbClr val="20384B"/>
                          </a:solidFill>
                          <a:latin typeface="Calibri"/>
                          <a:ea typeface="Calibri"/>
                          <a:cs typeface="Calibri"/>
                        </a:rPr>
                        <a:t>anh</a:t>
                      </a:r>
                      <a:r>
                        <a:rPr sz="1200" b="0" dirty="0">
                          <a:solidFill>
                            <a:srgbClr val="20384B"/>
                          </a:solidFill>
                          <a:latin typeface="Calibri"/>
                          <a:ea typeface="Calibri"/>
                          <a:cs typeface="Calibri"/>
                        </a:rPr>
                        <a:t> Sung.</a:t>
                      </a:r>
                    </a:p>
                    <a:p>
                      <a:r>
                        <a:rPr sz="1125" b="0" dirty="0" err="1">
                          <a:solidFill>
                            <a:srgbClr val="526777"/>
                          </a:solidFill>
                          <a:latin typeface="Microsoft JhengHei"/>
                          <a:ea typeface="Microsoft JhengHei"/>
                          <a:cs typeface="Microsoft JhengHei"/>
                        </a:rPr>
                        <a:t>研讀上午會議資訊；接收</a:t>
                      </a:r>
                      <a:r>
                        <a:rPr sz="1125" b="0" dirty="0">
                          <a:solidFill>
                            <a:srgbClr val="526777"/>
                          </a:solidFill>
                          <a:latin typeface="Microsoft JhengHei"/>
                          <a:ea typeface="Microsoft JhengHei"/>
                          <a:cs typeface="Microsoft JhengHei"/>
                        </a:rPr>
                        <a:t> Sung </a:t>
                      </a:r>
                      <a:r>
                        <a:rPr sz="1125" b="0" dirty="0" err="1">
                          <a:solidFill>
                            <a:srgbClr val="526777"/>
                          </a:solidFill>
                          <a:latin typeface="Microsoft JhengHei"/>
                          <a:ea typeface="Microsoft JhengHei"/>
                          <a:cs typeface="Microsoft JhengHei"/>
                        </a:rPr>
                        <a:t>主管交接專案工作</a:t>
                      </a:r>
                      <a:r>
                        <a:rPr sz="1125" b="0" dirty="0">
                          <a:solidFill>
                            <a:srgbClr val="526777"/>
                          </a:solidFill>
                          <a:latin typeface="Microsoft JhengHei"/>
                          <a:ea typeface="Microsoft JhengHei"/>
                          <a:cs typeface="Microsoft JhengHei"/>
                        </a:rPr>
                        <a:t>。</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3"/>
                  </a:ext>
                </a:extLst>
              </a:tr>
              <a:tr h="666750">
                <a:tc>
                  <a:txBody>
                    <a:bodyPr/>
                    <a:lstStyle/>
                    <a:p>
                      <a:r>
                        <a:rPr sz="1200" b="1">
                          <a:solidFill>
                            <a:srgbClr val="20384B"/>
                          </a:solidFill>
                          <a:latin typeface="Calibri"/>
                          <a:ea typeface="Calibri"/>
                          <a:cs typeface="Calibri"/>
                        </a:rPr>
                        <a:t>10/29 (四)</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Rà soát các công việc được bàn giao.</a:t>
                      </a:r>
                    </a:p>
                    <a:p>
                      <a:r>
                        <a:rPr sz="1125" b="0">
                          <a:solidFill>
                            <a:srgbClr val="526777"/>
                          </a:solidFill>
                          <a:latin typeface="Microsoft JhengHei"/>
                          <a:ea typeface="Microsoft JhengHei"/>
                          <a:cs typeface="Microsoft JhengHei"/>
                        </a:rPr>
                        <a:t>研讀並梳理各項交接之專案工作。</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Theo dõi công nợ dự án, đôn đốc thu hồi nợ Vonmax.</a:t>
                      </a:r>
                    </a:p>
                    <a:p>
                      <a:r>
                        <a:rPr sz="1125" b="0">
                          <a:solidFill>
                            <a:srgbClr val="526777"/>
                          </a:solidFill>
                          <a:latin typeface="Microsoft JhengHei"/>
                          <a:ea typeface="Microsoft JhengHei"/>
                          <a:cs typeface="Microsoft JhengHei"/>
                        </a:rPr>
                        <a:t>追蹤專案應收帳款，催收弘聲（Vonmax）到期款項。</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extLst>
                  <a:ext uri="{0D108BD9-81ED-4DB2-BD59-A6C34878D82A}">
                    <a16:rowId xmlns:a16="http://schemas.microsoft.com/office/drawing/2014/main" val="10004"/>
                  </a:ext>
                </a:extLst>
              </a:tr>
              <a:tr h="666750">
                <a:tc>
                  <a:txBody>
                    <a:bodyPr/>
                    <a:lstStyle/>
                    <a:p>
                      <a:r>
                        <a:rPr sz="1200" b="1">
                          <a:solidFill>
                            <a:srgbClr val="20384B"/>
                          </a:solidFill>
                          <a:latin typeface="Calibri"/>
                          <a:ea typeface="Calibri"/>
                          <a:cs typeface="Calibri"/>
                        </a:rPr>
                        <a:t>10/30 (五)</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lang="en-US" sz="1200" b="0" dirty="0">
                          <a:solidFill>
                            <a:srgbClr val="20384B"/>
                          </a:solidFill>
                          <a:latin typeface="Calibri"/>
                          <a:ea typeface="Calibri"/>
                          <a:cs typeface="Calibri"/>
                        </a:rPr>
                        <a:t>Theo </a:t>
                      </a:r>
                      <a:r>
                        <a:rPr lang="en-US" sz="1200" b="0" dirty="0" err="1">
                          <a:solidFill>
                            <a:srgbClr val="20384B"/>
                          </a:solidFill>
                          <a:latin typeface="Calibri"/>
                          <a:ea typeface="Calibri"/>
                          <a:cs typeface="Calibri"/>
                        </a:rPr>
                        <a:t>dõi</a:t>
                      </a:r>
                      <a:r>
                        <a:rPr lang="en-US" sz="1200" b="0" dirty="0">
                          <a:solidFill>
                            <a:srgbClr val="20384B"/>
                          </a:solidFill>
                          <a:latin typeface="Calibri"/>
                          <a:ea typeface="Calibri"/>
                          <a:cs typeface="Calibri"/>
                        </a:rPr>
                        <a:t> </a:t>
                      </a:r>
                      <a:r>
                        <a:rPr lang="en-US" sz="1200" b="0" dirty="0" err="1">
                          <a:solidFill>
                            <a:srgbClr val="20384B"/>
                          </a:solidFill>
                          <a:latin typeface="Calibri"/>
                          <a:ea typeface="Calibri"/>
                          <a:cs typeface="Calibri"/>
                        </a:rPr>
                        <a:t>công</a:t>
                      </a:r>
                      <a:r>
                        <a:rPr lang="en-US" sz="1200" b="0" dirty="0">
                          <a:solidFill>
                            <a:srgbClr val="20384B"/>
                          </a:solidFill>
                          <a:latin typeface="Calibri"/>
                          <a:ea typeface="Calibri"/>
                          <a:cs typeface="Calibri"/>
                        </a:rPr>
                        <a:t> </a:t>
                      </a:r>
                      <a:r>
                        <a:rPr lang="en-US" sz="1200" b="0" dirty="0" err="1">
                          <a:solidFill>
                            <a:srgbClr val="20384B"/>
                          </a:solidFill>
                          <a:latin typeface="Calibri"/>
                          <a:ea typeface="Calibri"/>
                          <a:cs typeface="Calibri"/>
                        </a:rPr>
                        <a:t>nợ</a:t>
                      </a:r>
                      <a:endParaRPr lang="en-US" sz="1200" b="0" dirty="0">
                        <a:solidFill>
                          <a:srgbClr val="20384B"/>
                        </a:solidFill>
                        <a:latin typeface="Calibri"/>
                        <a:ea typeface="Calibri"/>
                        <a:cs typeface="Calibri"/>
                      </a:endParaRPr>
                    </a:p>
                    <a:p>
                      <a:r>
                        <a:rPr lang="zh-TW" altLang="en-US" sz="1125" b="0" dirty="0">
                          <a:solidFill>
                            <a:srgbClr val="526777"/>
                          </a:solidFill>
                          <a:latin typeface="Microsoft JhengHei"/>
                          <a:ea typeface="Microsoft JhengHei"/>
                          <a:cs typeface="Microsoft JhengHei"/>
                        </a:rPr>
                        <a:t>追蹤應收帳款</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marL="0" algn="l">
                        <a:spcAft>
                          <a:spcPts val="2"/>
                        </a:spcAft>
                        <a:buNone/>
                      </a:pPr>
                      <a:r>
                        <a:rPr lang="en-US" sz="1200" b="0" dirty="0" err="1">
                          <a:solidFill>
                            <a:srgbClr val="20384B"/>
                          </a:solidFill>
                          <a:latin typeface="Calibri"/>
                          <a:cs typeface="Calibri"/>
                        </a:rPr>
                        <a:t>Làm</a:t>
                      </a:r>
                      <a:r>
                        <a:rPr lang="en-US" sz="1200" b="0" dirty="0">
                          <a:solidFill>
                            <a:srgbClr val="20384B"/>
                          </a:solidFill>
                          <a:latin typeface="Calibri"/>
                          <a:cs typeface="Calibri"/>
                        </a:rPr>
                        <a:t> </a:t>
                      </a:r>
                      <a:r>
                        <a:rPr lang="en-US" sz="1200" b="0" dirty="0" err="1">
                          <a:solidFill>
                            <a:srgbClr val="20384B"/>
                          </a:solidFill>
                          <a:latin typeface="Calibri"/>
                          <a:cs typeface="Calibri"/>
                        </a:rPr>
                        <a:t>báo</a:t>
                      </a:r>
                      <a:r>
                        <a:rPr lang="en-US" sz="1200" b="0" dirty="0">
                          <a:solidFill>
                            <a:srgbClr val="20384B"/>
                          </a:solidFill>
                          <a:latin typeface="Calibri"/>
                          <a:cs typeface="Calibri"/>
                        </a:rPr>
                        <a:t> </a:t>
                      </a:r>
                      <a:r>
                        <a:rPr lang="en-US" sz="1200" b="0" dirty="0" err="1">
                          <a:solidFill>
                            <a:srgbClr val="20384B"/>
                          </a:solidFill>
                          <a:latin typeface="Calibri"/>
                          <a:cs typeface="Calibri"/>
                        </a:rPr>
                        <a:t>cáo</a:t>
                      </a:r>
                      <a:r>
                        <a:rPr lang="en-US" sz="1200" b="0" dirty="0">
                          <a:solidFill>
                            <a:srgbClr val="20384B"/>
                          </a:solidFill>
                          <a:latin typeface="Calibri"/>
                          <a:cs typeface="Calibri"/>
                        </a:rPr>
                        <a:t> </a:t>
                      </a:r>
                      <a:r>
                        <a:rPr lang="en-US" sz="1200" b="0" dirty="0" err="1">
                          <a:solidFill>
                            <a:srgbClr val="20384B"/>
                          </a:solidFill>
                          <a:latin typeface="Calibri"/>
                          <a:cs typeface="Calibri"/>
                        </a:rPr>
                        <a:t>hải</a:t>
                      </a:r>
                      <a:r>
                        <a:rPr lang="en-US" sz="1200" b="0" dirty="0">
                          <a:solidFill>
                            <a:srgbClr val="20384B"/>
                          </a:solidFill>
                          <a:latin typeface="Calibri"/>
                          <a:cs typeface="Calibri"/>
                        </a:rPr>
                        <a:t> </a:t>
                      </a:r>
                      <a:r>
                        <a:rPr lang="en-US" sz="1200" b="0" dirty="0" err="1">
                          <a:solidFill>
                            <a:srgbClr val="20384B"/>
                          </a:solidFill>
                          <a:latin typeface="Calibri"/>
                          <a:cs typeface="Calibri"/>
                        </a:rPr>
                        <a:t>quan</a:t>
                      </a:r>
                      <a:r>
                        <a:rPr lang="en-US" sz="1200" b="0">
                          <a:solidFill>
                            <a:srgbClr val="20384B"/>
                          </a:solidFill>
                          <a:latin typeface="Calibri"/>
                          <a:cs typeface="Calibri"/>
                        </a:rPr>
                        <a:t> </a:t>
                      </a:r>
                    </a:p>
                    <a:p>
                      <a:pPr marL="0" algn="l">
                        <a:spcAft>
                          <a:spcPts val="2"/>
                        </a:spcAft>
                        <a:buNone/>
                      </a:pPr>
                      <a:r>
                        <a:rPr lang="en-US" sz="1200" b="0">
                          <a:solidFill>
                            <a:srgbClr val="20384B"/>
                          </a:solidFill>
                          <a:latin typeface="Calibri"/>
                          <a:cs typeface="Calibri"/>
                        </a:rPr>
                        <a:t>制作海关报表</a:t>
                      </a:r>
                      <a:endParaRPr sz="1200" b="0" dirty="0">
                        <a:solidFill>
                          <a:srgbClr val="20384B"/>
                        </a:solidFill>
                        <a:latin typeface="Calibri"/>
                        <a:ea typeface="Microsoft JhengHei"/>
                        <a:cs typeface="Calibri"/>
                      </a:endParaRP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5"/>
                  </a:ext>
                </a:extLst>
              </a:tr>
              <a:tr h="666750">
                <a:tc>
                  <a:txBody>
                    <a:bodyPr/>
                    <a:lstStyle/>
                    <a:p>
                      <a:r>
                        <a:rPr sz="1200" b="1">
                          <a:solidFill>
                            <a:srgbClr val="20384B"/>
                          </a:solidFill>
                          <a:latin typeface="Calibri"/>
                          <a:ea typeface="Calibri"/>
                          <a:cs typeface="Calibri"/>
                        </a:rPr>
                        <a:t>10/31 (六)</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endParaRPr sz="1125" b="0" dirty="0">
                        <a:solidFill>
                          <a:srgbClr val="526777"/>
                        </a:solidFill>
                        <a:latin typeface="Microsoft JhengHei"/>
                        <a:ea typeface="Microsoft JhengHei"/>
                        <a:cs typeface="Microsoft JhengHei"/>
                      </a:endParaRP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endParaRPr sz="1125" b="0" dirty="0">
                        <a:solidFill>
                          <a:srgbClr val="526777"/>
                        </a:solidFill>
                        <a:latin typeface="Microsoft JhengHei"/>
                        <a:ea typeface="Microsoft JhengHei"/>
                        <a:cs typeface="Microsoft JhengHei"/>
                      </a:endParaRP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extLst>
                  <a:ext uri="{0D108BD9-81ED-4DB2-BD59-A6C34878D82A}">
                    <a16:rowId xmlns:a16="http://schemas.microsoft.com/office/drawing/2014/main" val="10006"/>
                  </a:ext>
                </a:extLst>
              </a:tr>
              <a:tr h="304800">
                <a:tc>
                  <a:txBody>
                    <a:bodyPr/>
                    <a:lstStyle/>
                    <a:p>
                      <a:r>
                        <a:rPr sz="1200" b="1">
                          <a:solidFill>
                            <a:srgbClr val="20384B"/>
                          </a:solidFill>
                          <a:latin typeface="Calibri"/>
                          <a:ea typeface="Calibri"/>
                          <a:cs typeface="Calibri"/>
                        </a:rPr>
                        <a:t>11/01 (日)</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endParaRP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endParaRPr dirty="0"/>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BE53B9E7-F927-4339-A20D-AD3B0868BC08}"/>
              </a:ext>
            </a:extLst>
          </p:cNvPr>
          <p:cNvSpPr>
            <a:spLocks noGrp="1"/>
          </p:cNvSpPr>
          <p:nvPr/>
        </p:nvSpPr>
        <p:spPr>
          <a:xfrm>
            <a:off x="590550" y="6267450"/>
            <a:ext cx="10991850" cy="209550"/>
          </a:xfrm>
          <a:prstGeom prst="rect">
            <a:avLst/>
          </a:prstGeom>
          <a:noFill/>
          <a:ln w="0">
            <a:noFill/>
          </a:ln>
        </p:spPr>
        <p:txBody>
          <a:bodyPr lIns="0" tIns="0" rIns="0" bIns="0" anchor="t"/>
          <a:lstStyle>
            <a:defPPr>
              <a:defRPr sz="1050" b="0">
                <a:solidFill>
                  <a:srgbClr val="526777"/>
                </a:solidFill>
                <a:latin typeface="Microsoft JhengHei"/>
                <a:ea typeface="Microsoft JhengHei"/>
                <a:cs typeface="Microsoft JhengHei"/>
              </a:defRPr>
            </a:defPPr>
            <a:lvl1pPr>
              <a:defRPr sz="1050" b="0">
                <a:solidFill>
                  <a:srgbClr val="526777"/>
                </a:solidFill>
                <a:latin typeface="Microsoft JhengHei"/>
                <a:ea typeface="Microsoft JhengHei"/>
                <a:cs typeface="Microsoft JhengHei"/>
              </a:defRPr>
            </a:lvl1pPr>
            <a:lvl2pPr>
              <a:defRPr sz="1050" b="0">
                <a:solidFill>
                  <a:srgbClr val="526777"/>
                </a:solidFill>
                <a:latin typeface="Microsoft JhengHei"/>
                <a:ea typeface="Microsoft JhengHei"/>
                <a:cs typeface="Microsoft JhengHei"/>
              </a:defRPr>
            </a:lvl2pPr>
            <a:lvl3pPr>
              <a:defRPr sz="1050" b="0">
                <a:solidFill>
                  <a:srgbClr val="526777"/>
                </a:solidFill>
                <a:latin typeface="Microsoft JhengHei"/>
                <a:ea typeface="Microsoft JhengHei"/>
                <a:cs typeface="Microsoft JhengHei"/>
              </a:defRPr>
            </a:lvl3pPr>
            <a:lvl4pPr>
              <a:defRPr sz="1050" b="0">
                <a:solidFill>
                  <a:srgbClr val="526777"/>
                </a:solidFill>
                <a:latin typeface="Microsoft JhengHei"/>
                <a:ea typeface="Microsoft JhengHei"/>
                <a:cs typeface="Microsoft JhengHei"/>
              </a:defRPr>
            </a:lvl4pPr>
            <a:lvl5pPr>
              <a:defRPr sz="1050" b="0">
                <a:solidFill>
                  <a:srgbClr val="526777"/>
                </a:solidFill>
                <a:latin typeface="Microsoft JhengHei"/>
                <a:ea typeface="Microsoft JhengHei"/>
                <a:cs typeface="Microsoft JhengHei"/>
              </a:defRPr>
            </a:lvl5pPr>
            <a:lvl6pPr>
              <a:defRPr sz="1050" b="0">
                <a:solidFill>
                  <a:srgbClr val="526777"/>
                </a:solidFill>
                <a:latin typeface="Microsoft JhengHei"/>
                <a:ea typeface="Microsoft JhengHei"/>
                <a:cs typeface="Microsoft JhengHei"/>
              </a:defRPr>
            </a:lvl6pPr>
            <a:lvl7pPr>
              <a:defRPr sz="1050" b="0">
                <a:solidFill>
                  <a:srgbClr val="526777"/>
                </a:solidFill>
                <a:latin typeface="Microsoft JhengHei"/>
                <a:ea typeface="Microsoft JhengHei"/>
                <a:cs typeface="Microsoft JhengHei"/>
              </a:defRPr>
            </a:lvl7pPr>
            <a:lvl8pPr>
              <a:defRPr sz="1050" b="0">
                <a:solidFill>
                  <a:srgbClr val="526777"/>
                </a:solidFill>
                <a:latin typeface="Microsoft JhengHei"/>
                <a:ea typeface="Microsoft JhengHei"/>
                <a:cs typeface="Microsoft JhengHei"/>
              </a:defRPr>
            </a:lvl8pPr>
            <a:lvl9pPr>
              <a:defRPr sz="1050" b="0">
                <a:solidFill>
                  <a:srgbClr val="526777"/>
                </a:solidFill>
                <a:latin typeface="Microsoft JhengHei"/>
                <a:ea typeface="Microsoft JhengHei"/>
                <a:cs typeface="Microsoft JhengHei"/>
              </a:defRPr>
            </a:lvl9pPr>
          </a:lstStyle>
          <a:p>
            <a:pPr>
              <a:defRPr sz="1050" b="0">
                <a:solidFill>
                  <a:srgbClr val="526777"/>
                </a:solidFill>
                <a:latin typeface="Microsoft JhengHei"/>
                <a:ea typeface="Microsoft JhengHei"/>
                <a:cs typeface="Microsoft JhengHei"/>
              </a:defRPr>
            </a:pPr>
            <a:r>
              <a:rPr sz="1050" b="0">
                <a:solidFill>
                  <a:srgbClr val="526777"/>
                </a:solidFill>
                <a:latin typeface="Microsoft JhengHei"/>
                <a:ea typeface="Microsoft JhengHei"/>
                <a:cs typeface="Microsoft JhengHei"/>
              </a:rPr>
              <a:t>Nghỉ trưa / 午休  12:00–13:00   ·   Tăng ca / 加班  18:00–20:00: chưa có nội dung trong lịch gốc</a:t>
            </a:r>
          </a:p>
        </p:txBody>
      </p:sp>
    </p:spTree>
    <p:extLst>
      <p:ext uri="{BB962C8B-B14F-4D97-AF65-F5344CB8AC3E}">
        <p14:creationId xmlns:p14="http://schemas.microsoft.com/office/powerpoint/2010/main" val="1392867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3A629E5-2EBA-4FE6-8B4D-9C90D1C5C3EF}"/>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Kết quả công việc  ·  26.10</a:t>
            </a:r>
          </a:p>
        </p:txBody>
      </p:sp>
      <p:sp>
        <p:nvSpPr>
          <p:cNvPr id="2" name="Rectangle 1">
            <a:extLst>
              <a:ext uri="{FF2B5EF4-FFF2-40B4-BE49-F238E27FC236}">
                <a16:creationId xmlns:a16="http://schemas.microsoft.com/office/drawing/2014/main" id="{50ACCF69-3323-41A8-9573-6587195DCEE7}"/>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工作結果記錄  /  Thứ Hai / 星期一</a:t>
            </a:r>
          </a:p>
        </p:txBody>
      </p:sp>
      <p:sp>
        <p:nvSpPr>
          <p:cNvPr id="3" name="Rectangle 2">
            <a:extLst>
              <a:ext uri="{FF2B5EF4-FFF2-40B4-BE49-F238E27FC236}">
                <a16:creationId xmlns:a16="http://schemas.microsoft.com/office/drawing/2014/main" id="{63A75738-F6DE-46F5-ACCA-B9B4B123A288}"/>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01FF4686-E3C5-401C-85B7-3F1343E5D126}"/>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03 / 11</a:t>
            </a:r>
          </a:p>
        </p:txBody>
      </p:sp>
      <p:sp>
        <p:nvSpPr>
          <p:cNvPr id="5" name="Rectangle 4">
            <a:extLst>
              <a:ext uri="{FF2B5EF4-FFF2-40B4-BE49-F238E27FC236}">
                <a16:creationId xmlns:a16="http://schemas.microsoft.com/office/drawing/2014/main" id="{F0008B0A-AC02-4603-BD7B-2366F4EFFFBA}"/>
              </a:ext>
            </a:extLst>
          </p:cNvPr>
          <p:cNvSpPr>
            <a:spLocks noGrp="1"/>
          </p:cNvSpPr>
          <p:nvPr/>
        </p:nvSpPr>
        <p:spPr>
          <a:xfrm>
            <a:off x="571500" y="1495425"/>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1B88CD4E-820F-45B0-81B7-F1AD755F02EF}"/>
              </a:ext>
            </a:extLst>
          </p:cNvPr>
          <p:cNvSpPr>
            <a:spLocks noGrp="1"/>
          </p:cNvSpPr>
          <p:nvPr/>
        </p:nvSpPr>
        <p:spPr>
          <a:xfrm>
            <a:off x="1123950" y="1495425"/>
            <a:ext cx="5791200" cy="609600"/>
          </a:xfrm>
          <a:prstGeom prst="rect">
            <a:avLst/>
          </a:prstGeom>
          <a:noFill/>
          <a:ln w="0">
            <a:noFill/>
          </a:ln>
        </p:spPr>
        <p:txBody>
          <a:bodyPr lIns="0" tIns="0" rIns="0" bIns="0" anchor="t"/>
          <a:lstStyle>
            <a:defPPr>
              <a:defRPr sz="2025" b="1">
                <a:solidFill>
                  <a:srgbClr val="12304A"/>
                </a:solidFill>
                <a:latin typeface="Calibri"/>
                <a:ea typeface="Calibri"/>
                <a:cs typeface="Calibri"/>
              </a:defRPr>
            </a:defPPr>
            <a:lvl1pPr>
              <a:defRPr sz="2025" b="1">
                <a:solidFill>
                  <a:srgbClr val="12304A"/>
                </a:solidFill>
                <a:latin typeface="Calibri"/>
                <a:ea typeface="Calibri"/>
                <a:cs typeface="Calibri"/>
              </a:defRPr>
            </a:lvl1pPr>
            <a:lvl2pPr>
              <a:defRPr sz="2025" b="1">
                <a:solidFill>
                  <a:srgbClr val="12304A"/>
                </a:solidFill>
                <a:latin typeface="Calibri"/>
                <a:ea typeface="Calibri"/>
                <a:cs typeface="Calibri"/>
              </a:defRPr>
            </a:lvl2pPr>
            <a:lvl3pPr>
              <a:defRPr sz="2025" b="1">
                <a:solidFill>
                  <a:srgbClr val="12304A"/>
                </a:solidFill>
                <a:latin typeface="Calibri"/>
                <a:ea typeface="Calibri"/>
                <a:cs typeface="Calibri"/>
              </a:defRPr>
            </a:lvl3pPr>
            <a:lvl4pPr>
              <a:defRPr sz="2025" b="1">
                <a:solidFill>
                  <a:srgbClr val="12304A"/>
                </a:solidFill>
                <a:latin typeface="Calibri"/>
                <a:ea typeface="Calibri"/>
                <a:cs typeface="Calibri"/>
              </a:defRPr>
            </a:lvl4pPr>
            <a:lvl5pPr>
              <a:defRPr sz="2025" b="1">
                <a:solidFill>
                  <a:srgbClr val="12304A"/>
                </a:solidFill>
                <a:latin typeface="Calibri"/>
                <a:ea typeface="Calibri"/>
                <a:cs typeface="Calibri"/>
              </a:defRPr>
            </a:lvl5pPr>
            <a:lvl6pPr>
              <a:defRPr sz="2025" b="1">
                <a:solidFill>
                  <a:srgbClr val="12304A"/>
                </a:solidFill>
                <a:latin typeface="Calibri"/>
                <a:ea typeface="Calibri"/>
                <a:cs typeface="Calibri"/>
              </a:defRPr>
            </a:lvl6pPr>
            <a:lvl7pPr>
              <a:defRPr sz="2025" b="1">
                <a:solidFill>
                  <a:srgbClr val="12304A"/>
                </a:solidFill>
                <a:latin typeface="Calibri"/>
                <a:ea typeface="Calibri"/>
                <a:cs typeface="Calibri"/>
              </a:defRPr>
            </a:lvl7pPr>
            <a:lvl8pPr>
              <a:defRPr sz="2025" b="1">
                <a:solidFill>
                  <a:srgbClr val="12304A"/>
                </a:solidFill>
                <a:latin typeface="Calibri"/>
                <a:ea typeface="Calibri"/>
                <a:cs typeface="Calibri"/>
              </a:defRPr>
            </a:lvl8pPr>
            <a:lvl9pPr>
              <a:defRPr sz="2025" b="1">
                <a:solidFill>
                  <a:srgbClr val="12304A"/>
                </a:solidFill>
                <a:latin typeface="Calibri"/>
                <a:ea typeface="Calibri"/>
                <a:cs typeface="Calibri"/>
              </a:defRPr>
            </a:lvl9pPr>
          </a:lstStyle>
          <a:p>
            <a:pPr>
              <a:defRPr sz="2025" b="1">
                <a:solidFill>
                  <a:srgbClr val="12304A"/>
                </a:solidFill>
                <a:latin typeface="Calibri"/>
                <a:ea typeface="Calibri"/>
                <a:cs typeface="Calibri"/>
              </a:defRPr>
            </a:pPr>
            <a:r>
              <a:rPr sz="2025" b="1">
                <a:solidFill>
                  <a:srgbClr val="12304A"/>
                </a:solidFill>
                <a:latin typeface="Calibri"/>
                <a:ea typeface="Calibri"/>
                <a:cs typeface="Calibri"/>
              </a:rPr>
              <a:t>Theo dõi công nợ &amp; Nhận hàng Darfon kiểm tra</a:t>
            </a:r>
          </a:p>
        </p:txBody>
      </p:sp>
      <p:sp>
        <p:nvSpPr>
          <p:cNvPr id="7" name="Rectangle 6">
            <a:extLst>
              <a:ext uri="{FF2B5EF4-FFF2-40B4-BE49-F238E27FC236}">
                <a16:creationId xmlns:a16="http://schemas.microsoft.com/office/drawing/2014/main" id="{80D5E56D-B26A-4D3F-AC38-E585263E1279}"/>
              </a:ext>
            </a:extLst>
          </p:cNvPr>
          <p:cNvSpPr>
            <a:spLocks noGrp="1"/>
          </p:cNvSpPr>
          <p:nvPr/>
        </p:nvSpPr>
        <p:spPr>
          <a:xfrm>
            <a:off x="7315200" y="1495425"/>
            <a:ext cx="4267200" cy="571500"/>
          </a:xfrm>
          <a:prstGeom prst="rect">
            <a:avLst/>
          </a:prstGeom>
          <a:noFill/>
          <a:ln w="0">
            <a:noFill/>
          </a:ln>
        </p:spPr>
        <p:txBody>
          <a:bodyPr lIns="0" tIns="0" rIns="0" bIns="0" anchor="t"/>
          <a:lstStyle>
            <a:defPPr>
              <a:defRPr sz="1725" b="1">
                <a:solidFill>
                  <a:srgbClr val="007F86"/>
                </a:solidFill>
                <a:latin typeface="Microsoft JhengHei"/>
                <a:ea typeface="Microsoft JhengHei"/>
                <a:cs typeface="Microsoft JhengHei"/>
              </a:defRPr>
            </a:defPPr>
            <a:lvl1pPr>
              <a:defRPr sz="1725" b="1">
                <a:solidFill>
                  <a:srgbClr val="007F86"/>
                </a:solidFill>
                <a:latin typeface="Microsoft JhengHei"/>
                <a:ea typeface="Microsoft JhengHei"/>
                <a:cs typeface="Microsoft JhengHei"/>
              </a:defRPr>
            </a:lvl1pPr>
            <a:lvl2pPr>
              <a:defRPr sz="1725" b="1">
                <a:solidFill>
                  <a:srgbClr val="007F86"/>
                </a:solidFill>
                <a:latin typeface="Microsoft JhengHei"/>
                <a:ea typeface="Microsoft JhengHei"/>
                <a:cs typeface="Microsoft JhengHei"/>
              </a:defRPr>
            </a:lvl2pPr>
            <a:lvl3pPr>
              <a:defRPr sz="1725" b="1">
                <a:solidFill>
                  <a:srgbClr val="007F86"/>
                </a:solidFill>
                <a:latin typeface="Microsoft JhengHei"/>
                <a:ea typeface="Microsoft JhengHei"/>
                <a:cs typeface="Microsoft JhengHei"/>
              </a:defRPr>
            </a:lvl3pPr>
            <a:lvl4pPr>
              <a:defRPr sz="1725" b="1">
                <a:solidFill>
                  <a:srgbClr val="007F86"/>
                </a:solidFill>
                <a:latin typeface="Microsoft JhengHei"/>
                <a:ea typeface="Microsoft JhengHei"/>
                <a:cs typeface="Microsoft JhengHei"/>
              </a:defRPr>
            </a:lvl4pPr>
            <a:lvl5pPr>
              <a:defRPr sz="1725" b="1">
                <a:solidFill>
                  <a:srgbClr val="007F86"/>
                </a:solidFill>
                <a:latin typeface="Microsoft JhengHei"/>
                <a:ea typeface="Microsoft JhengHei"/>
                <a:cs typeface="Microsoft JhengHei"/>
              </a:defRPr>
            </a:lvl5pPr>
            <a:lvl6pPr>
              <a:defRPr sz="1725" b="1">
                <a:solidFill>
                  <a:srgbClr val="007F86"/>
                </a:solidFill>
                <a:latin typeface="Microsoft JhengHei"/>
                <a:ea typeface="Microsoft JhengHei"/>
                <a:cs typeface="Microsoft JhengHei"/>
              </a:defRPr>
            </a:lvl6pPr>
            <a:lvl7pPr>
              <a:defRPr sz="1725" b="1">
                <a:solidFill>
                  <a:srgbClr val="007F86"/>
                </a:solidFill>
                <a:latin typeface="Microsoft JhengHei"/>
                <a:ea typeface="Microsoft JhengHei"/>
                <a:cs typeface="Microsoft JhengHei"/>
              </a:defRPr>
            </a:lvl7pPr>
            <a:lvl8pPr>
              <a:defRPr sz="1725" b="1">
                <a:solidFill>
                  <a:srgbClr val="007F86"/>
                </a:solidFill>
                <a:latin typeface="Microsoft JhengHei"/>
                <a:ea typeface="Microsoft JhengHei"/>
                <a:cs typeface="Microsoft JhengHei"/>
              </a:defRPr>
            </a:lvl8pPr>
            <a:lvl9pPr>
              <a:defRPr sz="1725" b="1">
                <a:solidFill>
                  <a:srgbClr val="007F86"/>
                </a:solidFill>
                <a:latin typeface="Microsoft JhengHei"/>
                <a:ea typeface="Microsoft JhengHei"/>
                <a:cs typeface="Microsoft JhengHei"/>
              </a:defRPr>
            </a:lvl9pPr>
          </a:lstStyle>
          <a:p>
            <a:pPr>
              <a:defRPr sz="1725" b="1">
                <a:solidFill>
                  <a:srgbClr val="007F86"/>
                </a:solidFill>
                <a:latin typeface="Microsoft JhengHei"/>
                <a:ea typeface="Microsoft JhengHei"/>
                <a:cs typeface="Microsoft JhengHei"/>
              </a:defRPr>
            </a:pPr>
            <a:r>
              <a:rPr sz="1725" b="1">
                <a:solidFill>
                  <a:srgbClr val="007F86"/>
                </a:solidFill>
                <a:latin typeface="Microsoft JhengHei"/>
                <a:ea typeface="Microsoft JhengHei"/>
                <a:cs typeface="Microsoft JhengHei"/>
              </a:rPr>
              <a:t>專案應收帳款追蹤與接收達方（Darfon）設備檢驗</a:t>
            </a:r>
          </a:p>
        </p:txBody>
      </p:sp>
      <p:sp>
        <p:nvSpPr>
          <p:cNvPr id="8" name="Rectangle 7">
            <a:extLst>
              <a:ext uri="{FF2B5EF4-FFF2-40B4-BE49-F238E27FC236}">
                <a16:creationId xmlns:a16="http://schemas.microsoft.com/office/drawing/2014/main" id="{1555C040-A991-475A-998E-F5032C39B5A3}"/>
              </a:ext>
            </a:extLst>
          </p:cNvPr>
          <p:cNvSpPr>
            <a:spLocks noGrp="1"/>
          </p:cNvSpPr>
          <p:nvPr/>
        </p:nvSpPr>
        <p:spPr>
          <a:xfrm>
            <a:off x="1123950" y="2247900"/>
            <a:ext cx="5791200" cy="137160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Sáng theo dõi tình hình công nợ các dự án; tiếp nhận lô hàng thiết bị từ đối tác Darfon, tiến hành mở thùng kiểm tra số lượng, linh kiện, đối chiếu model và lập danh sách kiểm kê chi tiết.</a:t>
            </a:r>
          </a:p>
        </p:txBody>
      </p:sp>
      <p:sp>
        <p:nvSpPr>
          <p:cNvPr id="9" name="Rectangle 8">
            <a:extLst>
              <a:ext uri="{FF2B5EF4-FFF2-40B4-BE49-F238E27FC236}">
                <a16:creationId xmlns:a16="http://schemas.microsoft.com/office/drawing/2014/main" id="{22BF516E-006D-4747-9846-BD4AEAD53A42}"/>
              </a:ext>
            </a:extLst>
          </p:cNvPr>
          <p:cNvSpPr>
            <a:spLocks noGrp="1"/>
          </p:cNvSpPr>
          <p:nvPr/>
        </p:nvSpPr>
        <p:spPr>
          <a:xfrm>
            <a:off x="7315200" y="2247900"/>
            <a:ext cx="4267200" cy="1371600"/>
          </a:xfrm>
          <a:prstGeom prst="rect">
            <a:avLst/>
          </a:prstGeom>
          <a:noFill/>
          <a:ln w="0">
            <a:noFill/>
          </a:ln>
        </p:spPr>
        <p:txBody>
          <a:bodyPr lIns="0" tIns="0" rIns="0" bIns="0" anchor="t"/>
          <a:lstStyle>
            <a:defPPr>
              <a:defRPr sz="1650" b="0">
                <a:solidFill>
                  <a:srgbClr val="526777"/>
                </a:solidFill>
                <a:latin typeface="Microsoft JhengHei"/>
                <a:ea typeface="Microsoft JhengHei"/>
                <a:cs typeface="Microsoft JhengHei"/>
              </a:defRPr>
            </a:defPPr>
            <a:lvl1pPr>
              <a:defRPr sz="1650" b="0">
                <a:solidFill>
                  <a:srgbClr val="526777"/>
                </a:solidFill>
                <a:latin typeface="Microsoft JhengHei"/>
                <a:ea typeface="Microsoft JhengHei"/>
                <a:cs typeface="Microsoft JhengHei"/>
              </a:defRPr>
            </a:lvl1pPr>
            <a:lvl2pPr>
              <a:defRPr sz="1650" b="0">
                <a:solidFill>
                  <a:srgbClr val="526777"/>
                </a:solidFill>
                <a:latin typeface="Microsoft JhengHei"/>
                <a:ea typeface="Microsoft JhengHei"/>
                <a:cs typeface="Microsoft JhengHei"/>
              </a:defRPr>
            </a:lvl2pPr>
            <a:lvl3pPr>
              <a:defRPr sz="1650" b="0">
                <a:solidFill>
                  <a:srgbClr val="526777"/>
                </a:solidFill>
                <a:latin typeface="Microsoft JhengHei"/>
                <a:ea typeface="Microsoft JhengHei"/>
                <a:cs typeface="Microsoft JhengHei"/>
              </a:defRPr>
            </a:lvl3pPr>
            <a:lvl4pPr>
              <a:defRPr sz="1650" b="0">
                <a:solidFill>
                  <a:srgbClr val="526777"/>
                </a:solidFill>
                <a:latin typeface="Microsoft JhengHei"/>
                <a:ea typeface="Microsoft JhengHei"/>
                <a:cs typeface="Microsoft JhengHei"/>
              </a:defRPr>
            </a:lvl4pPr>
            <a:lvl5pPr>
              <a:defRPr sz="1650" b="0">
                <a:solidFill>
                  <a:srgbClr val="526777"/>
                </a:solidFill>
                <a:latin typeface="Microsoft JhengHei"/>
                <a:ea typeface="Microsoft JhengHei"/>
                <a:cs typeface="Microsoft JhengHei"/>
              </a:defRPr>
            </a:lvl5pPr>
            <a:lvl6pPr>
              <a:defRPr sz="1650" b="0">
                <a:solidFill>
                  <a:srgbClr val="526777"/>
                </a:solidFill>
                <a:latin typeface="Microsoft JhengHei"/>
                <a:ea typeface="Microsoft JhengHei"/>
                <a:cs typeface="Microsoft JhengHei"/>
              </a:defRPr>
            </a:lvl6pPr>
            <a:lvl7pPr>
              <a:defRPr sz="1650" b="0">
                <a:solidFill>
                  <a:srgbClr val="526777"/>
                </a:solidFill>
                <a:latin typeface="Microsoft JhengHei"/>
                <a:ea typeface="Microsoft JhengHei"/>
                <a:cs typeface="Microsoft JhengHei"/>
              </a:defRPr>
            </a:lvl7pPr>
            <a:lvl8pPr>
              <a:defRPr sz="1650" b="0">
                <a:solidFill>
                  <a:srgbClr val="526777"/>
                </a:solidFill>
                <a:latin typeface="Microsoft JhengHei"/>
                <a:ea typeface="Microsoft JhengHei"/>
                <a:cs typeface="Microsoft JhengHei"/>
              </a:defRPr>
            </a:lvl8pPr>
            <a:lvl9pPr>
              <a:defRPr sz="1650" b="0">
                <a:solidFill>
                  <a:srgbClr val="526777"/>
                </a:solidFill>
                <a:latin typeface="Microsoft JhengHei"/>
                <a:ea typeface="Microsoft JhengHei"/>
                <a:cs typeface="Microsoft JhengHei"/>
              </a:defRPr>
            </a:lvl9pPr>
          </a:lstStyle>
          <a:p>
            <a:pPr>
              <a:defRPr sz="1650" b="0">
                <a:solidFill>
                  <a:srgbClr val="526777"/>
                </a:solidFill>
                <a:latin typeface="Microsoft JhengHei"/>
                <a:ea typeface="Microsoft JhengHei"/>
                <a:cs typeface="Microsoft JhengHei"/>
              </a:defRPr>
            </a:pPr>
            <a:r>
              <a:rPr sz="1650" b="0">
                <a:solidFill>
                  <a:srgbClr val="526777"/>
                </a:solidFill>
                <a:latin typeface="Microsoft JhengHei"/>
                <a:ea typeface="Microsoft JhengHei"/>
                <a:cs typeface="Microsoft JhengHei"/>
              </a:rPr>
              <a:t>上午追蹤各專案應收帳款狀況；接收達方（Darfon）送達之專案設備貨物，開箱清點數量、核對規格型號與配件完整性並建立設備驗收清冊。</a:t>
            </a:r>
          </a:p>
        </p:txBody>
      </p:sp>
      <p:sp>
        <p:nvSpPr>
          <p:cNvPr id="10" name="Rectangle 9">
            <a:extLst>
              <a:ext uri="{FF2B5EF4-FFF2-40B4-BE49-F238E27FC236}">
                <a16:creationId xmlns:a16="http://schemas.microsoft.com/office/drawing/2014/main" id="{3473E1FF-B5B2-45E6-8760-48728A0423E7}"/>
              </a:ext>
            </a:extLst>
          </p:cNvPr>
          <p:cNvSpPr>
            <a:spLocks noGrp="1"/>
          </p:cNvSpPr>
          <p:nvPr/>
        </p:nvSpPr>
        <p:spPr>
          <a:xfrm>
            <a:off x="571500" y="3829050"/>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02</a:t>
            </a:r>
          </a:p>
        </p:txBody>
      </p:sp>
      <p:sp>
        <p:nvSpPr>
          <p:cNvPr id="11" name="Rectangle 10">
            <a:extLst>
              <a:ext uri="{FF2B5EF4-FFF2-40B4-BE49-F238E27FC236}">
                <a16:creationId xmlns:a16="http://schemas.microsoft.com/office/drawing/2014/main" id="{B3B3C554-F7F4-4C08-8FAC-7D06676A2A18}"/>
              </a:ext>
            </a:extLst>
          </p:cNvPr>
          <p:cNvSpPr>
            <a:spLocks noGrp="1"/>
          </p:cNvSpPr>
          <p:nvPr/>
        </p:nvSpPr>
        <p:spPr>
          <a:xfrm>
            <a:off x="1123950" y="3829050"/>
            <a:ext cx="5791200" cy="609600"/>
          </a:xfrm>
          <a:prstGeom prst="rect">
            <a:avLst/>
          </a:prstGeom>
          <a:noFill/>
          <a:ln w="0">
            <a:noFill/>
          </a:ln>
        </p:spPr>
        <p:txBody>
          <a:bodyPr lIns="0" tIns="0" rIns="0" bIns="0" anchor="t"/>
          <a:lstStyle>
            <a:defPPr>
              <a:defRPr sz="2025" b="1">
                <a:solidFill>
                  <a:srgbClr val="12304A"/>
                </a:solidFill>
                <a:latin typeface="Calibri"/>
                <a:ea typeface="Calibri"/>
                <a:cs typeface="Calibri"/>
              </a:defRPr>
            </a:defPPr>
            <a:lvl1pPr>
              <a:defRPr sz="2025" b="1">
                <a:solidFill>
                  <a:srgbClr val="12304A"/>
                </a:solidFill>
                <a:latin typeface="Calibri"/>
                <a:ea typeface="Calibri"/>
                <a:cs typeface="Calibri"/>
              </a:defRPr>
            </a:lvl1pPr>
            <a:lvl2pPr>
              <a:defRPr sz="2025" b="1">
                <a:solidFill>
                  <a:srgbClr val="12304A"/>
                </a:solidFill>
                <a:latin typeface="Calibri"/>
                <a:ea typeface="Calibri"/>
                <a:cs typeface="Calibri"/>
              </a:defRPr>
            </a:lvl2pPr>
            <a:lvl3pPr>
              <a:defRPr sz="2025" b="1">
                <a:solidFill>
                  <a:srgbClr val="12304A"/>
                </a:solidFill>
                <a:latin typeface="Calibri"/>
                <a:ea typeface="Calibri"/>
                <a:cs typeface="Calibri"/>
              </a:defRPr>
            </a:lvl3pPr>
            <a:lvl4pPr>
              <a:defRPr sz="2025" b="1">
                <a:solidFill>
                  <a:srgbClr val="12304A"/>
                </a:solidFill>
                <a:latin typeface="Calibri"/>
                <a:ea typeface="Calibri"/>
                <a:cs typeface="Calibri"/>
              </a:defRPr>
            </a:lvl4pPr>
            <a:lvl5pPr>
              <a:defRPr sz="2025" b="1">
                <a:solidFill>
                  <a:srgbClr val="12304A"/>
                </a:solidFill>
                <a:latin typeface="Calibri"/>
                <a:ea typeface="Calibri"/>
                <a:cs typeface="Calibri"/>
              </a:defRPr>
            </a:lvl5pPr>
            <a:lvl6pPr>
              <a:defRPr sz="2025" b="1">
                <a:solidFill>
                  <a:srgbClr val="12304A"/>
                </a:solidFill>
                <a:latin typeface="Calibri"/>
                <a:ea typeface="Calibri"/>
                <a:cs typeface="Calibri"/>
              </a:defRPr>
            </a:lvl6pPr>
            <a:lvl7pPr>
              <a:defRPr sz="2025" b="1">
                <a:solidFill>
                  <a:srgbClr val="12304A"/>
                </a:solidFill>
                <a:latin typeface="Calibri"/>
                <a:ea typeface="Calibri"/>
                <a:cs typeface="Calibri"/>
              </a:defRPr>
            </a:lvl7pPr>
            <a:lvl8pPr>
              <a:defRPr sz="2025" b="1">
                <a:solidFill>
                  <a:srgbClr val="12304A"/>
                </a:solidFill>
                <a:latin typeface="Calibri"/>
                <a:ea typeface="Calibri"/>
                <a:cs typeface="Calibri"/>
              </a:defRPr>
            </a:lvl8pPr>
            <a:lvl9pPr>
              <a:defRPr sz="2025" b="1">
                <a:solidFill>
                  <a:srgbClr val="12304A"/>
                </a:solidFill>
                <a:latin typeface="Calibri"/>
                <a:ea typeface="Calibri"/>
                <a:cs typeface="Calibri"/>
              </a:defRPr>
            </a:lvl9pPr>
          </a:lstStyle>
          <a:p>
            <a:pPr>
              <a:defRPr sz="2025" b="1">
                <a:solidFill>
                  <a:srgbClr val="12304A"/>
                </a:solidFill>
                <a:latin typeface="Calibri"/>
                <a:ea typeface="Calibri"/>
                <a:cs typeface="Calibri"/>
              </a:defRPr>
            </a:pPr>
            <a:r>
              <a:rPr sz="2025" b="1">
                <a:solidFill>
                  <a:srgbClr val="12304A"/>
                </a:solidFill>
                <a:latin typeface="Calibri"/>
                <a:ea typeface="Calibri"/>
                <a:cs typeface="Calibri"/>
              </a:rPr>
              <a:t>Nghiên cứu quy chuẩn và văn hóa viết email công vụ</a:t>
            </a:r>
          </a:p>
        </p:txBody>
      </p:sp>
      <p:sp>
        <p:nvSpPr>
          <p:cNvPr id="12" name="Rectangle 11">
            <a:extLst>
              <a:ext uri="{FF2B5EF4-FFF2-40B4-BE49-F238E27FC236}">
                <a16:creationId xmlns:a16="http://schemas.microsoft.com/office/drawing/2014/main" id="{6C682FBA-D663-41D7-8C43-316D7C8CBA08}"/>
              </a:ext>
            </a:extLst>
          </p:cNvPr>
          <p:cNvSpPr>
            <a:spLocks noGrp="1"/>
          </p:cNvSpPr>
          <p:nvPr/>
        </p:nvSpPr>
        <p:spPr>
          <a:xfrm>
            <a:off x="7315200" y="3829050"/>
            <a:ext cx="4267200" cy="571500"/>
          </a:xfrm>
          <a:prstGeom prst="rect">
            <a:avLst/>
          </a:prstGeom>
          <a:noFill/>
          <a:ln w="0">
            <a:noFill/>
          </a:ln>
        </p:spPr>
        <p:txBody>
          <a:bodyPr lIns="0" tIns="0" rIns="0" bIns="0" anchor="t"/>
          <a:lstStyle>
            <a:defPPr>
              <a:defRPr sz="1725" b="1">
                <a:solidFill>
                  <a:srgbClr val="007F86"/>
                </a:solidFill>
                <a:latin typeface="Microsoft JhengHei"/>
                <a:ea typeface="Microsoft JhengHei"/>
                <a:cs typeface="Microsoft JhengHei"/>
              </a:defRPr>
            </a:defPPr>
            <a:lvl1pPr>
              <a:defRPr sz="1725" b="1">
                <a:solidFill>
                  <a:srgbClr val="007F86"/>
                </a:solidFill>
                <a:latin typeface="Microsoft JhengHei"/>
                <a:ea typeface="Microsoft JhengHei"/>
                <a:cs typeface="Microsoft JhengHei"/>
              </a:defRPr>
            </a:lvl1pPr>
            <a:lvl2pPr>
              <a:defRPr sz="1725" b="1">
                <a:solidFill>
                  <a:srgbClr val="007F86"/>
                </a:solidFill>
                <a:latin typeface="Microsoft JhengHei"/>
                <a:ea typeface="Microsoft JhengHei"/>
                <a:cs typeface="Microsoft JhengHei"/>
              </a:defRPr>
            </a:lvl2pPr>
            <a:lvl3pPr>
              <a:defRPr sz="1725" b="1">
                <a:solidFill>
                  <a:srgbClr val="007F86"/>
                </a:solidFill>
                <a:latin typeface="Microsoft JhengHei"/>
                <a:ea typeface="Microsoft JhengHei"/>
                <a:cs typeface="Microsoft JhengHei"/>
              </a:defRPr>
            </a:lvl3pPr>
            <a:lvl4pPr>
              <a:defRPr sz="1725" b="1">
                <a:solidFill>
                  <a:srgbClr val="007F86"/>
                </a:solidFill>
                <a:latin typeface="Microsoft JhengHei"/>
                <a:ea typeface="Microsoft JhengHei"/>
                <a:cs typeface="Microsoft JhengHei"/>
              </a:defRPr>
            </a:lvl4pPr>
            <a:lvl5pPr>
              <a:defRPr sz="1725" b="1">
                <a:solidFill>
                  <a:srgbClr val="007F86"/>
                </a:solidFill>
                <a:latin typeface="Microsoft JhengHei"/>
                <a:ea typeface="Microsoft JhengHei"/>
                <a:cs typeface="Microsoft JhengHei"/>
              </a:defRPr>
            </a:lvl5pPr>
            <a:lvl6pPr>
              <a:defRPr sz="1725" b="1">
                <a:solidFill>
                  <a:srgbClr val="007F86"/>
                </a:solidFill>
                <a:latin typeface="Microsoft JhengHei"/>
                <a:ea typeface="Microsoft JhengHei"/>
                <a:cs typeface="Microsoft JhengHei"/>
              </a:defRPr>
            </a:lvl6pPr>
            <a:lvl7pPr>
              <a:defRPr sz="1725" b="1">
                <a:solidFill>
                  <a:srgbClr val="007F86"/>
                </a:solidFill>
                <a:latin typeface="Microsoft JhengHei"/>
                <a:ea typeface="Microsoft JhengHei"/>
                <a:cs typeface="Microsoft JhengHei"/>
              </a:defRPr>
            </a:lvl7pPr>
            <a:lvl8pPr>
              <a:defRPr sz="1725" b="1">
                <a:solidFill>
                  <a:srgbClr val="007F86"/>
                </a:solidFill>
                <a:latin typeface="Microsoft JhengHei"/>
                <a:ea typeface="Microsoft JhengHei"/>
                <a:cs typeface="Microsoft JhengHei"/>
              </a:defRPr>
            </a:lvl8pPr>
            <a:lvl9pPr>
              <a:defRPr sz="1725" b="1">
                <a:solidFill>
                  <a:srgbClr val="007F86"/>
                </a:solidFill>
                <a:latin typeface="Microsoft JhengHei"/>
                <a:ea typeface="Microsoft JhengHei"/>
                <a:cs typeface="Microsoft JhengHei"/>
              </a:defRPr>
            </a:lvl9pPr>
          </a:lstStyle>
          <a:p>
            <a:pPr>
              <a:defRPr sz="1725" b="1">
                <a:solidFill>
                  <a:srgbClr val="007F86"/>
                </a:solidFill>
                <a:latin typeface="Microsoft JhengHei"/>
                <a:ea typeface="Microsoft JhengHei"/>
                <a:cs typeface="Microsoft JhengHei"/>
              </a:defRPr>
            </a:pPr>
            <a:r>
              <a:rPr sz="1725" b="1">
                <a:solidFill>
                  <a:srgbClr val="007F86"/>
                </a:solidFill>
                <a:latin typeface="Microsoft JhengHei"/>
                <a:ea typeface="Microsoft JhengHei"/>
                <a:cs typeface="Microsoft JhengHei"/>
              </a:rPr>
              <a:t>研讀商務郵件撰寫規範與過往信件範本</a:t>
            </a:r>
          </a:p>
        </p:txBody>
      </p:sp>
      <p:sp>
        <p:nvSpPr>
          <p:cNvPr id="13" name="Rectangle 12">
            <a:extLst>
              <a:ext uri="{FF2B5EF4-FFF2-40B4-BE49-F238E27FC236}">
                <a16:creationId xmlns:a16="http://schemas.microsoft.com/office/drawing/2014/main" id="{98CDF207-A3E1-4574-AD9C-937233EABF80}"/>
              </a:ext>
            </a:extLst>
          </p:cNvPr>
          <p:cNvSpPr>
            <a:spLocks noGrp="1"/>
          </p:cNvSpPr>
          <p:nvPr/>
        </p:nvSpPr>
        <p:spPr>
          <a:xfrm>
            <a:off x="1123950" y="4581525"/>
            <a:ext cx="5791200" cy="137160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Buổi chiều đọc hệ thống email dự án, tìm hiểu quy chuẩn trao đổi thông tin, văn hóa gửi email công vụ và tham khảo các email mẫu trước đó để nâng cao nghiệp vụ giao tiếp văn bản.</a:t>
            </a:r>
          </a:p>
        </p:txBody>
      </p:sp>
      <p:sp>
        <p:nvSpPr>
          <p:cNvPr id="14" name="Rectangle 13">
            <a:extLst>
              <a:ext uri="{FF2B5EF4-FFF2-40B4-BE49-F238E27FC236}">
                <a16:creationId xmlns:a16="http://schemas.microsoft.com/office/drawing/2014/main" id="{5B503970-5828-493F-8430-1C8AB77FD14D}"/>
              </a:ext>
            </a:extLst>
          </p:cNvPr>
          <p:cNvSpPr>
            <a:spLocks noGrp="1"/>
          </p:cNvSpPr>
          <p:nvPr/>
        </p:nvSpPr>
        <p:spPr>
          <a:xfrm>
            <a:off x="7315200" y="4581525"/>
            <a:ext cx="4267200" cy="1371600"/>
          </a:xfrm>
          <a:prstGeom prst="rect">
            <a:avLst/>
          </a:prstGeom>
          <a:noFill/>
          <a:ln w="0">
            <a:noFill/>
          </a:ln>
        </p:spPr>
        <p:txBody>
          <a:bodyPr lIns="0" tIns="0" rIns="0" bIns="0" anchor="t"/>
          <a:lstStyle>
            <a:defPPr>
              <a:defRPr sz="1650" b="0">
                <a:solidFill>
                  <a:srgbClr val="526777"/>
                </a:solidFill>
                <a:latin typeface="Microsoft JhengHei"/>
                <a:ea typeface="Microsoft JhengHei"/>
                <a:cs typeface="Microsoft JhengHei"/>
              </a:defRPr>
            </a:defPPr>
            <a:lvl1pPr>
              <a:defRPr sz="1650" b="0">
                <a:solidFill>
                  <a:srgbClr val="526777"/>
                </a:solidFill>
                <a:latin typeface="Microsoft JhengHei"/>
                <a:ea typeface="Microsoft JhengHei"/>
                <a:cs typeface="Microsoft JhengHei"/>
              </a:defRPr>
            </a:lvl1pPr>
            <a:lvl2pPr>
              <a:defRPr sz="1650" b="0">
                <a:solidFill>
                  <a:srgbClr val="526777"/>
                </a:solidFill>
                <a:latin typeface="Microsoft JhengHei"/>
                <a:ea typeface="Microsoft JhengHei"/>
                <a:cs typeface="Microsoft JhengHei"/>
              </a:defRPr>
            </a:lvl2pPr>
            <a:lvl3pPr>
              <a:defRPr sz="1650" b="0">
                <a:solidFill>
                  <a:srgbClr val="526777"/>
                </a:solidFill>
                <a:latin typeface="Microsoft JhengHei"/>
                <a:ea typeface="Microsoft JhengHei"/>
                <a:cs typeface="Microsoft JhengHei"/>
              </a:defRPr>
            </a:lvl3pPr>
            <a:lvl4pPr>
              <a:defRPr sz="1650" b="0">
                <a:solidFill>
                  <a:srgbClr val="526777"/>
                </a:solidFill>
                <a:latin typeface="Microsoft JhengHei"/>
                <a:ea typeface="Microsoft JhengHei"/>
                <a:cs typeface="Microsoft JhengHei"/>
              </a:defRPr>
            </a:lvl4pPr>
            <a:lvl5pPr>
              <a:defRPr sz="1650" b="0">
                <a:solidFill>
                  <a:srgbClr val="526777"/>
                </a:solidFill>
                <a:latin typeface="Microsoft JhengHei"/>
                <a:ea typeface="Microsoft JhengHei"/>
                <a:cs typeface="Microsoft JhengHei"/>
              </a:defRPr>
            </a:lvl5pPr>
            <a:lvl6pPr>
              <a:defRPr sz="1650" b="0">
                <a:solidFill>
                  <a:srgbClr val="526777"/>
                </a:solidFill>
                <a:latin typeface="Microsoft JhengHei"/>
                <a:ea typeface="Microsoft JhengHei"/>
                <a:cs typeface="Microsoft JhengHei"/>
              </a:defRPr>
            </a:lvl6pPr>
            <a:lvl7pPr>
              <a:defRPr sz="1650" b="0">
                <a:solidFill>
                  <a:srgbClr val="526777"/>
                </a:solidFill>
                <a:latin typeface="Microsoft JhengHei"/>
                <a:ea typeface="Microsoft JhengHei"/>
                <a:cs typeface="Microsoft JhengHei"/>
              </a:defRPr>
            </a:lvl7pPr>
            <a:lvl8pPr>
              <a:defRPr sz="1650" b="0">
                <a:solidFill>
                  <a:srgbClr val="526777"/>
                </a:solidFill>
                <a:latin typeface="Microsoft JhengHei"/>
                <a:ea typeface="Microsoft JhengHei"/>
                <a:cs typeface="Microsoft JhengHei"/>
              </a:defRPr>
            </a:lvl8pPr>
            <a:lvl9pPr>
              <a:defRPr sz="1650" b="0">
                <a:solidFill>
                  <a:srgbClr val="526777"/>
                </a:solidFill>
                <a:latin typeface="Microsoft JhengHei"/>
                <a:ea typeface="Microsoft JhengHei"/>
                <a:cs typeface="Microsoft JhengHei"/>
              </a:defRPr>
            </a:lvl9pPr>
          </a:lstStyle>
          <a:p>
            <a:pPr>
              <a:defRPr sz="1650" b="0">
                <a:solidFill>
                  <a:srgbClr val="526777"/>
                </a:solidFill>
                <a:latin typeface="Microsoft JhengHei"/>
                <a:ea typeface="Microsoft JhengHei"/>
                <a:cs typeface="Microsoft JhengHei"/>
              </a:defRPr>
            </a:pPr>
            <a:r>
              <a:rPr sz="1650" b="0">
                <a:solidFill>
                  <a:srgbClr val="526777"/>
                </a:solidFill>
                <a:latin typeface="Microsoft JhengHei"/>
                <a:ea typeface="Microsoft JhengHei"/>
                <a:cs typeface="Microsoft JhengHei"/>
              </a:rPr>
              <a:t>下午研讀專案歷史郵件系統，深入學習商務郵件溝通規範與對外信件禮儀，參考標準郵件範本以提升書面業務對接能力。</a:t>
            </a:r>
          </a:p>
        </p:txBody>
      </p:sp>
    </p:spTree>
    <p:extLst>
      <p:ext uri="{BB962C8B-B14F-4D97-AF65-F5344CB8AC3E}">
        <p14:creationId xmlns:p14="http://schemas.microsoft.com/office/powerpoint/2010/main" val="216049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137AC08-D498-447E-A2FB-A10C30C40AB6}"/>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Kết quả công việc  ·  27.10</a:t>
            </a:r>
          </a:p>
        </p:txBody>
      </p:sp>
      <p:sp>
        <p:nvSpPr>
          <p:cNvPr id="2" name="Rectangle 1">
            <a:extLst>
              <a:ext uri="{FF2B5EF4-FFF2-40B4-BE49-F238E27FC236}">
                <a16:creationId xmlns:a16="http://schemas.microsoft.com/office/drawing/2014/main" id="{E61D5732-817D-429E-B00F-A5F49E959123}"/>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工作結果記錄  /  Thứ Ba / 星期二</a:t>
            </a:r>
          </a:p>
        </p:txBody>
      </p:sp>
      <p:sp>
        <p:nvSpPr>
          <p:cNvPr id="3" name="Rectangle 2">
            <a:extLst>
              <a:ext uri="{FF2B5EF4-FFF2-40B4-BE49-F238E27FC236}">
                <a16:creationId xmlns:a16="http://schemas.microsoft.com/office/drawing/2014/main" id="{C9550237-7529-4C7F-AD9E-FEB0DDD5C42A}"/>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399AC6EC-AF10-48EB-85C4-9A07A3DF7D7C}"/>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04 / 11</a:t>
            </a:r>
          </a:p>
        </p:txBody>
      </p:sp>
      <p:sp>
        <p:nvSpPr>
          <p:cNvPr id="5" name="Rectangle 4">
            <a:extLst>
              <a:ext uri="{FF2B5EF4-FFF2-40B4-BE49-F238E27FC236}">
                <a16:creationId xmlns:a16="http://schemas.microsoft.com/office/drawing/2014/main" id="{B32E6A3B-0D14-4745-8E99-283774480065}"/>
              </a:ext>
            </a:extLst>
          </p:cNvPr>
          <p:cNvSpPr>
            <a:spLocks noGrp="1"/>
          </p:cNvSpPr>
          <p:nvPr/>
        </p:nvSpPr>
        <p:spPr>
          <a:xfrm>
            <a:off x="571500" y="1495425"/>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056CD9B9-BB4D-4BB7-AC36-5337CA8AF4F0}"/>
              </a:ext>
            </a:extLst>
          </p:cNvPr>
          <p:cNvSpPr>
            <a:spLocks noGrp="1"/>
          </p:cNvSpPr>
          <p:nvPr/>
        </p:nvSpPr>
        <p:spPr>
          <a:xfrm>
            <a:off x="1123950" y="1495425"/>
            <a:ext cx="5791200" cy="514350"/>
          </a:xfrm>
          <a:prstGeom prst="rect">
            <a:avLst/>
          </a:prstGeom>
          <a:noFill/>
          <a:ln w="0">
            <a:noFill/>
          </a:ln>
        </p:spPr>
        <p:txBody>
          <a:bodyPr lIns="0" tIns="0" rIns="0" bIns="0" anchor="t"/>
          <a:lstStyle>
            <a:defPPr>
              <a:defRPr sz="1725" b="1">
                <a:solidFill>
                  <a:srgbClr val="12304A"/>
                </a:solidFill>
                <a:latin typeface="Calibri"/>
                <a:ea typeface="Calibri"/>
                <a:cs typeface="Calibri"/>
              </a:defRPr>
            </a:defPPr>
            <a:lvl1pPr>
              <a:defRPr sz="1725" b="1">
                <a:solidFill>
                  <a:srgbClr val="12304A"/>
                </a:solidFill>
                <a:latin typeface="Calibri"/>
                <a:ea typeface="Calibri"/>
                <a:cs typeface="Calibri"/>
              </a:defRPr>
            </a:lvl1pPr>
            <a:lvl2pPr>
              <a:defRPr sz="1725" b="1">
                <a:solidFill>
                  <a:srgbClr val="12304A"/>
                </a:solidFill>
                <a:latin typeface="Calibri"/>
                <a:ea typeface="Calibri"/>
                <a:cs typeface="Calibri"/>
              </a:defRPr>
            </a:lvl2pPr>
            <a:lvl3pPr>
              <a:defRPr sz="1725" b="1">
                <a:solidFill>
                  <a:srgbClr val="12304A"/>
                </a:solidFill>
                <a:latin typeface="Calibri"/>
                <a:ea typeface="Calibri"/>
                <a:cs typeface="Calibri"/>
              </a:defRPr>
            </a:lvl3pPr>
            <a:lvl4pPr>
              <a:defRPr sz="1725" b="1">
                <a:solidFill>
                  <a:srgbClr val="12304A"/>
                </a:solidFill>
                <a:latin typeface="Calibri"/>
                <a:ea typeface="Calibri"/>
                <a:cs typeface="Calibri"/>
              </a:defRPr>
            </a:lvl4pPr>
            <a:lvl5pPr>
              <a:defRPr sz="1725" b="1">
                <a:solidFill>
                  <a:srgbClr val="12304A"/>
                </a:solidFill>
                <a:latin typeface="Calibri"/>
                <a:ea typeface="Calibri"/>
                <a:cs typeface="Calibri"/>
              </a:defRPr>
            </a:lvl5pPr>
            <a:lvl6pPr>
              <a:defRPr sz="1725" b="1">
                <a:solidFill>
                  <a:srgbClr val="12304A"/>
                </a:solidFill>
                <a:latin typeface="Calibri"/>
                <a:ea typeface="Calibri"/>
                <a:cs typeface="Calibri"/>
              </a:defRPr>
            </a:lvl6pPr>
            <a:lvl7pPr>
              <a:defRPr sz="1725" b="1">
                <a:solidFill>
                  <a:srgbClr val="12304A"/>
                </a:solidFill>
                <a:latin typeface="Calibri"/>
                <a:ea typeface="Calibri"/>
                <a:cs typeface="Calibri"/>
              </a:defRPr>
            </a:lvl7pPr>
            <a:lvl8pPr>
              <a:defRPr sz="1725" b="1">
                <a:solidFill>
                  <a:srgbClr val="12304A"/>
                </a:solidFill>
                <a:latin typeface="Calibri"/>
                <a:ea typeface="Calibri"/>
                <a:cs typeface="Calibri"/>
              </a:defRPr>
            </a:lvl8pPr>
            <a:lvl9pPr>
              <a:defRPr sz="1725" b="1">
                <a:solidFill>
                  <a:srgbClr val="12304A"/>
                </a:solidFill>
                <a:latin typeface="Calibri"/>
                <a:ea typeface="Calibri"/>
                <a:cs typeface="Calibri"/>
              </a:defRPr>
            </a:lvl9pPr>
          </a:lstStyle>
          <a:p>
            <a:pPr>
              <a:defRPr sz="1725" b="1">
                <a:solidFill>
                  <a:srgbClr val="12304A"/>
                </a:solidFill>
                <a:latin typeface="Calibri"/>
                <a:ea typeface="Calibri"/>
                <a:cs typeface="Calibri"/>
              </a:defRPr>
            </a:pPr>
            <a:r>
              <a:rPr sz="1725" b="1">
                <a:solidFill>
                  <a:srgbClr val="12304A"/>
                </a:solidFill>
                <a:latin typeface="Calibri"/>
                <a:ea typeface="Calibri"/>
                <a:cs typeface="Calibri"/>
              </a:rPr>
              <a:t>Khảo sát hiện trường dự án (Buổi sáng)</a:t>
            </a:r>
          </a:p>
        </p:txBody>
      </p:sp>
      <p:sp>
        <p:nvSpPr>
          <p:cNvPr id="7" name="Rectangle 6">
            <a:extLst>
              <a:ext uri="{FF2B5EF4-FFF2-40B4-BE49-F238E27FC236}">
                <a16:creationId xmlns:a16="http://schemas.microsoft.com/office/drawing/2014/main" id="{DA18CF24-C8C9-42C4-848B-4C44FFAEBE33}"/>
              </a:ext>
            </a:extLst>
          </p:cNvPr>
          <p:cNvSpPr>
            <a:spLocks noGrp="1"/>
          </p:cNvSpPr>
          <p:nvPr/>
        </p:nvSpPr>
        <p:spPr>
          <a:xfrm>
            <a:off x="7315200" y="1495425"/>
            <a:ext cx="4267200" cy="571500"/>
          </a:xfrm>
          <a:prstGeom prst="rect">
            <a:avLst/>
          </a:prstGeom>
          <a:noFill/>
          <a:ln w="0">
            <a:noFill/>
          </a:ln>
        </p:spPr>
        <p:txBody>
          <a:bodyPr lIns="0" tIns="0" rIns="0" bIns="0" anchor="t"/>
          <a:lstStyle>
            <a:defPPr>
              <a:defRPr sz="1425" b="1">
                <a:solidFill>
                  <a:srgbClr val="007F86"/>
                </a:solidFill>
                <a:latin typeface="Microsoft JhengHei"/>
                <a:ea typeface="Microsoft JhengHei"/>
                <a:cs typeface="Microsoft JhengHei"/>
              </a:defRPr>
            </a:defPPr>
            <a:lvl1pPr>
              <a:defRPr sz="1425" b="1">
                <a:solidFill>
                  <a:srgbClr val="007F86"/>
                </a:solidFill>
                <a:latin typeface="Microsoft JhengHei"/>
                <a:ea typeface="Microsoft JhengHei"/>
                <a:cs typeface="Microsoft JhengHei"/>
              </a:defRPr>
            </a:lvl1pPr>
            <a:lvl2pPr>
              <a:defRPr sz="1425" b="1">
                <a:solidFill>
                  <a:srgbClr val="007F86"/>
                </a:solidFill>
                <a:latin typeface="Microsoft JhengHei"/>
                <a:ea typeface="Microsoft JhengHei"/>
                <a:cs typeface="Microsoft JhengHei"/>
              </a:defRPr>
            </a:lvl2pPr>
            <a:lvl3pPr>
              <a:defRPr sz="1425" b="1">
                <a:solidFill>
                  <a:srgbClr val="007F86"/>
                </a:solidFill>
                <a:latin typeface="Microsoft JhengHei"/>
                <a:ea typeface="Microsoft JhengHei"/>
                <a:cs typeface="Microsoft JhengHei"/>
              </a:defRPr>
            </a:lvl3pPr>
            <a:lvl4pPr>
              <a:defRPr sz="1425" b="1">
                <a:solidFill>
                  <a:srgbClr val="007F86"/>
                </a:solidFill>
                <a:latin typeface="Microsoft JhengHei"/>
                <a:ea typeface="Microsoft JhengHei"/>
                <a:cs typeface="Microsoft JhengHei"/>
              </a:defRPr>
            </a:lvl4pPr>
            <a:lvl5pPr>
              <a:defRPr sz="1425" b="1">
                <a:solidFill>
                  <a:srgbClr val="007F86"/>
                </a:solidFill>
                <a:latin typeface="Microsoft JhengHei"/>
                <a:ea typeface="Microsoft JhengHei"/>
                <a:cs typeface="Microsoft JhengHei"/>
              </a:defRPr>
            </a:lvl5pPr>
            <a:lvl6pPr>
              <a:defRPr sz="1425" b="1">
                <a:solidFill>
                  <a:srgbClr val="007F86"/>
                </a:solidFill>
                <a:latin typeface="Microsoft JhengHei"/>
                <a:ea typeface="Microsoft JhengHei"/>
                <a:cs typeface="Microsoft JhengHei"/>
              </a:defRPr>
            </a:lvl6pPr>
            <a:lvl7pPr>
              <a:defRPr sz="1425" b="1">
                <a:solidFill>
                  <a:srgbClr val="007F86"/>
                </a:solidFill>
                <a:latin typeface="Microsoft JhengHei"/>
                <a:ea typeface="Microsoft JhengHei"/>
                <a:cs typeface="Microsoft JhengHei"/>
              </a:defRPr>
            </a:lvl7pPr>
            <a:lvl8pPr>
              <a:defRPr sz="1425" b="1">
                <a:solidFill>
                  <a:srgbClr val="007F86"/>
                </a:solidFill>
                <a:latin typeface="Microsoft JhengHei"/>
                <a:ea typeface="Microsoft JhengHei"/>
                <a:cs typeface="Microsoft JhengHei"/>
              </a:defRPr>
            </a:lvl8pPr>
            <a:lvl9pPr>
              <a:defRPr sz="1425" b="1">
                <a:solidFill>
                  <a:srgbClr val="007F86"/>
                </a:solidFill>
                <a:latin typeface="Microsoft JhengHei"/>
                <a:ea typeface="Microsoft JhengHei"/>
                <a:cs typeface="Microsoft JhengHei"/>
              </a:defRPr>
            </a:lvl9pPr>
          </a:lstStyle>
          <a:p>
            <a:pPr>
              <a:defRPr sz="1425" b="1">
                <a:solidFill>
                  <a:srgbClr val="007F86"/>
                </a:solidFill>
                <a:latin typeface="Microsoft JhengHei"/>
                <a:ea typeface="Microsoft JhengHei"/>
                <a:cs typeface="Microsoft JhengHei"/>
              </a:defRPr>
            </a:pPr>
            <a:r>
              <a:rPr sz="1425" b="1">
                <a:solidFill>
                  <a:srgbClr val="007F86"/>
                </a:solidFill>
                <a:latin typeface="Microsoft JhengHei"/>
                <a:ea typeface="Microsoft JhengHei"/>
                <a:cs typeface="Microsoft JhengHei"/>
              </a:rPr>
              <a:t>專案現場實地勘查（上午時段）</a:t>
            </a:r>
          </a:p>
        </p:txBody>
      </p:sp>
      <p:sp>
        <p:nvSpPr>
          <p:cNvPr id="8" name="Rectangle 7">
            <a:extLst>
              <a:ext uri="{FF2B5EF4-FFF2-40B4-BE49-F238E27FC236}">
                <a16:creationId xmlns:a16="http://schemas.microsoft.com/office/drawing/2014/main" id="{1D761F10-7375-4616-A278-704D4AC6E285}"/>
              </a:ext>
            </a:extLst>
          </p:cNvPr>
          <p:cNvSpPr>
            <a:spLocks noGrp="1"/>
          </p:cNvSpPr>
          <p:nvPr/>
        </p:nvSpPr>
        <p:spPr>
          <a:xfrm>
            <a:off x="1123950" y="2066925"/>
            <a:ext cx="5791200" cy="952500"/>
          </a:xfrm>
          <a:prstGeom prst="rect">
            <a:avLst/>
          </a:prstGeom>
          <a:noFill/>
          <a:ln w="0">
            <a:noFill/>
          </a:ln>
        </p:spPr>
        <p:txBody>
          <a:bodyPr lIns="0" tIns="0" rIns="0" bIns="0" anchor="t"/>
          <a:lstStyle>
            <a:defPPr>
              <a:defRPr sz="1575" b="0">
                <a:solidFill>
                  <a:srgbClr val="20384B"/>
                </a:solidFill>
                <a:latin typeface="Calibri"/>
                <a:ea typeface="Calibri"/>
                <a:cs typeface="Calibri"/>
              </a:defRPr>
            </a:defPPr>
            <a:lvl1pPr>
              <a:defRPr sz="1575" b="0">
                <a:solidFill>
                  <a:srgbClr val="20384B"/>
                </a:solidFill>
                <a:latin typeface="Calibri"/>
                <a:ea typeface="Calibri"/>
                <a:cs typeface="Calibri"/>
              </a:defRPr>
            </a:lvl1pPr>
            <a:lvl2pPr>
              <a:defRPr sz="1575" b="0">
                <a:solidFill>
                  <a:srgbClr val="20384B"/>
                </a:solidFill>
                <a:latin typeface="Calibri"/>
                <a:ea typeface="Calibri"/>
                <a:cs typeface="Calibri"/>
              </a:defRPr>
            </a:lvl2pPr>
            <a:lvl3pPr>
              <a:defRPr sz="1575" b="0">
                <a:solidFill>
                  <a:srgbClr val="20384B"/>
                </a:solidFill>
                <a:latin typeface="Calibri"/>
                <a:ea typeface="Calibri"/>
                <a:cs typeface="Calibri"/>
              </a:defRPr>
            </a:lvl3pPr>
            <a:lvl4pPr>
              <a:defRPr sz="1575" b="0">
                <a:solidFill>
                  <a:srgbClr val="20384B"/>
                </a:solidFill>
                <a:latin typeface="Calibri"/>
                <a:ea typeface="Calibri"/>
                <a:cs typeface="Calibri"/>
              </a:defRPr>
            </a:lvl4pPr>
            <a:lvl5pPr>
              <a:defRPr sz="1575" b="0">
                <a:solidFill>
                  <a:srgbClr val="20384B"/>
                </a:solidFill>
                <a:latin typeface="Calibri"/>
                <a:ea typeface="Calibri"/>
                <a:cs typeface="Calibri"/>
              </a:defRPr>
            </a:lvl5pPr>
            <a:lvl6pPr>
              <a:defRPr sz="1575" b="0">
                <a:solidFill>
                  <a:srgbClr val="20384B"/>
                </a:solidFill>
                <a:latin typeface="Calibri"/>
                <a:ea typeface="Calibri"/>
                <a:cs typeface="Calibri"/>
              </a:defRPr>
            </a:lvl6pPr>
            <a:lvl7pPr>
              <a:defRPr sz="1575" b="0">
                <a:solidFill>
                  <a:srgbClr val="20384B"/>
                </a:solidFill>
                <a:latin typeface="Calibri"/>
                <a:ea typeface="Calibri"/>
                <a:cs typeface="Calibri"/>
              </a:defRPr>
            </a:lvl7pPr>
            <a:lvl8pPr>
              <a:defRPr sz="1575" b="0">
                <a:solidFill>
                  <a:srgbClr val="20384B"/>
                </a:solidFill>
                <a:latin typeface="Calibri"/>
                <a:ea typeface="Calibri"/>
                <a:cs typeface="Calibri"/>
              </a:defRPr>
            </a:lvl8pPr>
            <a:lvl9pPr>
              <a:defRPr sz="1575" b="0">
                <a:solidFill>
                  <a:srgbClr val="20384B"/>
                </a:solidFill>
                <a:latin typeface="Calibri"/>
                <a:ea typeface="Calibri"/>
                <a:cs typeface="Calibri"/>
              </a:defRPr>
            </a:lvl9pPr>
          </a:lstStyle>
          <a:p>
            <a:pPr>
              <a:defRPr sz="1575" b="0">
                <a:solidFill>
                  <a:srgbClr val="20384B"/>
                </a:solidFill>
                <a:latin typeface="Calibri"/>
                <a:ea typeface="Calibri"/>
                <a:cs typeface="Calibri"/>
              </a:defRPr>
            </a:pPr>
            <a:r>
              <a:rPr sz="1575" b="0">
                <a:solidFill>
                  <a:srgbClr val="20384B"/>
                </a:solidFill>
                <a:latin typeface="Calibri"/>
                <a:ea typeface="Calibri"/>
                <a:cs typeface="Calibri"/>
              </a:rPr>
              <a:t>Sáng đi khảo sát thực tế tại hiện trường nhà máy dự án; kiểm tra vị trí tủ điện phân phối, khảo sát các đường cáp và đánh giá phương án thi công đi dây.</a:t>
            </a:r>
          </a:p>
        </p:txBody>
      </p:sp>
      <p:sp>
        <p:nvSpPr>
          <p:cNvPr id="9" name="Rectangle 8">
            <a:extLst>
              <a:ext uri="{FF2B5EF4-FFF2-40B4-BE49-F238E27FC236}">
                <a16:creationId xmlns:a16="http://schemas.microsoft.com/office/drawing/2014/main" id="{84B2201E-9984-43D3-8AEF-E78B02F0C804}"/>
              </a:ext>
            </a:extLst>
          </p:cNvPr>
          <p:cNvSpPr>
            <a:spLocks noGrp="1"/>
          </p:cNvSpPr>
          <p:nvPr/>
        </p:nvSpPr>
        <p:spPr>
          <a:xfrm>
            <a:off x="7315200" y="2066925"/>
            <a:ext cx="4267200" cy="95250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上午前往專案工廠現場進行實地勘查；檢視配電盤安裝位置、通訊線路佈設路徑並評估現場施工可行性。</a:t>
            </a:r>
          </a:p>
        </p:txBody>
      </p:sp>
      <p:sp>
        <p:nvSpPr>
          <p:cNvPr id="10" name="Rectangle 9">
            <a:extLst>
              <a:ext uri="{FF2B5EF4-FFF2-40B4-BE49-F238E27FC236}">
                <a16:creationId xmlns:a16="http://schemas.microsoft.com/office/drawing/2014/main" id="{7C4D6DF4-59D8-4307-BF57-CF9603FDA589}"/>
              </a:ext>
            </a:extLst>
          </p:cNvPr>
          <p:cNvSpPr>
            <a:spLocks noGrp="1"/>
          </p:cNvSpPr>
          <p:nvPr/>
        </p:nvSpPr>
        <p:spPr>
          <a:xfrm>
            <a:off x="571500" y="3105150"/>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02</a:t>
            </a:r>
          </a:p>
        </p:txBody>
      </p:sp>
      <p:sp>
        <p:nvSpPr>
          <p:cNvPr id="11" name="Rectangle 10">
            <a:extLst>
              <a:ext uri="{FF2B5EF4-FFF2-40B4-BE49-F238E27FC236}">
                <a16:creationId xmlns:a16="http://schemas.microsoft.com/office/drawing/2014/main" id="{A9B2506A-4152-4CB8-BBAD-85D7C85FE014}"/>
              </a:ext>
            </a:extLst>
          </p:cNvPr>
          <p:cNvSpPr>
            <a:spLocks noGrp="1"/>
          </p:cNvSpPr>
          <p:nvPr/>
        </p:nvSpPr>
        <p:spPr>
          <a:xfrm>
            <a:off x="1123950" y="3105150"/>
            <a:ext cx="5791200" cy="514350"/>
          </a:xfrm>
          <a:prstGeom prst="rect">
            <a:avLst/>
          </a:prstGeom>
          <a:noFill/>
          <a:ln w="0">
            <a:noFill/>
          </a:ln>
        </p:spPr>
        <p:txBody>
          <a:bodyPr lIns="0" tIns="0" rIns="0" bIns="0" anchor="t"/>
          <a:lstStyle>
            <a:defPPr>
              <a:defRPr sz="1725" b="1">
                <a:solidFill>
                  <a:srgbClr val="12304A"/>
                </a:solidFill>
                <a:latin typeface="Calibri"/>
                <a:ea typeface="Calibri"/>
                <a:cs typeface="Calibri"/>
              </a:defRPr>
            </a:defPPr>
            <a:lvl1pPr>
              <a:defRPr sz="1725" b="1">
                <a:solidFill>
                  <a:srgbClr val="12304A"/>
                </a:solidFill>
                <a:latin typeface="Calibri"/>
                <a:ea typeface="Calibri"/>
                <a:cs typeface="Calibri"/>
              </a:defRPr>
            </a:lvl1pPr>
            <a:lvl2pPr>
              <a:defRPr sz="1725" b="1">
                <a:solidFill>
                  <a:srgbClr val="12304A"/>
                </a:solidFill>
                <a:latin typeface="Calibri"/>
                <a:ea typeface="Calibri"/>
                <a:cs typeface="Calibri"/>
              </a:defRPr>
            </a:lvl2pPr>
            <a:lvl3pPr>
              <a:defRPr sz="1725" b="1">
                <a:solidFill>
                  <a:srgbClr val="12304A"/>
                </a:solidFill>
                <a:latin typeface="Calibri"/>
                <a:ea typeface="Calibri"/>
                <a:cs typeface="Calibri"/>
              </a:defRPr>
            </a:lvl3pPr>
            <a:lvl4pPr>
              <a:defRPr sz="1725" b="1">
                <a:solidFill>
                  <a:srgbClr val="12304A"/>
                </a:solidFill>
                <a:latin typeface="Calibri"/>
                <a:ea typeface="Calibri"/>
                <a:cs typeface="Calibri"/>
              </a:defRPr>
            </a:lvl4pPr>
            <a:lvl5pPr>
              <a:defRPr sz="1725" b="1">
                <a:solidFill>
                  <a:srgbClr val="12304A"/>
                </a:solidFill>
                <a:latin typeface="Calibri"/>
                <a:ea typeface="Calibri"/>
                <a:cs typeface="Calibri"/>
              </a:defRPr>
            </a:lvl5pPr>
            <a:lvl6pPr>
              <a:defRPr sz="1725" b="1">
                <a:solidFill>
                  <a:srgbClr val="12304A"/>
                </a:solidFill>
                <a:latin typeface="Calibri"/>
                <a:ea typeface="Calibri"/>
                <a:cs typeface="Calibri"/>
              </a:defRPr>
            </a:lvl6pPr>
            <a:lvl7pPr>
              <a:defRPr sz="1725" b="1">
                <a:solidFill>
                  <a:srgbClr val="12304A"/>
                </a:solidFill>
                <a:latin typeface="Calibri"/>
                <a:ea typeface="Calibri"/>
                <a:cs typeface="Calibri"/>
              </a:defRPr>
            </a:lvl7pPr>
            <a:lvl8pPr>
              <a:defRPr sz="1725" b="1">
                <a:solidFill>
                  <a:srgbClr val="12304A"/>
                </a:solidFill>
                <a:latin typeface="Calibri"/>
                <a:ea typeface="Calibri"/>
                <a:cs typeface="Calibri"/>
              </a:defRPr>
            </a:lvl8pPr>
            <a:lvl9pPr>
              <a:defRPr sz="1725" b="1">
                <a:solidFill>
                  <a:srgbClr val="12304A"/>
                </a:solidFill>
                <a:latin typeface="Calibri"/>
                <a:ea typeface="Calibri"/>
                <a:cs typeface="Calibri"/>
              </a:defRPr>
            </a:lvl9pPr>
          </a:lstStyle>
          <a:p>
            <a:pPr>
              <a:defRPr sz="1725" b="1">
                <a:solidFill>
                  <a:srgbClr val="12304A"/>
                </a:solidFill>
                <a:latin typeface="Calibri"/>
                <a:ea typeface="Calibri"/>
                <a:cs typeface="Calibri"/>
              </a:defRPr>
            </a:pPr>
            <a:r>
              <a:rPr sz="1725" b="1">
                <a:solidFill>
                  <a:srgbClr val="12304A"/>
                </a:solidFill>
                <a:latin typeface="Calibri"/>
                <a:ea typeface="Calibri"/>
                <a:cs typeface="Calibri"/>
              </a:rPr>
              <a:t>Khảo sát hiện trường dự án (Buổi chiều)</a:t>
            </a:r>
          </a:p>
        </p:txBody>
      </p:sp>
      <p:sp>
        <p:nvSpPr>
          <p:cNvPr id="12" name="Rectangle 11">
            <a:extLst>
              <a:ext uri="{FF2B5EF4-FFF2-40B4-BE49-F238E27FC236}">
                <a16:creationId xmlns:a16="http://schemas.microsoft.com/office/drawing/2014/main" id="{FCB40D33-1ADA-42A3-94CC-02318C4659CA}"/>
              </a:ext>
            </a:extLst>
          </p:cNvPr>
          <p:cNvSpPr>
            <a:spLocks noGrp="1"/>
          </p:cNvSpPr>
          <p:nvPr/>
        </p:nvSpPr>
        <p:spPr>
          <a:xfrm>
            <a:off x="7315200" y="3105150"/>
            <a:ext cx="4267200" cy="571500"/>
          </a:xfrm>
          <a:prstGeom prst="rect">
            <a:avLst/>
          </a:prstGeom>
          <a:noFill/>
          <a:ln w="0">
            <a:noFill/>
          </a:ln>
        </p:spPr>
        <p:txBody>
          <a:bodyPr lIns="0" tIns="0" rIns="0" bIns="0" anchor="t"/>
          <a:lstStyle>
            <a:defPPr>
              <a:defRPr sz="1425" b="1">
                <a:solidFill>
                  <a:srgbClr val="007F86"/>
                </a:solidFill>
                <a:latin typeface="Microsoft JhengHei"/>
                <a:ea typeface="Microsoft JhengHei"/>
                <a:cs typeface="Microsoft JhengHei"/>
              </a:defRPr>
            </a:defPPr>
            <a:lvl1pPr>
              <a:defRPr sz="1425" b="1">
                <a:solidFill>
                  <a:srgbClr val="007F86"/>
                </a:solidFill>
                <a:latin typeface="Microsoft JhengHei"/>
                <a:ea typeface="Microsoft JhengHei"/>
                <a:cs typeface="Microsoft JhengHei"/>
              </a:defRPr>
            </a:lvl1pPr>
            <a:lvl2pPr>
              <a:defRPr sz="1425" b="1">
                <a:solidFill>
                  <a:srgbClr val="007F86"/>
                </a:solidFill>
                <a:latin typeface="Microsoft JhengHei"/>
                <a:ea typeface="Microsoft JhengHei"/>
                <a:cs typeface="Microsoft JhengHei"/>
              </a:defRPr>
            </a:lvl2pPr>
            <a:lvl3pPr>
              <a:defRPr sz="1425" b="1">
                <a:solidFill>
                  <a:srgbClr val="007F86"/>
                </a:solidFill>
                <a:latin typeface="Microsoft JhengHei"/>
                <a:ea typeface="Microsoft JhengHei"/>
                <a:cs typeface="Microsoft JhengHei"/>
              </a:defRPr>
            </a:lvl3pPr>
            <a:lvl4pPr>
              <a:defRPr sz="1425" b="1">
                <a:solidFill>
                  <a:srgbClr val="007F86"/>
                </a:solidFill>
                <a:latin typeface="Microsoft JhengHei"/>
                <a:ea typeface="Microsoft JhengHei"/>
                <a:cs typeface="Microsoft JhengHei"/>
              </a:defRPr>
            </a:lvl4pPr>
            <a:lvl5pPr>
              <a:defRPr sz="1425" b="1">
                <a:solidFill>
                  <a:srgbClr val="007F86"/>
                </a:solidFill>
                <a:latin typeface="Microsoft JhengHei"/>
                <a:ea typeface="Microsoft JhengHei"/>
                <a:cs typeface="Microsoft JhengHei"/>
              </a:defRPr>
            </a:lvl5pPr>
            <a:lvl6pPr>
              <a:defRPr sz="1425" b="1">
                <a:solidFill>
                  <a:srgbClr val="007F86"/>
                </a:solidFill>
                <a:latin typeface="Microsoft JhengHei"/>
                <a:ea typeface="Microsoft JhengHei"/>
                <a:cs typeface="Microsoft JhengHei"/>
              </a:defRPr>
            </a:lvl6pPr>
            <a:lvl7pPr>
              <a:defRPr sz="1425" b="1">
                <a:solidFill>
                  <a:srgbClr val="007F86"/>
                </a:solidFill>
                <a:latin typeface="Microsoft JhengHei"/>
                <a:ea typeface="Microsoft JhengHei"/>
                <a:cs typeface="Microsoft JhengHei"/>
              </a:defRPr>
            </a:lvl7pPr>
            <a:lvl8pPr>
              <a:defRPr sz="1425" b="1">
                <a:solidFill>
                  <a:srgbClr val="007F86"/>
                </a:solidFill>
                <a:latin typeface="Microsoft JhengHei"/>
                <a:ea typeface="Microsoft JhengHei"/>
                <a:cs typeface="Microsoft JhengHei"/>
              </a:defRPr>
            </a:lvl8pPr>
            <a:lvl9pPr>
              <a:defRPr sz="1425" b="1">
                <a:solidFill>
                  <a:srgbClr val="007F86"/>
                </a:solidFill>
                <a:latin typeface="Microsoft JhengHei"/>
                <a:ea typeface="Microsoft JhengHei"/>
                <a:cs typeface="Microsoft JhengHei"/>
              </a:defRPr>
            </a:lvl9pPr>
          </a:lstStyle>
          <a:p>
            <a:pPr>
              <a:defRPr sz="1425" b="1">
                <a:solidFill>
                  <a:srgbClr val="007F86"/>
                </a:solidFill>
                <a:latin typeface="Microsoft JhengHei"/>
                <a:ea typeface="Microsoft JhengHei"/>
                <a:cs typeface="Microsoft JhengHei"/>
              </a:defRPr>
            </a:pPr>
            <a:r>
              <a:rPr sz="1425" b="1">
                <a:solidFill>
                  <a:srgbClr val="007F86"/>
                </a:solidFill>
                <a:latin typeface="Microsoft JhengHei"/>
                <a:ea typeface="Microsoft JhengHei"/>
                <a:cs typeface="Microsoft JhengHei"/>
              </a:rPr>
              <a:t>專案現場實地勘查（下午時段）</a:t>
            </a:r>
          </a:p>
        </p:txBody>
      </p:sp>
      <p:sp>
        <p:nvSpPr>
          <p:cNvPr id="13" name="Rectangle 12">
            <a:extLst>
              <a:ext uri="{FF2B5EF4-FFF2-40B4-BE49-F238E27FC236}">
                <a16:creationId xmlns:a16="http://schemas.microsoft.com/office/drawing/2014/main" id="{B7F009E1-DD48-459C-AA28-17D7ED3B824E}"/>
              </a:ext>
            </a:extLst>
          </p:cNvPr>
          <p:cNvSpPr>
            <a:spLocks noGrp="1"/>
          </p:cNvSpPr>
          <p:nvPr/>
        </p:nvSpPr>
        <p:spPr>
          <a:xfrm>
            <a:off x="1123950" y="3676650"/>
            <a:ext cx="5791200" cy="952500"/>
          </a:xfrm>
          <a:prstGeom prst="rect">
            <a:avLst/>
          </a:prstGeom>
          <a:noFill/>
          <a:ln w="0">
            <a:noFill/>
          </a:ln>
        </p:spPr>
        <p:txBody>
          <a:bodyPr lIns="0" tIns="0" rIns="0" bIns="0" anchor="t"/>
          <a:lstStyle>
            <a:defPPr>
              <a:defRPr sz="1575" b="0">
                <a:solidFill>
                  <a:srgbClr val="20384B"/>
                </a:solidFill>
                <a:latin typeface="Calibri"/>
                <a:ea typeface="Calibri"/>
                <a:cs typeface="Calibri"/>
              </a:defRPr>
            </a:defPPr>
            <a:lvl1pPr>
              <a:defRPr sz="1575" b="0">
                <a:solidFill>
                  <a:srgbClr val="20384B"/>
                </a:solidFill>
                <a:latin typeface="Calibri"/>
                <a:ea typeface="Calibri"/>
                <a:cs typeface="Calibri"/>
              </a:defRPr>
            </a:lvl1pPr>
            <a:lvl2pPr>
              <a:defRPr sz="1575" b="0">
                <a:solidFill>
                  <a:srgbClr val="20384B"/>
                </a:solidFill>
                <a:latin typeface="Calibri"/>
                <a:ea typeface="Calibri"/>
                <a:cs typeface="Calibri"/>
              </a:defRPr>
            </a:lvl2pPr>
            <a:lvl3pPr>
              <a:defRPr sz="1575" b="0">
                <a:solidFill>
                  <a:srgbClr val="20384B"/>
                </a:solidFill>
                <a:latin typeface="Calibri"/>
                <a:ea typeface="Calibri"/>
                <a:cs typeface="Calibri"/>
              </a:defRPr>
            </a:lvl3pPr>
            <a:lvl4pPr>
              <a:defRPr sz="1575" b="0">
                <a:solidFill>
                  <a:srgbClr val="20384B"/>
                </a:solidFill>
                <a:latin typeface="Calibri"/>
                <a:ea typeface="Calibri"/>
                <a:cs typeface="Calibri"/>
              </a:defRPr>
            </a:lvl4pPr>
            <a:lvl5pPr>
              <a:defRPr sz="1575" b="0">
                <a:solidFill>
                  <a:srgbClr val="20384B"/>
                </a:solidFill>
                <a:latin typeface="Calibri"/>
                <a:ea typeface="Calibri"/>
                <a:cs typeface="Calibri"/>
              </a:defRPr>
            </a:lvl5pPr>
            <a:lvl6pPr>
              <a:defRPr sz="1575" b="0">
                <a:solidFill>
                  <a:srgbClr val="20384B"/>
                </a:solidFill>
                <a:latin typeface="Calibri"/>
                <a:ea typeface="Calibri"/>
                <a:cs typeface="Calibri"/>
              </a:defRPr>
            </a:lvl6pPr>
            <a:lvl7pPr>
              <a:defRPr sz="1575" b="0">
                <a:solidFill>
                  <a:srgbClr val="20384B"/>
                </a:solidFill>
                <a:latin typeface="Calibri"/>
                <a:ea typeface="Calibri"/>
                <a:cs typeface="Calibri"/>
              </a:defRPr>
            </a:lvl7pPr>
            <a:lvl8pPr>
              <a:defRPr sz="1575" b="0">
                <a:solidFill>
                  <a:srgbClr val="20384B"/>
                </a:solidFill>
                <a:latin typeface="Calibri"/>
                <a:ea typeface="Calibri"/>
                <a:cs typeface="Calibri"/>
              </a:defRPr>
            </a:lvl8pPr>
            <a:lvl9pPr>
              <a:defRPr sz="1575" b="0">
                <a:solidFill>
                  <a:srgbClr val="20384B"/>
                </a:solidFill>
                <a:latin typeface="Calibri"/>
                <a:ea typeface="Calibri"/>
                <a:cs typeface="Calibri"/>
              </a:defRPr>
            </a:lvl9pPr>
          </a:lstStyle>
          <a:p>
            <a:pPr>
              <a:defRPr sz="1575" b="0">
                <a:solidFill>
                  <a:srgbClr val="20384B"/>
                </a:solidFill>
                <a:latin typeface="Calibri"/>
                <a:ea typeface="Calibri"/>
                <a:cs typeface="Calibri"/>
              </a:defRPr>
            </a:pPr>
            <a:r>
              <a:rPr sz="1575" b="0">
                <a:solidFill>
                  <a:srgbClr val="20384B"/>
                </a:solidFill>
                <a:latin typeface="Calibri"/>
                <a:ea typeface="Calibri"/>
                <a:cs typeface="Calibri"/>
              </a:rPr>
              <a:t>Buổi chiều tiếp tục khảo sát khu vực máy móc sản xuất, vị trí dự kiến lắp đặt Gateway thu thập dữ liệu và hạ tầng mạng kết nối; ghi nhận các yêu cầu kỹ thuật đặc thù tại hiện trường.</a:t>
            </a:r>
          </a:p>
        </p:txBody>
      </p:sp>
      <p:sp>
        <p:nvSpPr>
          <p:cNvPr id="14" name="Rectangle 13">
            <a:extLst>
              <a:ext uri="{FF2B5EF4-FFF2-40B4-BE49-F238E27FC236}">
                <a16:creationId xmlns:a16="http://schemas.microsoft.com/office/drawing/2014/main" id="{FBED1075-123C-4952-9441-40CB7AD32B6E}"/>
              </a:ext>
            </a:extLst>
          </p:cNvPr>
          <p:cNvSpPr>
            <a:spLocks noGrp="1"/>
          </p:cNvSpPr>
          <p:nvPr/>
        </p:nvSpPr>
        <p:spPr>
          <a:xfrm>
            <a:off x="7315200" y="3676650"/>
            <a:ext cx="4267200" cy="95250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下午持續勘查現場生產機台區域、評估資料收集閘道器（Gateway）與通訊網路節點佈設環境；記錄現場各項具體技術需求。</a:t>
            </a:r>
          </a:p>
        </p:txBody>
      </p:sp>
      <p:sp>
        <p:nvSpPr>
          <p:cNvPr id="15" name="Rectangle 14">
            <a:extLst>
              <a:ext uri="{FF2B5EF4-FFF2-40B4-BE49-F238E27FC236}">
                <a16:creationId xmlns:a16="http://schemas.microsoft.com/office/drawing/2014/main" id="{BDBFA0CC-7A12-4712-BE63-2B39D59A4A10}"/>
              </a:ext>
            </a:extLst>
          </p:cNvPr>
          <p:cNvSpPr>
            <a:spLocks noGrp="1"/>
          </p:cNvSpPr>
          <p:nvPr/>
        </p:nvSpPr>
        <p:spPr>
          <a:xfrm>
            <a:off x="571500" y="4714875"/>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03</a:t>
            </a:r>
          </a:p>
        </p:txBody>
      </p:sp>
      <p:sp>
        <p:nvSpPr>
          <p:cNvPr id="16" name="Rectangle 15">
            <a:extLst>
              <a:ext uri="{FF2B5EF4-FFF2-40B4-BE49-F238E27FC236}">
                <a16:creationId xmlns:a16="http://schemas.microsoft.com/office/drawing/2014/main" id="{AA88D75C-E524-4047-95F1-386558C59572}"/>
              </a:ext>
            </a:extLst>
          </p:cNvPr>
          <p:cNvSpPr>
            <a:spLocks noGrp="1"/>
          </p:cNvSpPr>
          <p:nvPr/>
        </p:nvSpPr>
        <p:spPr>
          <a:xfrm>
            <a:off x="1123950" y="4714875"/>
            <a:ext cx="5791200" cy="514350"/>
          </a:xfrm>
          <a:prstGeom prst="rect">
            <a:avLst/>
          </a:prstGeom>
          <a:noFill/>
          <a:ln w="0">
            <a:noFill/>
          </a:ln>
        </p:spPr>
        <p:txBody>
          <a:bodyPr lIns="0" tIns="0" rIns="0" bIns="0" anchor="t"/>
          <a:lstStyle>
            <a:defPPr>
              <a:defRPr sz="1725" b="1">
                <a:solidFill>
                  <a:srgbClr val="12304A"/>
                </a:solidFill>
                <a:latin typeface="Calibri"/>
                <a:ea typeface="Calibri"/>
                <a:cs typeface="Calibri"/>
              </a:defRPr>
            </a:defPPr>
            <a:lvl1pPr>
              <a:defRPr sz="1725" b="1">
                <a:solidFill>
                  <a:srgbClr val="12304A"/>
                </a:solidFill>
                <a:latin typeface="Calibri"/>
                <a:ea typeface="Calibri"/>
                <a:cs typeface="Calibri"/>
              </a:defRPr>
            </a:lvl1pPr>
            <a:lvl2pPr>
              <a:defRPr sz="1725" b="1">
                <a:solidFill>
                  <a:srgbClr val="12304A"/>
                </a:solidFill>
                <a:latin typeface="Calibri"/>
                <a:ea typeface="Calibri"/>
                <a:cs typeface="Calibri"/>
              </a:defRPr>
            </a:lvl2pPr>
            <a:lvl3pPr>
              <a:defRPr sz="1725" b="1">
                <a:solidFill>
                  <a:srgbClr val="12304A"/>
                </a:solidFill>
                <a:latin typeface="Calibri"/>
                <a:ea typeface="Calibri"/>
                <a:cs typeface="Calibri"/>
              </a:defRPr>
            </a:lvl3pPr>
            <a:lvl4pPr>
              <a:defRPr sz="1725" b="1">
                <a:solidFill>
                  <a:srgbClr val="12304A"/>
                </a:solidFill>
                <a:latin typeface="Calibri"/>
                <a:ea typeface="Calibri"/>
                <a:cs typeface="Calibri"/>
              </a:defRPr>
            </a:lvl4pPr>
            <a:lvl5pPr>
              <a:defRPr sz="1725" b="1">
                <a:solidFill>
                  <a:srgbClr val="12304A"/>
                </a:solidFill>
                <a:latin typeface="Calibri"/>
                <a:ea typeface="Calibri"/>
                <a:cs typeface="Calibri"/>
              </a:defRPr>
            </a:lvl5pPr>
            <a:lvl6pPr>
              <a:defRPr sz="1725" b="1">
                <a:solidFill>
                  <a:srgbClr val="12304A"/>
                </a:solidFill>
                <a:latin typeface="Calibri"/>
                <a:ea typeface="Calibri"/>
                <a:cs typeface="Calibri"/>
              </a:defRPr>
            </a:lvl6pPr>
            <a:lvl7pPr>
              <a:defRPr sz="1725" b="1">
                <a:solidFill>
                  <a:srgbClr val="12304A"/>
                </a:solidFill>
                <a:latin typeface="Calibri"/>
                <a:ea typeface="Calibri"/>
                <a:cs typeface="Calibri"/>
              </a:defRPr>
            </a:lvl7pPr>
            <a:lvl8pPr>
              <a:defRPr sz="1725" b="1">
                <a:solidFill>
                  <a:srgbClr val="12304A"/>
                </a:solidFill>
                <a:latin typeface="Calibri"/>
                <a:ea typeface="Calibri"/>
                <a:cs typeface="Calibri"/>
              </a:defRPr>
            </a:lvl8pPr>
            <a:lvl9pPr>
              <a:defRPr sz="1725" b="1">
                <a:solidFill>
                  <a:srgbClr val="12304A"/>
                </a:solidFill>
                <a:latin typeface="Calibri"/>
                <a:ea typeface="Calibri"/>
                <a:cs typeface="Calibri"/>
              </a:defRPr>
            </a:lvl9pPr>
          </a:lstStyle>
          <a:p>
            <a:pPr>
              <a:defRPr sz="1725" b="1">
                <a:solidFill>
                  <a:srgbClr val="12304A"/>
                </a:solidFill>
                <a:latin typeface="Calibri"/>
                <a:ea typeface="Calibri"/>
                <a:cs typeface="Calibri"/>
              </a:defRPr>
            </a:pPr>
            <a:r>
              <a:rPr sz="1725" b="1">
                <a:solidFill>
                  <a:srgbClr val="12304A"/>
                </a:solidFill>
                <a:latin typeface="Calibri"/>
                <a:ea typeface="Calibri"/>
                <a:cs typeface="Calibri"/>
              </a:rPr>
              <a:t>Tổng hợp số liệu và lập biên bản khảo sát hiện trường</a:t>
            </a:r>
          </a:p>
        </p:txBody>
      </p:sp>
      <p:sp>
        <p:nvSpPr>
          <p:cNvPr id="17" name="Rectangle 16">
            <a:extLst>
              <a:ext uri="{FF2B5EF4-FFF2-40B4-BE49-F238E27FC236}">
                <a16:creationId xmlns:a16="http://schemas.microsoft.com/office/drawing/2014/main" id="{2C72E091-BA41-4725-99B1-5E1F14DDE319}"/>
              </a:ext>
            </a:extLst>
          </p:cNvPr>
          <p:cNvSpPr>
            <a:spLocks noGrp="1"/>
          </p:cNvSpPr>
          <p:nvPr/>
        </p:nvSpPr>
        <p:spPr>
          <a:xfrm>
            <a:off x="7315200" y="4714875"/>
            <a:ext cx="4267200" cy="571500"/>
          </a:xfrm>
          <a:prstGeom prst="rect">
            <a:avLst/>
          </a:prstGeom>
          <a:noFill/>
          <a:ln w="0">
            <a:noFill/>
          </a:ln>
        </p:spPr>
        <p:txBody>
          <a:bodyPr lIns="0" tIns="0" rIns="0" bIns="0" anchor="t"/>
          <a:lstStyle>
            <a:defPPr>
              <a:defRPr sz="1425" b="1">
                <a:solidFill>
                  <a:srgbClr val="007F86"/>
                </a:solidFill>
                <a:latin typeface="Microsoft JhengHei"/>
                <a:ea typeface="Microsoft JhengHei"/>
                <a:cs typeface="Microsoft JhengHei"/>
              </a:defRPr>
            </a:defPPr>
            <a:lvl1pPr>
              <a:defRPr sz="1425" b="1">
                <a:solidFill>
                  <a:srgbClr val="007F86"/>
                </a:solidFill>
                <a:latin typeface="Microsoft JhengHei"/>
                <a:ea typeface="Microsoft JhengHei"/>
                <a:cs typeface="Microsoft JhengHei"/>
              </a:defRPr>
            </a:lvl1pPr>
            <a:lvl2pPr>
              <a:defRPr sz="1425" b="1">
                <a:solidFill>
                  <a:srgbClr val="007F86"/>
                </a:solidFill>
                <a:latin typeface="Microsoft JhengHei"/>
                <a:ea typeface="Microsoft JhengHei"/>
                <a:cs typeface="Microsoft JhengHei"/>
              </a:defRPr>
            </a:lvl2pPr>
            <a:lvl3pPr>
              <a:defRPr sz="1425" b="1">
                <a:solidFill>
                  <a:srgbClr val="007F86"/>
                </a:solidFill>
                <a:latin typeface="Microsoft JhengHei"/>
                <a:ea typeface="Microsoft JhengHei"/>
                <a:cs typeface="Microsoft JhengHei"/>
              </a:defRPr>
            </a:lvl3pPr>
            <a:lvl4pPr>
              <a:defRPr sz="1425" b="1">
                <a:solidFill>
                  <a:srgbClr val="007F86"/>
                </a:solidFill>
                <a:latin typeface="Microsoft JhengHei"/>
                <a:ea typeface="Microsoft JhengHei"/>
                <a:cs typeface="Microsoft JhengHei"/>
              </a:defRPr>
            </a:lvl4pPr>
            <a:lvl5pPr>
              <a:defRPr sz="1425" b="1">
                <a:solidFill>
                  <a:srgbClr val="007F86"/>
                </a:solidFill>
                <a:latin typeface="Microsoft JhengHei"/>
                <a:ea typeface="Microsoft JhengHei"/>
                <a:cs typeface="Microsoft JhengHei"/>
              </a:defRPr>
            </a:lvl5pPr>
            <a:lvl6pPr>
              <a:defRPr sz="1425" b="1">
                <a:solidFill>
                  <a:srgbClr val="007F86"/>
                </a:solidFill>
                <a:latin typeface="Microsoft JhengHei"/>
                <a:ea typeface="Microsoft JhengHei"/>
                <a:cs typeface="Microsoft JhengHei"/>
              </a:defRPr>
            </a:lvl6pPr>
            <a:lvl7pPr>
              <a:defRPr sz="1425" b="1">
                <a:solidFill>
                  <a:srgbClr val="007F86"/>
                </a:solidFill>
                <a:latin typeface="Microsoft JhengHei"/>
                <a:ea typeface="Microsoft JhengHei"/>
                <a:cs typeface="Microsoft JhengHei"/>
              </a:defRPr>
            </a:lvl7pPr>
            <a:lvl8pPr>
              <a:defRPr sz="1425" b="1">
                <a:solidFill>
                  <a:srgbClr val="007F86"/>
                </a:solidFill>
                <a:latin typeface="Microsoft JhengHei"/>
                <a:ea typeface="Microsoft JhengHei"/>
                <a:cs typeface="Microsoft JhengHei"/>
              </a:defRPr>
            </a:lvl8pPr>
            <a:lvl9pPr>
              <a:defRPr sz="1425" b="1">
                <a:solidFill>
                  <a:srgbClr val="007F86"/>
                </a:solidFill>
                <a:latin typeface="Microsoft JhengHei"/>
                <a:ea typeface="Microsoft JhengHei"/>
                <a:cs typeface="Microsoft JhengHei"/>
              </a:defRPr>
            </a:lvl9pPr>
          </a:lstStyle>
          <a:p>
            <a:pPr>
              <a:defRPr sz="1425" b="1">
                <a:solidFill>
                  <a:srgbClr val="007F86"/>
                </a:solidFill>
                <a:latin typeface="Microsoft JhengHei"/>
                <a:ea typeface="Microsoft JhengHei"/>
                <a:cs typeface="Microsoft JhengHei"/>
              </a:defRPr>
            </a:pPr>
            <a:r>
              <a:rPr sz="1425" b="1">
                <a:solidFill>
                  <a:srgbClr val="007F86"/>
                </a:solidFill>
                <a:latin typeface="Microsoft JhengHei"/>
                <a:ea typeface="Microsoft JhengHei"/>
                <a:cs typeface="Microsoft JhengHei"/>
              </a:rPr>
              <a:t>彙整現場勘查數據與記錄</a:t>
            </a:r>
          </a:p>
        </p:txBody>
      </p:sp>
      <p:sp>
        <p:nvSpPr>
          <p:cNvPr id="18" name="Rectangle 17">
            <a:extLst>
              <a:ext uri="{FF2B5EF4-FFF2-40B4-BE49-F238E27FC236}">
                <a16:creationId xmlns:a16="http://schemas.microsoft.com/office/drawing/2014/main" id="{B231EF99-71C2-470F-889E-5344A0023826}"/>
              </a:ext>
            </a:extLst>
          </p:cNvPr>
          <p:cNvSpPr>
            <a:spLocks noGrp="1"/>
          </p:cNvSpPr>
          <p:nvPr/>
        </p:nvSpPr>
        <p:spPr>
          <a:xfrm>
            <a:off x="1123950" y="5286375"/>
            <a:ext cx="5791200" cy="952500"/>
          </a:xfrm>
          <a:prstGeom prst="rect">
            <a:avLst/>
          </a:prstGeom>
          <a:noFill/>
          <a:ln w="0">
            <a:noFill/>
          </a:ln>
        </p:spPr>
        <p:txBody>
          <a:bodyPr lIns="0" tIns="0" rIns="0" bIns="0" anchor="t"/>
          <a:lstStyle>
            <a:defPPr>
              <a:defRPr sz="1575" b="0">
                <a:solidFill>
                  <a:srgbClr val="20384B"/>
                </a:solidFill>
                <a:latin typeface="Calibri"/>
                <a:ea typeface="Calibri"/>
                <a:cs typeface="Calibri"/>
              </a:defRPr>
            </a:defPPr>
            <a:lvl1pPr>
              <a:defRPr sz="1575" b="0">
                <a:solidFill>
                  <a:srgbClr val="20384B"/>
                </a:solidFill>
                <a:latin typeface="Calibri"/>
                <a:ea typeface="Calibri"/>
                <a:cs typeface="Calibri"/>
              </a:defRPr>
            </a:lvl1pPr>
            <a:lvl2pPr>
              <a:defRPr sz="1575" b="0">
                <a:solidFill>
                  <a:srgbClr val="20384B"/>
                </a:solidFill>
                <a:latin typeface="Calibri"/>
                <a:ea typeface="Calibri"/>
                <a:cs typeface="Calibri"/>
              </a:defRPr>
            </a:lvl2pPr>
            <a:lvl3pPr>
              <a:defRPr sz="1575" b="0">
                <a:solidFill>
                  <a:srgbClr val="20384B"/>
                </a:solidFill>
                <a:latin typeface="Calibri"/>
                <a:ea typeface="Calibri"/>
                <a:cs typeface="Calibri"/>
              </a:defRPr>
            </a:lvl3pPr>
            <a:lvl4pPr>
              <a:defRPr sz="1575" b="0">
                <a:solidFill>
                  <a:srgbClr val="20384B"/>
                </a:solidFill>
                <a:latin typeface="Calibri"/>
                <a:ea typeface="Calibri"/>
                <a:cs typeface="Calibri"/>
              </a:defRPr>
            </a:lvl4pPr>
            <a:lvl5pPr>
              <a:defRPr sz="1575" b="0">
                <a:solidFill>
                  <a:srgbClr val="20384B"/>
                </a:solidFill>
                <a:latin typeface="Calibri"/>
                <a:ea typeface="Calibri"/>
                <a:cs typeface="Calibri"/>
              </a:defRPr>
            </a:lvl5pPr>
            <a:lvl6pPr>
              <a:defRPr sz="1575" b="0">
                <a:solidFill>
                  <a:srgbClr val="20384B"/>
                </a:solidFill>
                <a:latin typeface="Calibri"/>
                <a:ea typeface="Calibri"/>
                <a:cs typeface="Calibri"/>
              </a:defRPr>
            </a:lvl6pPr>
            <a:lvl7pPr>
              <a:defRPr sz="1575" b="0">
                <a:solidFill>
                  <a:srgbClr val="20384B"/>
                </a:solidFill>
                <a:latin typeface="Calibri"/>
                <a:ea typeface="Calibri"/>
                <a:cs typeface="Calibri"/>
              </a:defRPr>
            </a:lvl7pPr>
            <a:lvl8pPr>
              <a:defRPr sz="1575" b="0">
                <a:solidFill>
                  <a:srgbClr val="20384B"/>
                </a:solidFill>
                <a:latin typeface="Calibri"/>
                <a:ea typeface="Calibri"/>
                <a:cs typeface="Calibri"/>
              </a:defRPr>
            </a:lvl8pPr>
            <a:lvl9pPr>
              <a:defRPr sz="1575" b="0">
                <a:solidFill>
                  <a:srgbClr val="20384B"/>
                </a:solidFill>
                <a:latin typeface="Calibri"/>
                <a:ea typeface="Calibri"/>
                <a:cs typeface="Calibri"/>
              </a:defRPr>
            </a:lvl9pPr>
          </a:lstStyle>
          <a:p>
            <a:pPr>
              <a:defRPr sz="1575" b="0">
                <a:solidFill>
                  <a:srgbClr val="20384B"/>
                </a:solidFill>
                <a:latin typeface="Calibri"/>
                <a:ea typeface="Calibri"/>
                <a:cs typeface="Calibri"/>
              </a:defRPr>
            </a:pPr>
            <a:r>
              <a:rPr sz="1575" b="0">
                <a:solidFill>
                  <a:srgbClr val="20384B"/>
                </a:solidFill>
                <a:latin typeface="Calibri"/>
                <a:ea typeface="Calibri"/>
                <a:cs typeface="Calibri"/>
              </a:rPr>
              <a:t>Tổng hợp các số liệu đo đạc kỹ thuật, đối chiếu hình ảnh chụp hiện trường để làm cơ sở xây dựng phương án kỹ thuật và báo giá chi tiết.</a:t>
            </a:r>
          </a:p>
        </p:txBody>
      </p:sp>
      <p:sp>
        <p:nvSpPr>
          <p:cNvPr id="19" name="Rectangle 18">
            <a:extLst>
              <a:ext uri="{FF2B5EF4-FFF2-40B4-BE49-F238E27FC236}">
                <a16:creationId xmlns:a16="http://schemas.microsoft.com/office/drawing/2014/main" id="{97AD02B9-E9A4-43A9-B1BE-EA8B145E5358}"/>
              </a:ext>
            </a:extLst>
          </p:cNvPr>
          <p:cNvSpPr>
            <a:spLocks noGrp="1"/>
          </p:cNvSpPr>
          <p:nvPr/>
        </p:nvSpPr>
        <p:spPr>
          <a:xfrm>
            <a:off x="7315200" y="5286375"/>
            <a:ext cx="4267200" cy="95250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彙總整理現場測量數據與勘查實拍照片，作為後續編制工程技術方案及精確報價之依據。</a:t>
            </a:r>
          </a:p>
        </p:txBody>
      </p:sp>
    </p:spTree>
    <p:extLst>
      <p:ext uri="{BB962C8B-B14F-4D97-AF65-F5344CB8AC3E}">
        <p14:creationId xmlns:p14="http://schemas.microsoft.com/office/powerpoint/2010/main" val="91677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C2F0EBB-23C6-4D14-BD1B-07A0E4BC21F9}"/>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Kết quả công việc  ·  28.10</a:t>
            </a:r>
          </a:p>
        </p:txBody>
      </p:sp>
      <p:sp>
        <p:nvSpPr>
          <p:cNvPr id="2" name="Rectangle 1">
            <a:extLst>
              <a:ext uri="{FF2B5EF4-FFF2-40B4-BE49-F238E27FC236}">
                <a16:creationId xmlns:a16="http://schemas.microsoft.com/office/drawing/2014/main" id="{7604B914-1C5E-46F0-9920-C9B596552C92}"/>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工作結果記錄  /  Thứ Tư / 星期三</a:t>
            </a:r>
          </a:p>
        </p:txBody>
      </p:sp>
      <p:sp>
        <p:nvSpPr>
          <p:cNvPr id="3" name="Rectangle 2">
            <a:extLst>
              <a:ext uri="{FF2B5EF4-FFF2-40B4-BE49-F238E27FC236}">
                <a16:creationId xmlns:a16="http://schemas.microsoft.com/office/drawing/2014/main" id="{4C743A0E-AF78-451A-B825-53B6D563ADAC}"/>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ADBB367B-553F-42F7-949F-EE41B722240C}"/>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05 / 11</a:t>
            </a:r>
          </a:p>
        </p:txBody>
      </p:sp>
      <p:sp>
        <p:nvSpPr>
          <p:cNvPr id="5" name="Rectangle 4">
            <a:extLst>
              <a:ext uri="{FF2B5EF4-FFF2-40B4-BE49-F238E27FC236}">
                <a16:creationId xmlns:a16="http://schemas.microsoft.com/office/drawing/2014/main" id="{27F6788C-CC63-4D94-9F6D-519A0A82ADDA}"/>
              </a:ext>
            </a:extLst>
          </p:cNvPr>
          <p:cNvSpPr>
            <a:spLocks noGrp="1"/>
          </p:cNvSpPr>
          <p:nvPr/>
        </p:nvSpPr>
        <p:spPr>
          <a:xfrm>
            <a:off x="571500" y="1495425"/>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39C3E60C-B7FB-49C8-859A-92527E2D4DEC}"/>
              </a:ext>
            </a:extLst>
          </p:cNvPr>
          <p:cNvSpPr>
            <a:spLocks noGrp="1"/>
          </p:cNvSpPr>
          <p:nvPr/>
        </p:nvSpPr>
        <p:spPr>
          <a:xfrm>
            <a:off x="1123950" y="1495425"/>
            <a:ext cx="5791200" cy="514350"/>
          </a:xfrm>
          <a:prstGeom prst="rect">
            <a:avLst/>
          </a:prstGeom>
          <a:noFill/>
          <a:ln w="0">
            <a:noFill/>
          </a:ln>
        </p:spPr>
        <p:txBody>
          <a:bodyPr lIns="0" tIns="0" rIns="0" bIns="0" anchor="t"/>
          <a:lstStyle>
            <a:defPPr>
              <a:defRPr sz="1725" b="1">
                <a:solidFill>
                  <a:srgbClr val="12304A"/>
                </a:solidFill>
                <a:latin typeface="Calibri"/>
                <a:ea typeface="Calibri"/>
                <a:cs typeface="Calibri"/>
              </a:defRPr>
            </a:defPPr>
            <a:lvl1pPr>
              <a:defRPr sz="1725" b="1">
                <a:solidFill>
                  <a:srgbClr val="12304A"/>
                </a:solidFill>
                <a:latin typeface="Calibri"/>
                <a:ea typeface="Calibri"/>
                <a:cs typeface="Calibri"/>
              </a:defRPr>
            </a:lvl1pPr>
            <a:lvl2pPr>
              <a:defRPr sz="1725" b="1">
                <a:solidFill>
                  <a:srgbClr val="12304A"/>
                </a:solidFill>
                <a:latin typeface="Calibri"/>
                <a:ea typeface="Calibri"/>
                <a:cs typeface="Calibri"/>
              </a:defRPr>
            </a:lvl2pPr>
            <a:lvl3pPr>
              <a:defRPr sz="1725" b="1">
                <a:solidFill>
                  <a:srgbClr val="12304A"/>
                </a:solidFill>
                <a:latin typeface="Calibri"/>
                <a:ea typeface="Calibri"/>
                <a:cs typeface="Calibri"/>
              </a:defRPr>
            </a:lvl3pPr>
            <a:lvl4pPr>
              <a:defRPr sz="1725" b="1">
                <a:solidFill>
                  <a:srgbClr val="12304A"/>
                </a:solidFill>
                <a:latin typeface="Calibri"/>
                <a:ea typeface="Calibri"/>
                <a:cs typeface="Calibri"/>
              </a:defRPr>
            </a:lvl4pPr>
            <a:lvl5pPr>
              <a:defRPr sz="1725" b="1">
                <a:solidFill>
                  <a:srgbClr val="12304A"/>
                </a:solidFill>
                <a:latin typeface="Calibri"/>
                <a:ea typeface="Calibri"/>
                <a:cs typeface="Calibri"/>
              </a:defRPr>
            </a:lvl5pPr>
            <a:lvl6pPr>
              <a:defRPr sz="1725" b="1">
                <a:solidFill>
                  <a:srgbClr val="12304A"/>
                </a:solidFill>
                <a:latin typeface="Calibri"/>
                <a:ea typeface="Calibri"/>
                <a:cs typeface="Calibri"/>
              </a:defRPr>
            </a:lvl6pPr>
            <a:lvl7pPr>
              <a:defRPr sz="1725" b="1">
                <a:solidFill>
                  <a:srgbClr val="12304A"/>
                </a:solidFill>
                <a:latin typeface="Calibri"/>
                <a:ea typeface="Calibri"/>
                <a:cs typeface="Calibri"/>
              </a:defRPr>
            </a:lvl7pPr>
            <a:lvl8pPr>
              <a:defRPr sz="1725" b="1">
                <a:solidFill>
                  <a:srgbClr val="12304A"/>
                </a:solidFill>
                <a:latin typeface="Calibri"/>
                <a:ea typeface="Calibri"/>
                <a:cs typeface="Calibri"/>
              </a:defRPr>
            </a:lvl8pPr>
            <a:lvl9pPr>
              <a:defRPr sz="1725" b="1">
                <a:solidFill>
                  <a:srgbClr val="12304A"/>
                </a:solidFill>
                <a:latin typeface="Calibri"/>
                <a:ea typeface="Calibri"/>
                <a:cs typeface="Calibri"/>
              </a:defRPr>
            </a:lvl9pPr>
          </a:lstStyle>
          <a:p>
            <a:pPr>
              <a:defRPr sz="1725" b="1">
                <a:solidFill>
                  <a:srgbClr val="12304A"/>
                </a:solidFill>
                <a:latin typeface="Calibri"/>
                <a:ea typeface="Calibri"/>
                <a:cs typeface="Calibri"/>
              </a:defRPr>
            </a:pPr>
            <a:r>
              <a:rPr sz="1725" b="1">
                <a:solidFill>
                  <a:srgbClr val="12304A"/>
                </a:solidFill>
                <a:latin typeface="Calibri"/>
                <a:ea typeface="Calibri"/>
                <a:cs typeface="Calibri"/>
              </a:rPr>
              <a:t>Gặp gỡ và làm việc trực tiếp với khách hàng</a:t>
            </a:r>
          </a:p>
        </p:txBody>
      </p:sp>
      <p:sp>
        <p:nvSpPr>
          <p:cNvPr id="7" name="Rectangle 6">
            <a:extLst>
              <a:ext uri="{FF2B5EF4-FFF2-40B4-BE49-F238E27FC236}">
                <a16:creationId xmlns:a16="http://schemas.microsoft.com/office/drawing/2014/main" id="{66984A25-CF94-4972-B819-C65D07E77F67}"/>
              </a:ext>
            </a:extLst>
          </p:cNvPr>
          <p:cNvSpPr>
            <a:spLocks noGrp="1"/>
          </p:cNvSpPr>
          <p:nvPr/>
        </p:nvSpPr>
        <p:spPr>
          <a:xfrm>
            <a:off x="7315200" y="1495425"/>
            <a:ext cx="4267200" cy="571500"/>
          </a:xfrm>
          <a:prstGeom prst="rect">
            <a:avLst/>
          </a:prstGeom>
          <a:noFill/>
          <a:ln w="0">
            <a:noFill/>
          </a:ln>
        </p:spPr>
        <p:txBody>
          <a:bodyPr lIns="0" tIns="0" rIns="0" bIns="0" anchor="t"/>
          <a:lstStyle>
            <a:defPPr>
              <a:defRPr sz="1425" b="1">
                <a:solidFill>
                  <a:srgbClr val="007F86"/>
                </a:solidFill>
                <a:latin typeface="Microsoft JhengHei"/>
                <a:ea typeface="Microsoft JhengHei"/>
                <a:cs typeface="Microsoft JhengHei"/>
              </a:defRPr>
            </a:defPPr>
            <a:lvl1pPr>
              <a:defRPr sz="1425" b="1">
                <a:solidFill>
                  <a:srgbClr val="007F86"/>
                </a:solidFill>
                <a:latin typeface="Microsoft JhengHei"/>
                <a:ea typeface="Microsoft JhengHei"/>
                <a:cs typeface="Microsoft JhengHei"/>
              </a:defRPr>
            </a:lvl1pPr>
            <a:lvl2pPr>
              <a:defRPr sz="1425" b="1">
                <a:solidFill>
                  <a:srgbClr val="007F86"/>
                </a:solidFill>
                <a:latin typeface="Microsoft JhengHei"/>
                <a:ea typeface="Microsoft JhengHei"/>
                <a:cs typeface="Microsoft JhengHei"/>
              </a:defRPr>
            </a:lvl2pPr>
            <a:lvl3pPr>
              <a:defRPr sz="1425" b="1">
                <a:solidFill>
                  <a:srgbClr val="007F86"/>
                </a:solidFill>
                <a:latin typeface="Microsoft JhengHei"/>
                <a:ea typeface="Microsoft JhengHei"/>
                <a:cs typeface="Microsoft JhengHei"/>
              </a:defRPr>
            </a:lvl3pPr>
            <a:lvl4pPr>
              <a:defRPr sz="1425" b="1">
                <a:solidFill>
                  <a:srgbClr val="007F86"/>
                </a:solidFill>
                <a:latin typeface="Microsoft JhengHei"/>
                <a:ea typeface="Microsoft JhengHei"/>
                <a:cs typeface="Microsoft JhengHei"/>
              </a:defRPr>
            </a:lvl4pPr>
            <a:lvl5pPr>
              <a:defRPr sz="1425" b="1">
                <a:solidFill>
                  <a:srgbClr val="007F86"/>
                </a:solidFill>
                <a:latin typeface="Microsoft JhengHei"/>
                <a:ea typeface="Microsoft JhengHei"/>
                <a:cs typeface="Microsoft JhengHei"/>
              </a:defRPr>
            </a:lvl5pPr>
            <a:lvl6pPr>
              <a:defRPr sz="1425" b="1">
                <a:solidFill>
                  <a:srgbClr val="007F86"/>
                </a:solidFill>
                <a:latin typeface="Microsoft JhengHei"/>
                <a:ea typeface="Microsoft JhengHei"/>
                <a:cs typeface="Microsoft JhengHei"/>
              </a:defRPr>
            </a:lvl6pPr>
            <a:lvl7pPr>
              <a:defRPr sz="1425" b="1">
                <a:solidFill>
                  <a:srgbClr val="007F86"/>
                </a:solidFill>
                <a:latin typeface="Microsoft JhengHei"/>
                <a:ea typeface="Microsoft JhengHei"/>
                <a:cs typeface="Microsoft JhengHei"/>
              </a:defRPr>
            </a:lvl7pPr>
            <a:lvl8pPr>
              <a:defRPr sz="1425" b="1">
                <a:solidFill>
                  <a:srgbClr val="007F86"/>
                </a:solidFill>
                <a:latin typeface="Microsoft JhengHei"/>
                <a:ea typeface="Microsoft JhengHei"/>
                <a:cs typeface="Microsoft JhengHei"/>
              </a:defRPr>
            </a:lvl8pPr>
            <a:lvl9pPr>
              <a:defRPr sz="1425" b="1">
                <a:solidFill>
                  <a:srgbClr val="007F86"/>
                </a:solidFill>
                <a:latin typeface="Microsoft JhengHei"/>
                <a:ea typeface="Microsoft JhengHei"/>
                <a:cs typeface="Microsoft JhengHei"/>
              </a:defRPr>
            </a:lvl9pPr>
          </a:lstStyle>
          <a:p>
            <a:pPr>
              <a:defRPr sz="1425" b="1">
                <a:solidFill>
                  <a:srgbClr val="007F86"/>
                </a:solidFill>
                <a:latin typeface="Microsoft JhengHei"/>
                <a:ea typeface="Microsoft JhengHei"/>
                <a:cs typeface="Microsoft JhengHei"/>
              </a:defRPr>
            </a:pPr>
            <a:r>
              <a:rPr sz="1425" b="1">
                <a:solidFill>
                  <a:srgbClr val="007F86"/>
                </a:solidFill>
                <a:latin typeface="Microsoft JhengHei"/>
                <a:ea typeface="Microsoft JhengHei"/>
                <a:cs typeface="Microsoft JhengHei"/>
              </a:rPr>
              <a:t>外出拜訪客戶洽談專案業務</a:t>
            </a:r>
          </a:p>
        </p:txBody>
      </p:sp>
      <p:sp>
        <p:nvSpPr>
          <p:cNvPr id="8" name="Rectangle 7">
            <a:extLst>
              <a:ext uri="{FF2B5EF4-FFF2-40B4-BE49-F238E27FC236}">
                <a16:creationId xmlns:a16="http://schemas.microsoft.com/office/drawing/2014/main" id="{794F3889-9412-4B4C-A41F-84383F9660E8}"/>
              </a:ext>
            </a:extLst>
          </p:cNvPr>
          <p:cNvSpPr>
            <a:spLocks noGrp="1"/>
          </p:cNvSpPr>
          <p:nvPr/>
        </p:nvSpPr>
        <p:spPr>
          <a:xfrm>
            <a:off x="1123950" y="2066925"/>
            <a:ext cx="5791200" cy="952500"/>
          </a:xfrm>
          <a:prstGeom prst="rect">
            <a:avLst/>
          </a:prstGeom>
          <a:noFill/>
          <a:ln w="0">
            <a:noFill/>
          </a:ln>
        </p:spPr>
        <p:txBody>
          <a:bodyPr lIns="0" tIns="0" rIns="0" bIns="0" anchor="t"/>
          <a:lstStyle>
            <a:defPPr>
              <a:defRPr sz="1575" b="0">
                <a:solidFill>
                  <a:srgbClr val="20384B"/>
                </a:solidFill>
                <a:latin typeface="Calibri"/>
                <a:ea typeface="Calibri"/>
                <a:cs typeface="Calibri"/>
              </a:defRPr>
            </a:defPPr>
            <a:lvl1pPr>
              <a:defRPr sz="1575" b="0">
                <a:solidFill>
                  <a:srgbClr val="20384B"/>
                </a:solidFill>
                <a:latin typeface="Calibri"/>
                <a:ea typeface="Calibri"/>
                <a:cs typeface="Calibri"/>
              </a:defRPr>
            </a:lvl1pPr>
            <a:lvl2pPr>
              <a:defRPr sz="1575" b="0">
                <a:solidFill>
                  <a:srgbClr val="20384B"/>
                </a:solidFill>
                <a:latin typeface="Calibri"/>
                <a:ea typeface="Calibri"/>
                <a:cs typeface="Calibri"/>
              </a:defRPr>
            </a:lvl2pPr>
            <a:lvl3pPr>
              <a:defRPr sz="1575" b="0">
                <a:solidFill>
                  <a:srgbClr val="20384B"/>
                </a:solidFill>
                <a:latin typeface="Calibri"/>
                <a:ea typeface="Calibri"/>
                <a:cs typeface="Calibri"/>
              </a:defRPr>
            </a:lvl3pPr>
            <a:lvl4pPr>
              <a:defRPr sz="1575" b="0">
                <a:solidFill>
                  <a:srgbClr val="20384B"/>
                </a:solidFill>
                <a:latin typeface="Calibri"/>
                <a:ea typeface="Calibri"/>
                <a:cs typeface="Calibri"/>
              </a:defRPr>
            </a:lvl4pPr>
            <a:lvl5pPr>
              <a:defRPr sz="1575" b="0">
                <a:solidFill>
                  <a:srgbClr val="20384B"/>
                </a:solidFill>
                <a:latin typeface="Calibri"/>
                <a:ea typeface="Calibri"/>
                <a:cs typeface="Calibri"/>
              </a:defRPr>
            </a:lvl5pPr>
            <a:lvl6pPr>
              <a:defRPr sz="1575" b="0">
                <a:solidFill>
                  <a:srgbClr val="20384B"/>
                </a:solidFill>
                <a:latin typeface="Calibri"/>
                <a:ea typeface="Calibri"/>
                <a:cs typeface="Calibri"/>
              </a:defRPr>
            </a:lvl6pPr>
            <a:lvl7pPr>
              <a:defRPr sz="1575" b="0">
                <a:solidFill>
                  <a:srgbClr val="20384B"/>
                </a:solidFill>
                <a:latin typeface="Calibri"/>
                <a:ea typeface="Calibri"/>
                <a:cs typeface="Calibri"/>
              </a:defRPr>
            </a:lvl7pPr>
            <a:lvl8pPr>
              <a:defRPr sz="1575" b="0">
                <a:solidFill>
                  <a:srgbClr val="20384B"/>
                </a:solidFill>
                <a:latin typeface="Calibri"/>
                <a:ea typeface="Calibri"/>
                <a:cs typeface="Calibri"/>
              </a:defRPr>
            </a:lvl8pPr>
            <a:lvl9pPr>
              <a:defRPr sz="1575" b="0">
                <a:solidFill>
                  <a:srgbClr val="20384B"/>
                </a:solidFill>
                <a:latin typeface="Calibri"/>
                <a:ea typeface="Calibri"/>
                <a:cs typeface="Calibri"/>
              </a:defRPr>
            </a:lvl9pPr>
          </a:lstStyle>
          <a:p>
            <a:pPr>
              <a:defRPr sz="1575" b="0">
                <a:solidFill>
                  <a:srgbClr val="20384B"/>
                </a:solidFill>
                <a:latin typeface="Calibri"/>
                <a:ea typeface="Calibri"/>
                <a:cs typeface="Calibri"/>
              </a:defRPr>
            </a:pPr>
            <a:r>
              <a:rPr sz="1575" b="0">
                <a:solidFill>
                  <a:srgbClr val="20384B"/>
                </a:solidFill>
                <a:latin typeface="Calibri"/>
                <a:ea typeface="Calibri"/>
                <a:cs typeface="Calibri"/>
              </a:rPr>
              <a:t>Sáng đi gặp gỡ trực tiếp khách hàng; trao đổi về tiến độ triển khai dự án, thảo luận về nhu cầu kỹ thuật và các nội dung phối hợp thực hiện giữa hai bên.</a:t>
            </a:r>
          </a:p>
        </p:txBody>
      </p:sp>
      <p:sp>
        <p:nvSpPr>
          <p:cNvPr id="9" name="Rectangle 8">
            <a:extLst>
              <a:ext uri="{FF2B5EF4-FFF2-40B4-BE49-F238E27FC236}">
                <a16:creationId xmlns:a16="http://schemas.microsoft.com/office/drawing/2014/main" id="{575BD622-6119-4EB1-8E42-B7DB9ADC27FB}"/>
              </a:ext>
            </a:extLst>
          </p:cNvPr>
          <p:cNvSpPr>
            <a:spLocks noGrp="1"/>
          </p:cNvSpPr>
          <p:nvPr/>
        </p:nvSpPr>
        <p:spPr>
          <a:xfrm>
            <a:off x="7315200" y="2066925"/>
            <a:ext cx="4267200" cy="95250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上午隨同主管外出拜訪客戶；洽談專案執行進度、深入探討現場技術需求及雙方業務配合事項。</a:t>
            </a:r>
          </a:p>
        </p:txBody>
      </p:sp>
      <p:sp>
        <p:nvSpPr>
          <p:cNvPr id="10" name="Rectangle 9">
            <a:extLst>
              <a:ext uri="{FF2B5EF4-FFF2-40B4-BE49-F238E27FC236}">
                <a16:creationId xmlns:a16="http://schemas.microsoft.com/office/drawing/2014/main" id="{C01FFFC4-25B2-49E5-9575-D3A7FE25747F}"/>
              </a:ext>
            </a:extLst>
          </p:cNvPr>
          <p:cNvSpPr>
            <a:spLocks noGrp="1"/>
          </p:cNvSpPr>
          <p:nvPr/>
        </p:nvSpPr>
        <p:spPr>
          <a:xfrm>
            <a:off x="571500" y="3105150"/>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02</a:t>
            </a:r>
          </a:p>
        </p:txBody>
      </p:sp>
      <p:sp>
        <p:nvSpPr>
          <p:cNvPr id="11" name="Rectangle 10">
            <a:extLst>
              <a:ext uri="{FF2B5EF4-FFF2-40B4-BE49-F238E27FC236}">
                <a16:creationId xmlns:a16="http://schemas.microsoft.com/office/drawing/2014/main" id="{A972633C-341D-4531-A0D6-DDA95B8BD040}"/>
              </a:ext>
            </a:extLst>
          </p:cNvPr>
          <p:cNvSpPr>
            <a:spLocks noGrp="1"/>
          </p:cNvSpPr>
          <p:nvPr/>
        </p:nvSpPr>
        <p:spPr>
          <a:xfrm>
            <a:off x="1123950" y="3105150"/>
            <a:ext cx="5791200" cy="514350"/>
          </a:xfrm>
          <a:prstGeom prst="rect">
            <a:avLst/>
          </a:prstGeom>
          <a:noFill/>
          <a:ln w="0">
            <a:noFill/>
          </a:ln>
        </p:spPr>
        <p:txBody>
          <a:bodyPr lIns="0" tIns="0" rIns="0" bIns="0" anchor="t"/>
          <a:lstStyle>
            <a:defPPr>
              <a:defRPr sz="1725" b="1">
                <a:solidFill>
                  <a:srgbClr val="12304A"/>
                </a:solidFill>
                <a:latin typeface="Calibri"/>
                <a:ea typeface="Calibri"/>
                <a:cs typeface="Calibri"/>
              </a:defRPr>
            </a:defPPr>
            <a:lvl1pPr>
              <a:defRPr sz="1725" b="1">
                <a:solidFill>
                  <a:srgbClr val="12304A"/>
                </a:solidFill>
                <a:latin typeface="Calibri"/>
                <a:ea typeface="Calibri"/>
                <a:cs typeface="Calibri"/>
              </a:defRPr>
            </a:lvl1pPr>
            <a:lvl2pPr>
              <a:defRPr sz="1725" b="1">
                <a:solidFill>
                  <a:srgbClr val="12304A"/>
                </a:solidFill>
                <a:latin typeface="Calibri"/>
                <a:ea typeface="Calibri"/>
                <a:cs typeface="Calibri"/>
              </a:defRPr>
            </a:lvl2pPr>
            <a:lvl3pPr>
              <a:defRPr sz="1725" b="1">
                <a:solidFill>
                  <a:srgbClr val="12304A"/>
                </a:solidFill>
                <a:latin typeface="Calibri"/>
                <a:ea typeface="Calibri"/>
                <a:cs typeface="Calibri"/>
              </a:defRPr>
            </a:lvl3pPr>
            <a:lvl4pPr>
              <a:defRPr sz="1725" b="1">
                <a:solidFill>
                  <a:srgbClr val="12304A"/>
                </a:solidFill>
                <a:latin typeface="Calibri"/>
                <a:ea typeface="Calibri"/>
                <a:cs typeface="Calibri"/>
              </a:defRPr>
            </a:lvl4pPr>
            <a:lvl5pPr>
              <a:defRPr sz="1725" b="1">
                <a:solidFill>
                  <a:srgbClr val="12304A"/>
                </a:solidFill>
                <a:latin typeface="Calibri"/>
                <a:ea typeface="Calibri"/>
                <a:cs typeface="Calibri"/>
              </a:defRPr>
            </a:lvl5pPr>
            <a:lvl6pPr>
              <a:defRPr sz="1725" b="1">
                <a:solidFill>
                  <a:srgbClr val="12304A"/>
                </a:solidFill>
                <a:latin typeface="Calibri"/>
                <a:ea typeface="Calibri"/>
                <a:cs typeface="Calibri"/>
              </a:defRPr>
            </a:lvl6pPr>
            <a:lvl7pPr>
              <a:defRPr sz="1725" b="1">
                <a:solidFill>
                  <a:srgbClr val="12304A"/>
                </a:solidFill>
                <a:latin typeface="Calibri"/>
                <a:ea typeface="Calibri"/>
                <a:cs typeface="Calibri"/>
              </a:defRPr>
            </a:lvl7pPr>
            <a:lvl8pPr>
              <a:defRPr sz="1725" b="1">
                <a:solidFill>
                  <a:srgbClr val="12304A"/>
                </a:solidFill>
                <a:latin typeface="Calibri"/>
                <a:ea typeface="Calibri"/>
                <a:cs typeface="Calibri"/>
              </a:defRPr>
            </a:lvl8pPr>
            <a:lvl9pPr>
              <a:defRPr sz="1725" b="1">
                <a:solidFill>
                  <a:srgbClr val="12304A"/>
                </a:solidFill>
                <a:latin typeface="Calibri"/>
                <a:ea typeface="Calibri"/>
                <a:cs typeface="Calibri"/>
              </a:defRPr>
            </a:lvl9pPr>
          </a:lstStyle>
          <a:p>
            <a:pPr>
              <a:defRPr sz="1725" b="1">
                <a:solidFill>
                  <a:srgbClr val="12304A"/>
                </a:solidFill>
                <a:latin typeface="Calibri"/>
                <a:ea typeface="Calibri"/>
                <a:cs typeface="Calibri"/>
              </a:defRPr>
            </a:pPr>
            <a:r>
              <a:rPr sz="1725" b="1">
                <a:solidFill>
                  <a:srgbClr val="12304A"/>
                </a:solidFill>
                <a:latin typeface="Calibri"/>
                <a:ea typeface="Calibri"/>
                <a:cs typeface="Calibri"/>
              </a:rPr>
              <a:t>Nghiên cứu tài liệu và nội dung cuộc họp sáng</a:t>
            </a:r>
          </a:p>
        </p:txBody>
      </p:sp>
      <p:sp>
        <p:nvSpPr>
          <p:cNvPr id="12" name="Rectangle 11">
            <a:extLst>
              <a:ext uri="{FF2B5EF4-FFF2-40B4-BE49-F238E27FC236}">
                <a16:creationId xmlns:a16="http://schemas.microsoft.com/office/drawing/2014/main" id="{1845A3A2-64AB-40F0-BC3F-A56F749A3A3B}"/>
              </a:ext>
            </a:extLst>
          </p:cNvPr>
          <p:cNvSpPr>
            <a:spLocks noGrp="1"/>
          </p:cNvSpPr>
          <p:nvPr/>
        </p:nvSpPr>
        <p:spPr>
          <a:xfrm>
            <a:off x="7315200" y="3105150"/>
            <a:ext cx="4267200" cy="571500"/>
          </a:xfrm>
          <a:prstGeom prst="rect">
            <a:avLst/>
          </a:prstGeom>
          <a:noFill/>
          <a:ln w="0">
            <a:noFill/>
          </a:ln>
        </p:spPr>
        <p:txBody>
          <a:bodyPr lIns="0" tIns="0" rIns="0" bIns="0" anchor="t"/>
          <a:lstStyle>
            <a:defPPr>
              <a:defRPr sz="1425" b="1">
                <a:solidFill>
                  <a:srgbClr val="007F86"/>
                </a:solidFill>
                <a:latin typeface="Microsoft JhengHei"/>
                <a:ea typeface="Microsoft JhengHei"/>
                <a:cs typeface="Microsoft JhengHei"/>
              </a:defRPr>
            </a:defPPr>
            <a:lvl1pPr>
              <a:defRPr sz="1425" b="1">
                <a:solidFill>
                  <a:srgbClr val="007F86"/>
                </a:solidFill>
                <a:latin typeface="Microsoft JhengHei"/>
                <a:ea typeface="Microsoft JhengHei"/>
                <a:cs typeface="Microsoft JhengHei"/>
              </a:defRPr>
            </a:lvl1pPr>
            <a:lvl2pPr>
              <a:defRPr sz="1425" b="1">
                <a:solidFill>
                  <a:srgbClr val="007F86"/>
                </a:solidFill>
                <a:latin typeface="Microsoft JhengHei"/>
                <a:ea typeface="Microsoft JhengHei"/>
                <a:cs typeface="Microsoft JhengHei"/>
              </a:defRPr>
            </a:lvl2pPr>
            <a:lvl3pPr>
              <a:defRPr sz="1425" b="1">
                <a:solidFill>
                  <a:srgbClr val="007F86"/>
                </a:solidFill>
                <a:latin typeface="Microsoft JhengHei"/>
                <a:ea typeface="Microsoft JhengHei"/>
                <a:cs typeface="Microsoft JhengHei"/>
              </a:defRPr>
            </a:lvl3pPr>
            <a:lvl4pPr>
              <a:defRPr sz="1425" b="1">
                <a:solidFill>
                  <a:srgbClr val="007F86"/>
                </a:solidFill>
                <a:latin typeface="Microsoft JhengHei"/>
                <a:ea typeface="Microsoft JhengHei"/>
                <a:cs typeface="Microsoft JhengHei"/>
              </a:defRPr>
            </a:lvl4pPr>
            <a:lvl5pPr>
              <a:defRPr sz="1425" b="1">
                <a:solidFill>
                  <a:srgbClr val="007F86"/>
                </a:solidFill>
                <a:latin typeface="Microsoft JhengHei"/>
                <a:ea typeface="Microsoft JhengHei"/>
                <a:cs typeface="Microsoft JhengHei"/>
              </a:defRPr>
            </a:lvl5pPr>
            <a:lvl6pPr>
              <a:defRPr sz="1425" b="1">
                <a:solidFill>
                  <a:srgbClr val="007F86"/>
                </a:solidFill>
                <a:latin typeface="Microsoft JhengHei"/>
                <a:ea typeface="Microsoft JhengHei"/>
                <a:cs typeface="Microsoft JhengHei"/>
              </a:defRPr>
            </a:lvl6pPr>
            <a:lvl7pPr>
              <a:defRPr sz="1425" b="1">
                <a:solidFill>
                  <a:srgbClr val="007F86"/>
                </a:solidFill>
                <a:latin typeface="Microsoft JhengHei"/>
                <a:ea typeface="Microsoft JhengHei"/>
                <a:cs typeface="Microsoft JhengHei"/>
              </a:defRPr>
            </a:lvl7pPr>
            <a:lvl8pPr>
              <a:defRPr sz="1425" b="1">
                <a:solidFill>
                  <a:srgbClr val="007F86"/>
                </a:solidFill>
                <a:latin typeface="Microsoft JhengHei"/>
                <a:ea typeface="Microsoft JhengHei"/>
                <a:cs typeface="Microsoft JhengHei"/>
              </a:defRPr>
            </a:lvl8pPr>
            <a:lvl9pPr>
              <a:defRPr sz="1425" b="1">
                <a:solidFill>
                  <a:srgbClr val="007F86"/>
                </a:solidFill>
                <a:latin typeface="Microsoft JhengHei"/>
                <a:ea typeface="Microsoft JhengHei"/>
                <a:cs typeface="Microsoft JhengHei"/>
              </a:defRPr>
            </a:lvl9pPr>
          </a:lstStyle>
          <a:p>
            <a:pPr>
              <a:defRPr sz="1425" b="1">
                <a:solidFill>
                  <a:srgbClr val="007F86"/>
                </a:solidFill>
                <a:latin typeface="Microsoft JhengHei"/>
                <a:ea typeface="Microsoft JhengHei"/>
                <a:cs typeface="Microsoft JhengHei"/>
              </a:defRPr>
            </a:pPr>
            <a:r>
              <a:rPr sz="1425" b="1">
                <a:solidFill>
                  <a:srgbClr val="007F86"/>
                </a:solidFill>
                <a:latin typeface="Microsoft JhengHei"/>
                <a:ea typeface="Microsoft JhengHei"/>
                <a:cs typeface="Microsoft JhengHei"/>
              </a:rPr>
              <a:t>研讀與消化上午客戶會議相關資訊</a:t>
            </a:r>
          </a:p>
        </p:txBody>
      </p:sp>
      <p:sp>
        <p:nvSpPr>
          <p:cNvPr id="13" name="Rectangle 12">
            <a:extLst>
              <a:ext uri="{FF2B5EF4-FFF2-40B4-BE49-F238E27FC236}">
                <a16:creationId xmlns:a16="http://schemas.microsoft.com/office/drawing/2014/main" id="{76D3D750-524F-4D86-8DB0-2719A67E390C}"/>
              </a:ext>
            </a:extLst>
          </p:cNvPr>
          <p:cNvSpPr>
            <a:spLocks noGrp="1"/>
          </p:cNvSpPr>
          <p:nvPr/>
        </p:nvSpPr>
        <p:spPr>
          <a:xfrm>
            <a:off x="1123950" y="3676650"/>
            <a:ext cx="5791200" cy="952500"/>
          </a:xfrm>
          <a:prstGeom prst="rect">
            <a:avLst/>
          </a:prstGeom>
          <a:noFill/>
          <a:ln w="0">
            <a:noFill/>
          </a:ln>
        </p:spPr>
        <p:txBody>
          <a:bodyPr lIns="0" tIns="0" rIns="0" bIns="0" anchor="t"/>
          <a:lstStyle>
            <a:defPPr>
              <a:defRPr sz="1575" b="0">
                <a:solidFill>
                  <a:srgbClr val="20384B"/>
                </a:solidFill>
                <a:latin typeface="Calibri"/>
                <a:ea typeface="Calibri"/>
                <a:cs typeface="Calibri"/>
              </a:defRPr>
            </a:defPPr>
            <a:lvl1pPr>
              <a:defRPr sz="1575" b="0">
                <a:solidFill>
                  <a:srgbClr val="20384B"/>
                </a:solidFill>
                <a:latin typeface="Calibri"/>
                <a:ea typeface="Calibri"/>
                <a:cs typeface="Calibri"/>
              </a:defRPr>
            </a:lvl1pPr>
            <a:lvl2pPr>
              <a:defRPr sz="1575" b="0">
                <a:solidFill>
                  <a:srgbClr val="20384B"/>
                </a:solidFill>
                <a:latin typeface="Calibri"/>
                <a:ea typeface="Calibri"/>
                <a:cs typeface="Calibri"/>
              </a:defRPr>
            </a:lvl2pPr>
            <a:lvl3pPr>
              <a:defRPr sz="1575" b="0">
                <a:solidFill>
                  <a:srgbClr val="20384B"/>
                </a:solidFill>
                <a:latin typeface="Calibri"/>
                <a:ea typeface="Calibri"/>
                <a:cs typeface="Calibri"/>
              </a:defRPr>
            </a:lvl3pPr>
            <a:lvl4pPr>
              <a:defRPr sz="1575" b="0">
                <a:solidFill>
                  <a:srgbClr val="20384B"/>
                </a:solidFill>
                <a:latin typeface="Calibri"/>
                <a:ea typeface="Calibri"/>
                <a:cs typeface="Calibri"/>
              </a:defRPr>
            </a:lvl4pPr>
            <a:lvl5pPr>
              <a:defRPr sz="1575" b="0">
                <a:solidFill>
                  <a:srgbClr val="20384B"/>
                </a:solidFill>
                <a:latin typeface="Calibri"/>
                <a:ea typeface="Calibri"/>
                <a:cs typeface="Calibri"/>
              </a:defRPr>
            </a:lvl5pPr>
            <a:lvl6pPr>
              <a:defRPr sz="1575" b="0">
                <a:solidFill>
                  <a:srgbClr val="20384B"/>
                </a:solidFill>
                <a:latin typeface="Calibri"/>
                <a:ea typeface="Calibri"/>
                <a:cs typeface="Calibri"/>
              </a:defRPr>
            </a:lvl6pPr>
            <a:lvl7pPr>
              <a:defRPr sz="1575" b="0">
                <a:solidFill>
                  <a:srgbClr val="20384B"/>
                </a:solidFill>
                <a:latin typeface="Calibri"/>
                <a:ea typeface="Calibri"/>
                <a:cs typeface="Calibri"/>
              </a:defRPr>
            </a:lvl7pPr>
            <a:lvl8pPr>
              <a:defRPr sz="1575" b="0">
                <a:solidFill>
                  <a:srgbClr val="20384B"/>
                </a:solidFill>
                <a:latin typeface="Calibri"/>
                <a:ea typeface="Calibri"/>
                <a:cs typeface="Calibri"/>
              </a:defRPr>
            </a:lvl8pPr>
            <a:lvl9pPr>
              <a:defRPr sz="1575" b="0">
                <a:solidFill>
                  <a:srgbClr val="20384B"/>
                </a:solidFill>
                <a:latin typeface="Calibri"/>
                <a:ea typeface="Calibri"/>
                <a:cs typeface="Calibri"/>
              </a:defRPr>
            </a:lvl9pPr>
          </a:lstStyle>
          <a:p>
            <a:pPr>
              <a:defRPr sz="1575" b="0">
                <a:solidFill>
                  <a:srgbClr val="20384B"/>
                </a:solidFill>
                <a:latin typeface="Calibri"/>
                <a:ea typeface="Calibri"/>
                <a:cs typeface="Calibri"/>
              </a:defRPr>
            </a:pPr>
            <a:r>
              <a:rPr sz="1575" b="0">
                <a:solidFill>
                  <a:srgbClr val="20384B"/>
                </a:solidFill>
                <a:latin typeface="Calibri"/>
                <a:ea typeface="Calibri"/>
                <a:cs typeface="Calibri"/>
              </a:rPr>
              <a:t>Chiều nghiên cứu, rà soát lại các thông tin kỹ thuật, yêu cầu của khách hàng được ghi nhận trong cuộc họp sáng để chuẩn bị các phương án xử lý tiếp theo.</a:t>
            </a:r>
          </a:p>
        </p:txBody>
      </p:sp>
      <p:sp>
        <p:nvSpPr>
          <p:cNvPr id="14" name="Rectangle 13">
            <a:extLst>
              <a:ext uri="{FF2B5EF4-FFF2-40B4-BE49-F238E27FC236}">
                <a16:creationId xmlns:a16="http://schemas.microsoft.com/office/drawing/2014/main" id="{746D2BA9-8AC3-4386-961B-1AE3CEA98770}"/>
              </a:ext>
            </a:extLst>
          </p:cNvPr>
          <p:cNvSpPr>
            <a:spLocks noGrp="1"/>
          </p:cNvSpPr>
          <p:nvPr/>
        </p:nvSpPr>
        <p:spPr>
          <a:xfrm>
            <a:off x="7315200" y="3676650"/>
            <a:ext cx="4267200" cy="95250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下午研讀並整理上午客戶會議相關技術資訊與客戶反饋要點，研擬後續各項應對與對接措施。</a:t>
            </a:r>
          </a:p>
        </p:txBody>
      </p:sp>
      <p:sp>
        <p:nvSpPr>
          <p:cNvPr id="15" name="Rectangle 14">
            <a:extLst>
              <a:ext uri="{FF2B5EF4-FFF2-40B4-BE49-F238E27FC236}">
                <a16:creationId xmlns:a16="http://schemas.microsoft.com/office/drawing/2014/main" id="{5613D3D7-BCF1-41E5-90F6-C4EE4F3C7978}"/>
              </a:ext>
            </a:extLst>
          </p:cNvPr>
          <p:cNvSpPr>
            <a:spLocks noGrp="1"/>
          </p:cNvSpPr>
          <p:nvPr/>
        </p:nvSpPr>
        <p:spPr>
          <a:xfrm>
            <a:off x="571500" y="4714875"/>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03</a:t>
            </a:r>
          </a:p>
        </p:txBody>
      </p:sp>
      <p:sp>
        <p:nvSpPr>
          <p:cNvPr id="16" name="Rectangle 15">
            <a:extLst>
              <a:ext uri="{FF2B5EF4-FFF2-40B4-BE49-F238E27FC236}">
                <a16:creationId xmlns:a16="http://schemas.microsoft.com/office/drawing/2014/main" id="{97576021-C24A-4F78-836B-6EE838ABD8D8}"/>
              </a:ext>
            </a:extLst>
          </p:cNvPr>
          <p:cNvSpPr>
            <a:spLocks noGrp="1"/>
          </p:cNvSpPr>
          <p:nvPr/>
        </p:nvSpPr>
        <p:spPr>
          <a:xfrm>
            <a:off x="1123950" y="4714875"/>
            <a:ext cx="5791200" cy="514350"/>
          </a:xfrm>
          <a:prstGeom prst="rect">
            <a:avLst/>
          </a:prstGeom>
          <a:noFill/>
          <a:ln w="0">
            <a:noFill/>
          </a:ln>
        </p:spPr>
        <p:txBody>
          <a:bodyPr lIns="0" tIns="0" rIns="0" bIns="0" anchor="t"/>
          <a:lstStyle>
            <a:defPPr>
              <a:defRPr sz="1725" b="1">
                <a:solidFill>
                  <a:srgbClr val="12304A"/>
                </a:solidFill>
                <a:latin typeface="Calibri"/>
                <a:ea typeface="Calibri"/>
                <a:cs typeface="Calibri"/>
              </a:defRPr>
            </a:defPPr>
            <a:lvl1pPr>
              <a:defRPr sz="1725" b="1">
                <a:solidFill>
                  <a:srgbClr val="12304A"/>
                </a:solidFill>
                <a:latin typeface="Calibri"/>
                <a:ea typeface="Calibri"/>
                <a:cs typeface="Calibri"/>
              </a:defRPr>
            </a:lvl1pPr>
            <a:lvl2pPr>
              <a:defRPr sz="1725" b="1">
                <a:solidFill>
                  <a:srgbClr val="12304A"/>
                </a:solidFill>
                <a:latin typeface="Calibri"/>
                <a:ea typeface="Calibri"/>
                <a:cs typeface="Calibri"/>
              </a:defRPr>
            </a:lvl2pPr>
            <a:lvl3pPr>
              <a:defRPr sz="1725" b="1">
                <a:solidFill>
                  <a:srgbClr val="12304A"/>
                </a:solidFill>
                <a:latin typeface="Calibri"/>
                <a:ea typeface="Calibri"/>
                <a:cs typeface="Calibri"/>
              </a:defRPr>
            </a:lvl3pPr>
            <a:lvl4pPr>
              <a:defRPr sz="1725" b="1">
                <a:solidFill>
                  <a:srgbClr val="12304A"/>
                </a:solidFill>
                <a:latin typeface="Calibri"/>
                <a:ea typeface="Calibri"/>
                <a:cs typeface="Calibri"/>
              </a:defRPr>
            </a:lvl4pPr>
            <a:lvl5pPr>
              <a:defRPr sz="1725" b="1">
                <a:solidFill>
                  <a:srgbClr val="12304A"/>
                </a:solidFill>
                <a:latin typeface="Calibri"/>
                <a:ea typeface="Calibri"/>
                <a:cs typeface="Calibri"/>
              </a:defRPr>
            </a:lvl5pPr>
            <a:lvl6pPr>
              <a:defRPr sz="1725" b="1">
                <a:solidFill>
                  <a:srgbClr val="12304A"/>
                </a:solidFill>
                <a:latin typeface="Calibri"/>
                <a:ea typeface="Calibri"/>
                <a:cs typeface="Calibri"/>
              </a:defRPr>
            </a:lvl6pPr>
            <a:lvl7pPr>
              <a:defRPr sz="1725" b="1">
                <a:solidFill>
                  <a:srgbClr val="12304A"/>
                </a:solidFill>
                <a:latin typeface="Calibri"/>
                <a:ea typeface="Calibri"/>
                <a:cs typeface="Calibri"/>
              </a:defRPr>
            </a:lvl7pPr>
            <a:lvl8pPr>
              <a:defRPr sz="1725" b="1">
                <a:solidFill>
                  <a:srgbClr val="12304A"/>
                </a:solidFill>
                <a:latin typeface="Calibri"/>
                <a:ea typeface="Calibri"/>
                <a:cs typeface="Calibri"/>
              </a:defRPr>
            </a:lvl8pPr>
            <a:lvl9pPr>
              <a:defRPr sz="1725" b="1">
                <a:solidFill>
                  <a:srgbClr val="12304A"/>
                </a:solidFill>
                <a:latin typeface="Calibri"/>
                <a:ea typeface="Calibri"/>
                <a:cs typeface="Calibri"/>
              </a:defRPr>
            </a:lvl9pPr>
          </a:lstStyle>
          <a:p>
            <a:pPr>
              <a:defRPr sz="1725" b="1">
                <a:solidFill>
                  <a:srgbClr val="12304A"/>
                </a:solidFill>
                <a:latin typeface="Calibri"/>
                <a:ea typeface="Calibri"/>
                <a:cs typeface="Calibri"/>
              </a:defRPr>
            </a:pPr>
            <a:r>
              <a:rPr sz="1725" b="1">
                <a:solidFill>
                  <a:srgbClr val="12304A"/>
                </a:solidFill>
                <a:latin typeface="Calibri"/>
                <a:ea typeface="Calibri"/>
                <a:cs typeface="Calibri"/>
              </a:rPr>
              <a:t>Tiếp nhận bàn giao công việc từ anh Sung</a:t>
            </a:r>
          </a:p>
        </p:txBody>
      </p:sp>
      <p:sp>
        <p:nvSpPr>
          <p:cNvPr id="17" name="Rectangle 16">
            <a:extLst>
              <a:ext uri="{FF2B5EF4-FFF2-40B4-BE49-F238E27FC236}">
                <a16:creationId xmlns:a16="http://schemas.microsoft.com/office/drawing/2014/main" id="{9DC3E2DB-451A-4C1B-8414-27202449EDDB}"/>
              </a:ext>
            </a:extLst>
          </p:cNvPr>
          <p:cNvSpPr>
            <a:spLocks noGrp="1"/>
          </p:cNvSpPr>
          <p:nvPr/>
        </p:nvSpPr>
        <p:spPr>
          <a:xfrm>
            <a:off x="7315200" y="4714875"/>
            <a:ext cx="4267200" cy="571500"/>
          </a:xfrm>
          <a:prstGeom prst="rect">
            <a:avLst/>
          </a:prstGeom>
          <a:noFill/>
          <a:ln w="0">
            <a:noFill/>
          </a:ln>
        </p:spPr>
        <p:txBody>
          <a:bodyPr lIns="0" tIns="0" rIns="0" bIns="0" anchor="t"/>
          <a:lstStyle>
            <a:defPPr>
              <a:defRPr sz="1425" b="1">
                <a:solidFill>
                  <a:srgbClr val="007F86"/>
                </a:solidFill>
                <a:latin typeface="Microsoft JhengHei"/>
                <a:ea typeface="Microsoft JhengHei"/>
                <a:cs typeface="Microsoft JhengHei"/>
              </a:defRPr>
            </a:defPPr>
            <a:lvl1pPr>
              <a:defRPr sz="1425" b="1">
                <a:solidFill>
                  <a:srgbClr val="007F86"/>
                </a:solidFill>
                <a:latin typeface="Microsoft JhengHei"/>
                <a:ea typeface="Microsoft JhengHei"/>
                <a:cs typeface="Microsoft JhengHei"/>
              </a:defRPr>
            </a:lvl1pPr>
            <a:lvl2pPr>
              <a:defRPr sz="1425" b="1">
                <a:solidFill>
                  <a:srgbClr val="007F86"/>
                </a:solidFill>
                <a:latin typeface="Microsoft JhengHei"/>
                <a:ea typeface="Microsoft JhengHei"/>
                <a:cs typeface="Microsoft JhengHei"/>
              </a:defRPr>
            </a:lvl2pPr>
            <a:lvl3pPr>
              <a:defRPr sz="1425" b="1">
                <a:solidFill>
                  <a:srgbClr val="007F86"/>
                </a:solidFill>
                <a:latin typeface="Microsoft JhengHei"/>
                <a:ea typeface="Microsoft JhengHei"/>
                <a:cs typeface="Microsoft JhengHei"/>
              </a:defRPr>
            </a:lvl3pPr>
            <a:lvl4pPr>
              <a:defRPr sz="1425" b="1">
                <a:solidFill>
                  <a:srgbClr val="007F86"/>
                </a:solidFill>
                <a:latin typeface="Microsoft JhengHei"/>
                <a:ea typeface="Microsoft JhengHei"/>
                <a:cs typeface="Microsoft JhengHei"/>
              </a:defRPr>
            </a:lvl4pPr>
            <a:lvl5pPr>
              <a:defRPr sz="1425" b="1">
                <a:solidFill>
                  <a:srgbClr val="007F86"/>
                </a:solidFill>
                <a:latin typeface="Microsoft JhengHei"/>
                <a:ea typeface="Microsoft JhengHei"/>
                <a:cs typeface="Microsoft JhengHei"/>
              </a:defRPr>
            </a:lvl5pPr>
            <a:lvl6pPr>
              <a:defRPr sz="1425" b="1">
                <a:solidFill>
                  <a:srgbClr val="007F86"/>
                </a:solidFill>
                <a:latin typeface="Microsoft JhengHei"/>
                <a:ea typeface="Microsoft JhengHei"/>
                <a:cs typeface="Microsoft JhengHei"/>
              </a:defRPr>
            </a:lvl6pPr>
            <a:lvl7pPr>
              <a:defRPr sz="1425" b="1">
                <a:solidFill>
                  <a:srgbClr val="007F86"/>
                </a:solidFill>
                <a:latin typeface="Microsoft JhengHei"/>
                <a:ea typeface="Microsoft JhengHei"/>
                <a:cs typeface="Microsoft JhengHei"/>
              </a:defRPr>
            </a:lvl7pPr>
            <a:lvl8pPr>
              <a:defRPr sz="1425" b="1">
                <a:solidFill>
                  <a:srgbClr val="007F86"/>
                </a:solidFill>
                <a:latin typeface="Microsoft JhengHei"/>
                <a:ea typeface="Microsoft JhengHei"/>
                <a:cs typeface="Microsoft JhengHei"/>
              </a:defRPr>
            </a:lvl8pPr>
            <a:lvl9pPr>
              <a:defRPr sz="1425" b="1">
                <a:solidFill>
                  <a:srgbClr val="007F86"/>
                </a:solidFill>
                <a:latin typeface="Microsoft JhengHei"/>
                <a:ea typeface="Microsoft JhengHei"/>
                <a:cs typeface="Microsoft JhengHei"/>
              </a:defRPr>
            </a:lvl9pPr>
          </a:lstStyle>
          <a:p>
            <a:pPr>
              <a:defRPr sz="1425" b="1">
                <a:solidFill>
                  <a:srgbClr val="007F86"/>
                </a:solidFill>
                <a:latin typeface="Microsoft JhengHei"/>
                <a:ea typeface="Microsoft JhengHei"/>
                <a:cs typeface="Microsoft JhengHei"/>
              </a:defRPr>
            </a:pPr>
            <a:r>
              <a:rPr sz="1425" b="1">
                <a:solidFill>
                  <a:srgbClr val="007F86"/>
                </a:solidFill>
                <a:latin typeface="Microsoft JhengHei"/>
                <a:ea typeface="Microsoft JhengHei"/>
                <a:cs typeface="Microsoft JhengHei"/>
              </a:rPr>
              <a:t>接收 Sung 主管交接專案工作</a:t>
            </a:r>
          </a:p>
        </p:txBody>
      </p:sp>
      <p:sp>
        <p:nvSpPr>
          <p:cNvPr id="18" name="Rectangle 17">
            <a:extLst>
              <a:ext uri="{FF2B5EF4-FFF2-40B4-BE49-F238E27FC236}">
                <a16:creationId xmlns:a16="http://schemas.microsoft.com/office/drawing/2014/main" id="{F0D22A7F-AF0D-4AA0-831D-1EC7475CF352}"/>
              </a:ext>
            </a:extLst>
          </p:cNvPr>
          <p:cNvSpPr>
            <a:spLocks noGrp="1"/>
          </p:cNvSpPr>
          <p:nvPr/>
        </p:nvSpPr>
        <p:spPr>
          <a:xfrm>
            <a:off x="1123950" y="5286375"/>
            <a:ext cx="5791200" cy="952500"/>
          </a:xfrm>
          <a:prstGeom prst="rect">
            <a:avLst/>
          </a:prstGeom>
          <a:noFill/>
          <a:ln w="0">
            <a:noFill/>
          </a:ln>
        </p:spPr>
        <p:txBody>
          <a:bodyPr lIns="0" tIns="0" rIns="0" bIns="0" anchor="t"/>
          <a:lstStyle>
            <a:defPPr>
              <a:defRPr sz="1575" b="0">
                <a:solidFill>
                  <a:srgbClr val="20384B"/>
                </a:solidFill>
                <a:latin typeface="Calibri"/>
                <a:ea typeface="Calibri"/>
                <a:cs typeface="Calibri"/>
              </a:defRPr>
            </a:defPPr>
            <a:lvl1pPr>
              <a:defRPr sz="1575" b="0">
                <a:solidFill>
                  <a:srgbClr val="20384B"/>
                </a:solidFill>
                <a:latin typeface="Calibri"/>
                <a:ea typeface="Calibri"/>
                <a:cs typeface="Calibri"/>
              </a:defRPr>
            </a:lvl1pPr>
            <a:lvl2pPr>
              <a:defRPr sz="1575" b="0">
                <a:solidFill>
                  <a:srgbClr val="20384B"/>
                </a:solidFill>
                <a:latin typeface="Calibri"/>
                <a:ea typeface="Calibri"/>
                <a:cs typeface="Calibri"/>
              </a:defRPr>
            </a:lvl2pPr>
            <a:lvl3pPr>
              <a:defRPr sz="1575" b="0">
                <a:solidFill>
                  <a:srgbClr val="20384B"/>
                </a:solidFill>
                <a:latin typeface="Calibri"/>
                <a:ea typeface="Calibri"/>
                <a:cs typeface="Calibri"/>
              </a:defRPr>
            </a:lvl3pPr>
            <a:lvl4pPr>
              <a:defRPr sz="1575" b="0">
                <a:solidFill>
                  <a:srgbClr val="20384B"/>
                </a:solidFill>
                <a:latin typeface="Calibri"/>
                <a:ea typeface="Calibri"/>
                <a:cs typeface="Calibri"/>
              </a:defRPr>
            </a:lvl4pPr>
            <a:lvl5pPr>
              <a:defRPr sz="1575" b="0">
                <a:solidFill>
                  <a:srgbClr val="20384B"/>
                </a:solidFill>
                <a:latin typeface="Calibri"/>
                <a:ea typeface="Calibri"/>
                <a:cs typeface="Calibri"/>
              </a:defRPr>
            </a:lvl5pPr>
            <a:lvl6pPr>
              <a:defRPr sz="1575" b="0">
                <a:solidFill>
                  <a:srgbClr val="20384B"/>
                </a:solidFill>
                <a:latin typeface="Calibri"/>
                <a:ea typeface="Calibri"/>
                <a:cs typeface="Calibri"/>
              </a:defRPr>
            </a:lvl6pPr>
            <a:lvl7pPr>
              <a:defRPr sz="1575" b="0">
                <a:solidFill>
                  <a:srgbClr val="20384B"/>
                </a:solidFill>
                <a:latin typeface="Calibri"/>
                <a:ea typeface="Calibri"/>
                <a:cs typeface="Calibri"/>
              </a:defRPr>
            </a:lvl7pPr>
            <a:lvl8pPr>
              <a:defRPr sz="1575" b="0">
                <a:solidFill>
                  <a:srgbClr val="20384B"/>
                </a:solidFill>
                <a:latin typeface="Calibri"/>
                <a:ea typeface="Calibri"/>
                <a:cs typeface="Calibri"/>
              </a:defRPr>
            </a:lvl8pPr>
            <a:lvl9pPr>
              <a:defRPr sz="1575" b="0">
                <a:solidFill>
                  <a:srgbClr val="20384B"/>
                </a:solidFill>
                <a:latin typeface="Calibri"/>
                <a:ea typeface="Calibri"/>
                <a:cs typeface="Calibri"/>
              </a:defRPr>
            </a:lvl9pPr>
          </a:lstStyle>
          <a:p>
            <a:pPr>
              <a:defRPr sz="1575" b="0">
                <a:solidFill>
                  <a:srgbClr val="20384B"/>
                </a:solidFill>
                <a:latin typeface="Calibri"/>
                <a:ea typeface="Calibri"/>
                <a:cs typeface="Calibri"/>
              </a:defRPr>
            </a:pPr>
            <a:r>
              <a:rPr sz="1575" b="0">
                <a:solidFill>
                  <a:srgbClr val="20384B"/>
                </a:solidFill>
                <a:latin typeface="Calibri"/>
                <a:ea typeface="Calibri"/>
                <a:cs typeface="Calibri"/>
              </a:rPr>
              <a:t>Họp trao đổi và tiếp nhận bàn giao toàn diện các đầu việc dự án, hồ sơ tài liệu và các nội dung công việc quan trọng cần tiếp tục theo dõi từ anh Sung.</a:t>
            </a:r>
          </a:p>
        </p:txBody>
      </p:sp>
      <p:sp>
        <p:nvSpPr>
          <p:cNvPr id="19" name="Rectangle 18">
            <a:extLst>
              <a:ext uri="{FF2B5EF4-FFF2-40B4-BE49-F238E27FC236}">
                <a16:creationId xmlns:a16="http://schemas.microsoft.com/office/drawing/2014/main" id="{B4532B0D-8D31-4E76-B95D-CD9FC232FD0D}"/>
              </a:ext>
            </a:extLst>
          </p:cNvPr>
          <p:cNvSpPr>
            <a:spLocks noGrp="1"/>
          </p:cNvSpPr>
          <p:nvPr/>
        </p:nvSpPr>
        <p:spPr>
          <a:xfrm>
            <a:off x="7315200" y="5286375"/>
            <a:ext cx="4267200" cy="95250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與 Sung 主管對接，全面接收各項專案工作任務、業務檔案與後續需持續推進之重點工作。</a:t>
            </a:r>
          </a:p>
        </p:txBody>
      </p:sp>
    </p:spTree>
    <p:extLst>
      <p:ext uri="{BB962C8B-B14F-4D97-AF65-F5344CB8AC3E}">
        <p14:creationId xmlns:p14="http://schemas.microsoft.com/office/powerpoint/2010/main" val="1835477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54D5E68-DC9D-4F0D-943F-16B49F9B3CE6}"/>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Kết quả công việc  ·  29.10</a:t>
            </a:r>
          </a:p>
        </p:txBody>
      </p:sp>
      <p:sp>
        <p:nvSpPr>
          <p:cNvPr id="2" name="Rectangle 1">
            <a:extLst>
              <a:ext uri="{FF2B5EF4-FFF2-40B4-BE49-F238E27FC236}">
                <a16:creationId xmlns:a16="http://schemas.microsoft.com/office/drawing/2014/main" id="{08BC1DB9-7E71-4FEA-A8A2-86EB1152EABB}"/>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工作結果記錄  /  Thứ Năm / 星期四</a:t>
            </a:r>
          </a:p>
        </p:txBody>
      </p:sp>
      <p:sp>
        <p:nvSpPr>
          <p:cNvPr id="3" name="Rectangle 2">
            <a:extLst>
              <a:ext uri="{FF2B5EF4-FFF2-40B4-BE49-F238E27FC236}">
                <a16:creationId xmlns:a16="http://schemas.microsoft.com/office/drawing/2014/main" id="{427802DF-1A84-4210-A14D-AFFD56EC1120}"/>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CF7752D9-CC1E-4AD7-85D3-F16A591DB71B}"/>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06 / 11</a:t>
            </a:r>
          </a:p>
        </p:txBody>
      </p:sp>
      <p:sp>
        <p:nvSpPr>
          <p:cNvPr id="5" name="Rectangle 4">
            <a:extLst>
              <a:ext uri="{FF2B5EF4-FFF2-40B4-BE49-F238E27FC236}">
                <a16:creationId xmlns:a16="http://schemas.microsoft.com/office/drawing/2014/main" id="{071E9DC3-1DF9-48E6-B309-C01BD2E53B8B}"/>
              </a:ext>
            </a:extLst>
          </p:cNvPr>
          <p:cNvSpPr>
            <a:spLocks noGrp="1"/>
          </p:cNvSpPr>
          <p:nvPr/>
        </p:nvSpPr>
        <p:spPr>
          <a:xfrm>
            <a:off x="571500" y="1495425"/>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77D595A9-6C10-49BA-99F8-235A74B731B5}"/>
              </a:ext>
            </a:extLst>
          </p:cNvPr>
          <p:cNvSpPr>
            <a:spLocks noGrp="1"/>
          </p:cNvSpPr>
          <p:nvPr/>
        </p:nvSpPr>
        <p:spPr>
          <a:xfrm>
            <a:off x="1123950" y="1495425"/>
            <a:ext cx="5791200" cy="609600"/>
          </a:xfrm>
          <a:prstGeom prst="rect">
            <a:avLst/>
          </a:prstGeom>
          <a:noFill/>
          <a:ln w="0">
            <a:noFill/>
          </a:ln>
        </p:spPr>
        <p:txBody>
          <a:bodyPr lIns="0" tIns="0" rIns="0" bIns="0" anchor="t"/>
          <a:lstStyle>
            <a:defPPr>
              <a:defRPr sz="2025" b="1">
                <a:solidFill>
                  <a:srgbClr val="12304A"/>
                </a:solidFill>
                <a:latin typeface="Calibri"/>
                <a:ea typeface="Calibri"/>
                <a:cs typeface="Calibri"/>
              </a:defRPr>
            </a:defPPr>
            <a:lvl1pPr>
              <a:defRPr sz="2025" b="1">
                <a:solidFill>
                  <a:srgbClr val="12304A"/>
                </a:solidFill>
                <a:latin typeface="Calibri"/>
                <a:ea typeface="Calibri"/>
                <a:cs typeface="Calibri"/>
              </a:defRPr>
            </a:lvl1pPr>
            <a:lvl2pPr>
              <a:defRPr sz="2025" b="1">
                <a:solidFill>
                  <a:srgbClr val="12304A"/>
                </a:solidFill>
                <a:latin typeface="Calibri"/>
                <a:ea typeface="Calibri"/>
                <a:cs typeface="Calibri"/>
              </a:defRPr>
            </a:lvl2pPr>
            <a:lvl3pPr>
              <a:defRPr sz="2025" b="1">
                <a:solidFill>
                  <a:srgbClr val="12304A"/>
                </a:solidFill>
                <a:latin typeface="Calibri"/>
                <a:ea typeface="Calibri"/>
                <a:cs typeface="Calibri"/>
              </a:defRPr>
            </a:lvl3pPr>
            <a:lvl4pPr>
              <a:defRPr sz="2025" b="1">
                <a:solidFill>
                  <a:srgbClr val="12304A"/>
                </a:solidFill>
                <a:latin typeface="Calibri"/>
                <a:ea typeface="Calibri"/>
                <a:cs typeface="Calibri"/>
              </a:defRPr>
            </a:lvl4pPr>
            <a:lvl5pPr>
              <a:defRPr sz="2025" b="1">
                <a:solidFill>
                  <a:srgbClr val="12304A"/>
                </a:solidFill>
                <a:latin typeface="Calibri"/>
                <a:ea typeface="Calibri"/>
                <a:cs typeface="Calibri"/>
              </a:defRPr>
            </a:lvl5pPr>
            <a:lvl6pPr>
              <a:defRPr sz="2025" b="1">
                <a:solidFill>
                  <a:srgbClr val="12304A"/>
                </a:solidFill>
                <a:latin typeface="Calibri"/>
                <a:ea typeface="Calibri"/>
                <a:cs typeface="Calibri"/>
              </a:defRPr>
            </a:lvl6pPr>
            <a:lvl7pPr>
              <a:defRPr sz="2025" b="1">
                <a:solidFill>
                  <a:srgbClr val="12304A"/>
                </a:solidFill>
                <a:latin typeface="Calibri"/>
                <a:ea typeface="Calibri"/>
                <a:cs typeface="Calibri"/>
              </a:defRPr>
            </a:lvl7pPr>
            <a:lvl8pPr>
              <a:defRPr sz="2025" b="1">
                <a:solidFill>
                  <a:srgbClr val="12304A"/>
                </a:solidFill>
                <a:latin typeface="Calibri"/>
                <a:ea typeface="Calibri"/>
                <a:cs typeface="Calibri"/>
              </a:defRPr>
            </a:lvl8pPr>
            <a:lvl9pPr>
              <a:defRPr sz="2025" b="1">
                <a:solidFill>
                  <a:srgbClr val="12304A"/>
                </a:solidFill>
                <a:latin typeface="Calibri"/>
                <a:ea typeface="Calibri"/>
                <a:cs typeface="Calibri"/>
              </a:defRPr>
            </a:lvl9pPr>
          </a:lstStyle>
          <a:p>
            <a:pPr>
              <a:defRPr sz="2025" b="1">
                <a:solidFill>
                  <a:srgbClr val="12304A"/>
                </a:solidFill>
                <a:latin typeface="Calibri"/>
                <a:ea typeface="Calibri"/>
                <a:cs typeface="Calibri"/>
              </a:defRPr>
            </a:pPr>
            <a:r>
              <a:rPr sz="2025" b="1">
                <a:solidFill>
                  <a:srgbClr val="12304A"/>
                </a:solidFill>
                <a:latin typeface="Calibri"/>
                <a:ea typeface="Calibri"/>
                <a:cs typeface="Calibri"/>
              </a:rPr>
              <a:t>Nghiên cứu và phân loại các công việc được bàn giao</a:t>
            </a:r>
          </a:p>
        </p:txBody>
      </p:sp>
      <p:sp>
        <p:nvSpPr>
          <p:cNvPr id="7" name="Rectangle 6">
            <a:extLst>
              <a:ext uri="{FF2B5EF4-FFF2-40B4-BE49-F238E27FC236}">
                <a16:creationId xmlns:a16="http://schemas.microsoft.com/office/drawing/2014/main" id="{53AE3DEA-E324-4128-810D-A0562C251B8B}"/>
              </a:ext>
            </a:extLst>
          </p:cNvPr>
          <p:cNvSpPr>
            <a:spLocks noGrp="1"/>
          </p:cNvSpPr>
          <p:nvPr/>
        </p:nvSpPr>
        <p:spPr>
          <a:xfrm>
            <a:off x="7315200" y="1495425"/>
            <a:ext cx="4267200" cy="571500"/>
          </a:xfrm>
          <a:prstGeom prst="rect">
            <a:avLst/>
          </a:prstGeom>
          <a:noFill/>
          <a:ln w="0">
            <a:noFill/>
          </a:ln>
        </p:spPr>
        <p:txBody>
          <a:bodyPr lIns="0" tIns="0" rIns="0" bIns="0" anchor="t"/>
          <a:lstStyle>
            <a:defPPr>
              <a:defRPr sz="1725" b="1">
                <a:solidFill>
                  <a:srgbClr val="007F86"/>
                </a:solidFill>
                <a:latin typeface="Microsoft JhengHei"/>
                <a:ea typeface="Microsoft JhengHei"/>
                <a:cs typeface="Microsoft JhengHei"/>
              </a:defRPr>
            </a:defPPr>
            <a:lvl1pPr>
              <a:defRPr sz="1725" b="1">
                <a:solidFill>
                  <a:srgbClr val="007F86"/>
                </a:solidFill>
                <a:latin typeface="Microsoft JhengHei"/>
                <a:ea typeface="Microsoft JhengHei"/>
                <a:cs typeface="Microsoft JhengHei"/>
              </a:defRPr>
            </a:lvl1pPr>
            <a:lvl2pPr>
              <a:defRPr sz="1725" b="1">
                <a:solidFill>
                  <a:srgbClr val="007F86"/>
                </a:solidFill>
                <a:latin typeface="Microsoft JhengHei"/>
                <a:ea typeface="Microsoft JhengHei"/>
                <a:cs typeface="Microsoft JhengHei"/>
              </a:defRPr>
            </a:lvl2pPr>
            <a:lvl3pPr>
              <a:defRPr sz="1725" b="1">
                <a:solidFill>
                  <a:srgbClr val="007F86"/>
                </a:solidFill>
                <a:latin typeface="Microsoft JhengHei"/>
                <a:ea typeface="Microsoft JhengHei"/>
                <a:cs typeface="Microsoft JhengHei"/>
              </a:defRPr>
            </a:lvl3pPr>
            <a:lvl4pPr>
              <a:defRPr sz="1725" b="1">
                <a:solidFill>
                  <a:srgbClr val="007F86"/>
                </a:solidFill>
                <a:latin typeface="Microsoft JhengHei"/>
                <a:ea typeface="Microsoft JhengHei"/>
                <a:cs typeface="Microsoft JhengHei"/>
              </a:defRPr>
            </a:lvl4pPr>
            <a:lvl5pPr>
              <a:defRPr sz="1725" b="1">
                <a:solidFill>
                  <a:srgbClr val="007F86"/>
                </a:solidFill>
                <a:latin typeface="Microsoft JhengHei"/>
                <a:ea typeface="Microsoft JhengHei"/>
                <a:cs typeface="Microsoft JhengHei"/>
              </a:defRPr>
            </a:lvl5pPr>
            <a:lvl6pPr>
              <a:defRPr sz="1725" b="1">
                <a:solidFill>
                  <a:srgbClr val="007F86"/>
                </a:solidFill>
                <a:latin typeface="Microsoft JhengHei"/>
                <a:ea typeface="Microsoft JhengHei"/>
                <a:cs typeface="Microsoft JhengHei"/>
              </a:defRPr>
            </a:lvl6pPr>
            <a:lvl7pPr>
              <a:defRPr sz="1725" b="1">
                <a:solidFill>
                  <a:srgbClr val="007F86"/>
                </a:solidFill>
                <a:latin typeface="Microsoft JhengHei"/>
                <a:ea typeface="Microsoft JhengHei"/>
                <a:cs typeface="Microsoft JhengHei"/>
              </a:defRPr>
            </a:lvl7pPr>
            <a:lvl8pPr>
              <a:defRPr sz="1725" b="1">
                <a:solidFill>
                  <a:srgbClr val="007F86"/>
                </a:solidFill>
                <a:latin typeface="Microsoft JhengHei"/>
                <a:ea typeface="Microsoft JhengHei"/>
                <a:cs typeface="Microsoft JhengHei"/>
              </a:defRPr>
            </a:lvl8pPr>
            <a:lvl9pPr>
              <a:defRPr sz="1725" b="1">
                <a:solidFill>
                  <a:srgbClr val="007F86"/>
                </a:solidFill>
                <a:latin typeface="Microsoft JhengHei"/>
                <a:ea typeface="Microsoft JhengHei"/>
                <a:cs typeface="Microsoft JhengHei"/>
              </a:defRPr>
            </a:lvl9pPr>
          </a:lstStyle>
          <a:p>
            <a:pPr>
              <a:defRPr sz="1725" b="1">
                <a:solidFill>
                  <a:srgbClr val="007F86"/>
                </a:solidFill>
                <a:latin typeface="Microsoft JhengHei"/>
                <a:ea typeface="Microsoft JhengHei"/>
                <a:cs typeface="Microsoft JhengHei"/>
              </a:defRPr>
            </a:pPr>
            <a:r>
              <a:rPr sz="1725" b="1">
                <a:solidFill>
                  <a:srgbClr val="007F86"/>
                </a:solidFill>
                <a:latin typeface="Microsoft JhengHei"/>
                <a:ea typeface="Microsoft JhengHei"/>
                <a:cs typeface="Microsoft JhengHei"/>
              </a:rPr>
              <a:t>梳理與研讀交接之各項專案工作</a:t>
            </a:r>
          </a:p>
        </p:txBody>
      </p:sp>
      <p:sp>
        <p:nvSpPr>
          <p:cNvPr id="8" name="Rectangle 7">
            <a:extLst>
              <a:ext uri="{FF2B5EF4-FFF2-40B4-BE49-F238E27FC236}">
                <a16:creationId xmlns:a16="http://schemas.microsoft.com/office/drawing/2014/main" id="{CA25FB00-ACA1-4FB8-998D-D7052CDFFA35}"/>
              </a:ext>
            </a:extLst>
          </p:cNvPr>
          <p:cNvSpPr>
            <a:spLocks noGrp="1"/>
          </p:cNvSpPr>
          <p:nvPr/>
        </p:nvSpPr>
        <p:spPr>
          <a:xfrm>
            <a:off x="1123950" y="2247900"/>
            <a:ext cx="5791200" cy="137160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Sáng rà soát chi tiết toàn bộ hồ sơ, hợp đồng và các danh mục công việc đã được anh Sung bàn giao; phân loại mức độ ưu tiên và lập kế hoạch thực hiện.</a:t>
            </a:r>
          </a:p>
        </p:txBody>
      </p:sp>
      <p:sp>
        <p:nvSpPr>
          <p:cNvPr id="9" name="Rectangle 8">
            <a:extLst>
              <a:ext uri="{FF2B5EF4-FFF2-40B4-BE49-F238E27FC236}">
                <a16:creationId xmlns:a16="http://schemas.microsoft.com/office/drawing/2014/main" id="{5FB5622D-A8ED-4A6E-98F9-DEA27C63768C}"/>
              </a:ext>
            </a:extLst>
          </p:cNvPr>
          <p:cNvSpPr>
            <a:spLocks noGrp="1"/>
          </p:cNvSpPr>
          <p:nvPr/>
        </p:nvSpPr>
        <p:spPr>
          <a:xfrm>
            <a:off x="7315200" y="2247900"/>
            <a:ext cx="4267200" cy="1371600"/>
          </a:xfrm>
          <a:prstGeom prst="rect">
            <a:avLst/>
          </a:prstGeom>
          <a:noFill/>
          <a:ln w="0">
            <a:noFill/>
          </a:ln>
        </p:spPr>
        <p:txBody>
          <a:bodyPr lIns="0" tIns="0" rIns="0" bIns="0" anchor="t"/>
          <a:lstStyle>
            <a:defPPr>
              <a:defRPr sz="1650" b="0">
                <a:solidFill>
                  <a:srgbClr val="526777"/>
                </a:solidFill>
                <a:latin typeface="Microsoft JhengHei"/>
                <a:ea typeface="Microsoft JhengHei"/>
                <a:cs typeface="Microsoft JhengHei"/>
              </a:defRPr>
            </a:defPPr>
            <a:lvl1pPr>
              <a:defRPr sz="1650" b="0">
                <a:solidFill>
                  <a:srgbClr val="526777"/>
                </a:solidFill>
                <a:latin typeface="Microsoft JhengHei"/>
                <a:ea typeface="Microsoft JhengHei"/>
                <a:cs typeface="Microsoft JhengHei"/>
              </a:defRPr>
            </a:lvl1pPr>
            <a:lvl2pPr>
              <a:defRPr sz="1650" b="0">
                <a:solidFill>
                  <a:srgbClr val="526777"/>
                </a:solidFill>
                <a:latin typeface="Microsoft JhengHei"/>
                <a:ea typeface="Microsoft JhengHei"/>
                <a:cs typeface="Microsoft JhengHei"/>
              </a:defRPr>
            </a:lvl2pPr>
            <a:lvl3pPr>
              <a:defRPr sz="1650" b="0">
                <a:solidFill>
                  <a:srgbClr val="526777"/>
                </a:solidFill>
                <a:latin typeface="Microsoft JhengHei"/>
                <a:ea typeface="Microsoft JhengHei"/>
                <a:cs typeface="Microsoft JhengHei"/>
              </a:defRPr>
            </a:lvl3pPr>
            <a:lvl4pPr>
              <a:defRPr sz="1650" b="0">
                <a:solidFill>
                  <a:srgbClr val="526777"/>
                </a:solidFill>
                <a:latin typeface="Microsoft JhengHei"/>
                <a:ea typeface="Microsoft JhengHei"/>
                <a:cs typeface="Microsoft JhengHei"/>
              </a:defRPr>
            </a:lvl4pPr>
            <a:lvl5pPr>
              <a:defRPr sz="1650" b="0">
                <a:solidFill>
                  <a:srgbClr val="526777"/>
                </a:solidFill>
                <a:latin typeface="Microsoft JhengHei"/>
                <a:ea typeface="Microsoft JhengHei"/>
                <a:cs typeface="Microsoft JhengHei"/>
              </a:defRPr>
            </a:lvl5pPr>
            <a:lvl6pPr>
              <a:defRPr sz="1650" b="0">
                <a:solidFill>
                  <a:srgbClr val="526777"/>
                </a:solidFill>
                <a:latin typeface="Microsoft JhengHei"/>
                <a:ea typeface="Microsoft JhengHei"/>
                <a:cs typeface="Microsoft JhengHei"/>
              </a:defRPr>
            </a:lvl6pPr>
            <a:lvl7pPr>
              <a:defRPr sz="1650" b="0">
                <a:solidFill>
                  <a:srgbClr val="526777"/>
                </a:solidFill>
                <a:latin typeface="Microsoft JhengHei"/>
                <a:ea typeface="Microsoft JhengHei"/>
                <a:cs typeface="Microsoft JhengHei"/>
              </a:defRPr>
            </a:lvl7pPr>
            <a:lvl8pPr>
              <a:defRPr sz="1650" b="0">
                <a:solidFill>
                  <a:srgbClr val="526777"/>
                </a:solidFill>
                <a:latin typeface="Microsoft JhengHei"/>
                <a:ea typeface="Microsoft JhengHei"/>
                <a:cs typeface="Microsoft JhengHei"/>
              </a:defRPr>
            </a:lvl8pPr>
            <a:lvl9pPr>
              <a:defRPr sz="1650" b="0">
                <a:solidFill>
                  <a:srgbClr val="526777"/>
                </a:solidFill>
                <a:latin typeface="Microsoft JhengHei"/>
                <a:ea typeface="Microsoft JhengHei"/>
                <a:cs typeface="Microsoft JhengHei"/>
              </a:defRPr>
            </a:lvl9pPr>
          </a:lstStyle>
          <a:p>
            <a:pPr>
              <a:defRPr sz="1650" b="0">
                <a:solidFill>
                  <a:srgbClr val="526777"/>
                </a:solidFill>
                <a:latin typeface="Microsoft JhengHei"/>
                <a:ea typeface="Microsoft JhengHei"/>
                <a:cs typeface="Microsoft JhengHei"/>
              </a:defRPr>
            </a:pPr>
            <a:r>
              <a:rPr sz="1650" b="0">
                <a:solidFill>
                  <a:srgbClr val="526777"/>
                </a:solidFill>
                <a:latin typeface="Microsoft JhengHei"/>
                <a:ea typeface="Microsoft JhengHei"/>
                <a:cs typeface="Microsoft JhengHei"/>
              </a:rPr>
              <a:t>上午詳細研讀並分類 Sung 主管交接之各項合約文件與工作清單，釐清優先順序並排定推進時程。</a:t>
            </a:r>
          </a:p>
        </p:txBody>
      </p:sp>
      <p:sp>
        <p:nvSpPr>
          <p:cNvPr id="10" name="Rectangle 9">
            <a:extLst>
              <a:ext uri="{FF2B5EF4-FFF2-40B4-BE49-F238E27FC236}">
                <a16:creationId xmlns:a16="http://schemas.microsoft.com/office/drawing/2014/main" id="{B56EF85E-7932-4FA9-9EEB-8800A0C4D7B2}"/>
              </a:ext>
            </a:extLst>
          </p:cNvPr>
          <p:cNvSpPr>
            <a:spLocks noGrp="1"/>
          </p:cNvSpPr>
          <p:nvPr/>
        </p:nvSpPr>
        <p:spPr>
          <a:xfrm>
            <a:off x="571500" y="3829050"/>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02</a:t>
            </a:r>
          </a:p>
        </p:txBody>
      </p:sp>
      <p:sp>
        <p:nvSpPr>
          <p:cNvPr id="11" name="Rectangle 10">
            <a:extLst>
              <a:ext uri="{FF2B5EF4-FFF2-40B4-BE49-F238E27FC236}">
                <a16:creationId xmlns:a16="http://schemas.microsoft.com/office/drawing/2014/main" id="{6DC14150-D1F1-4AF4-9BA0-6C24862A7F18}"/>
              </a:ext>
            </a:extLst>
          </p:cNvPr>
          <p:cNvSpPr>
            <a:spLocks noGrp="1"/>
          </p:cNvSpPr>
          <p:nvPr/>
        </p:nvSpPr>
        <p:spPr>
          <a:xfrm>
            <a:off x="1123950" y="3829050"/>
            <a:ext cx="5791200" cy="609600"/>
          </a:xfrm>
          <a:prstGeom prst="rect">
            <a:avLst/>
          </a:prstGeom>
          <a:noFill/>
          <a:ln w="0">
            <a:noFill/>
          </a:ln>
        </p:spPr>
        <p:txBody>
          <a:bodyPr lIns="0" tIns="0" rIns="0" bIns="0" anchor="t"/>
          <a:lstStyle>
            <a:defPPr>
              <a:defRPr sz="2025" b="1">
                <a:solidFill>
                  <a:srgbClr val="12304A"/>
                </a:solidFill>
                <a:latin typeface="Calibri"/>
                <a:ea typeface="Calibri"/>
                <a:cs typeface="Calibri"/>
              </a:defRPr>
            </a:defPPr>
            <a:lvl1pPr>
              <a:defRPr sz="2025" b="1">
                <a:solidFill>
                  <a:srgbClr val="12304A"/>
                </a:solidFill>
                <a:latin typeface="Calibri"/>
                <a:ea typeface="Calibri"/>
                <a:cs typeface="Calibri"/>
              </a:defRPr>
            </a:lvl1pPr>
            <a:lvl2pPr>
              <a:defRPr sz="2025" b="1">
                <a:solidFill>
                  <a:srgbClr val="12304A"/>
                </a:solidFill>
                <a:latin typeface="Calibri"/>
                <a:ea typeface="Calibri"/>
                <a:cs typeface="Calibri"/>
              </a:defRPr>
            </a:lvl2pPr>
            <a:lvl3pPr>
              <a:defRPr sz="2025" b="1">
                <a:solidFill>
                  <a:srgbClr val="12304A"/>
                </a:solidFill>
                <a:latin typeface="Calibri"/>
                <a:ea typeface="Calibri"/>
                <a:cs typeface="Calibri"/>
              </a:defRPr>
            </a:lvl3pPr>
            <a:lvl4pPr>
              <a:defRPr sz="2025" b="1">
                <a:solidFill>
                  <a:srgbClr val="12304A"/>
                </a:solidFill>
                <a:latin typeface="Calibri"/>
                <a:ea typeface="Calibri"/>
                <a:cs typeface="Calibri"/>
              </a:defRPr>
            </a:lvl4pPr>
            <a:lvl5pPr>
              <a:defRPr sz="2025" b="1">
                <a:solidFill>
                  <a:srgbClr val="12304A"/>
                </a:solidFill>
                <a:latin typeface="Calibri"/>
                <a:ea typeface="Calibri"/>
                <a:cs typeface="Calibri"/>
              </a:defRPr>
            </a:lvl5pPr>
            <a:lvl6pPr>
              <a:defRPr sz="2025" b="1">
                <a:solidFill>
                  <a:srgbClr val="12304A"/>
                </a:solidFill>
                <a:latin typeface="Calibri"/>
                <a:ea typeface="Calibri"/>
                <a:cs typeface="Calibri"/>
              </a:defRPr>
            </a:lvl6pPr>
            <a:lvl7pPr>
              <a:defRPr sz="2025" b="1">
                <a:solidFill>
                  <a:srgbClr val="12304A"/>
                </a:solidFill>
                <a:latin typeface="Calibri"/>
                <a:ea typeface="Calibri"/>
                <a:cs typeface="Calibri"/>
              </a:defRPr>
            </a:lvl7pPr>
            <a:lvl8pPr>
              <a:defRPr sz="2025" b="1">
                <a:solidFill>
                  <a:srgbClr val="12304A"/>
                </a:solidFill>
                <a:latin typeface="Calibri"/>
                <a:ea typeface="Calibri"/>
                <a:cs typeface="Calibri"/>
              </a:defRPr>
            </a:lvl8pPr>
            <a:lvl9pPr>
              <a:defRPr sz="2025" b="1">
                <a:solidFill>
                  <a:srgbClr val="12304A"/>
                </a:solidFill>
                <a:latin typeface="Calibri"/>
                <a:ea typeface="Calibri"/>
                <a:cs typeface="Calibri"/>
              </a:defRPr>
            </a:lvl9pPr>
          </a:lstStyle>
          <a:p>
            <a:pPr>
              <a:defRPr sz="2025" b="1">
                <a:solidFill>
                  <a:srgbClr val="12304A"/>
                </a:solidFill>
                <a:latin typeface="Calibri"/>
                <a:ea typeface="Calibri"/>
                <a:cs typeface="Calibri"/>
              </a:defRPr>
            </a:pPr>
            <a:r>
              <a:rPr sz="2025" b="1">
                <a:solidFill>
                  <a:srgbClr val="12304A"/>
                </a:solidFill>
                <a:latin typeface="Calibri"/>
                <a:ea typeface="Calibri"/>
                <a:cs typeface="Calibri"/>
              </a:rPr>
              <a:t>Theo dõi công nợ dự án &amp; Đòi nợ Vonmax</a:t>
            </a:r>
          </a:p>
        </p:txBody>
      </p:sp>
      <p:sp>
        <p:nvSpPr>
          <p:cNvPr id="12" name="Rectangle 11">
            <a:extLst>
              <a:ext uri="{FF2B5EF4-FFF2-40B4-BE49-F238E27FC236}">
                <a16:creationId xmlns:a16="http://schemas.microsoft.com/office/drawing/2014/main" id="{67711DC0-F8A9-4B4B-BDB4-45F0910715D8}"/>
              </a:ext>
            </a:extLst>
          </p:cNvPr>
          <p:cNvSpPr>
            <a:spLocks noGrp="1"/>
          </p:cNvSpPr>
          <p:nvPr/>
        </p:nvSpPr>
        <p:spPr>
          <a:xfrm>
            <a:off x="7315200" y="3829050"/>
            <a:ext cx="4267200" cy="571500"/>
          </a:xfrm>
          <a:prstGeom prst="rect">
            <a:avLst/>
          </a:prstGeom>
          <a:noFill/>
          <a:ln w="0">
            <a:noFill/>
          </a:ln>
        </p:spPr>
        <p:txBody>
          <a:bodyPr lIns="0" tIns="0" rIns="0" bIns="0" anchor="t"/>
          <a:lstStyle>
            <a:defPPr>
              <a:defRPr sz="1725" b="1">
                <a:solidFill>
                  <a:srgbClr val="007F86"/>
                </a:solidFill>
                <a:latin typeface="Microsoft JhengHei"/>
                <a:ea typeface="Microsoft JhengHei"/>
                <a:cs typeface="Microsoft JhengHei"/>
              </a:defRPr>
            </a:defPPr>
            <a:lvl1pPr>
              <a:defRPr sz="1725" b="1">
                <a:solidFill>
                  <a:srgbClr val="007F86"/>
                </a:solidFill>
                <a:latin typeface="Microsoft JhengHei"/>
                <a:ea typeface="Microsoft JhengHei"/>
                <a:cs typeface="Microsoft JhengHei"/>
              </a:defRPr>
            </a:lvl1pPr>
            <a:lvl2pPr>
              <a:defRPr sz="1725" b="1">
                <a:solidFill>
                  <a:srgbClr val="007F86"/>
                </a:solidFill>
                <a:latin typeface="Microsoft JhengHei"/>
                <a:ea typeface="Microsoft JhengHei"/>
                <a:cs typeface="Microsoft JhengHei"/>
              </a:defRPr>
            </a:lvl2pPr>
            <a:lvl3pPr>
              <a:defRPr sz="1725" b="1">
                <a:solidFill>
                  <a:srgbClr val="007F86"/>
                </a:solidFill>
                <a:latin typeface="Microsoft JhengHei"/>
                <a:ea typeface="Microsoft JhengHei"/>
                <a:cs typeface="Microsoft JhengHei"/>
              </a:defRPr>
            </a:lvl3pPr>
            <a:lvl4pPr>
              <a:defRPr sz="1725" b="1">
                <a:solidFill>
                  <a:srgbClr val="007F86"/>
                </a:solidFill>
                <a:latin typeface="Microsoft JhengHei"/>
                <a:ea typeface="Microsoft JhengHei"/>
                <a:cs typeface="Microsoft JhengHei"/>
              </a:defRPr>
            </a:lvl4pPr>
            <a:lvl5pPr>
              <a:defRPr sz="1725" b="1">
                <a:solidFill>
                  <a:srgbClr val="007F86"/>
                </a:solidFill>
                <a:latin typeface="Microsoft JhengHei"/>
                <a:ea typeface="Microsoft JhengHei"/>
                <a:cs typeface="Microsoft JhengHei"/>
              </a:defRPr>
            </a:lvl5pPr>
            <a:lvl6pPr>
              <a:defRPr sz="1725" b="1">
                <a:solidFill>
                  <a:srgbClr val="007F86"/>
                </a:solidFill>
                <a:latin typeface="Microsoft JhengHei"/>
                <a:ea typeface="Microsoft JhengHei"/>
                <a:cs typeface="Microsoft JhengHei"/>
              </a:defRPr>
            </a:lvl6pPr>
            <a:lvl7pPr>
              <a:defRPr sz="1725" b="1">
                <a:solidFill>
                  <a:srgbClr val="007F86"/>
                </a:solidFill>
                <a:latin typeface="Microsoft JhengHei"/>
                <a:ea typeface="Microsoft JhengHei"/>
                <a:cs typeface="Microsoft JhengHei"/>
              </a:defRPr>
            </a:lvl7pPr>
            <a:lvl8pPr>
              <a:defRPr sz="1725" b="1">
                <a:solidFill>
                  <a:srgbClr val="007F86"/>
                </a:solidFill>
                <a:latin typeface="Microsoft JhengHei"/>
                <a:ea typeface="Microsoft JhengHei"/>
                <a:cs typeface="Microsoft JhengHei"/>
              </a:defRPr>
            </a:lvl8pPr>
            <a:lvl9pPr>
              <a:defRPr sz="1725" b="1">
                <a:solidFill>
                  <a:srgbClr val="007F86"/>
                </a:solidFill>
                <a:latin typeface="Microsoft JhengHei"/>
                <a:ea typeface="Microsoft JhengHei"/>
                <a:cs typeface="Microsoft JhengHei"/>
              </a:defRPr>
            </a:lvl9pPr>
          </a:lstStyle>
          <a:p>
            <a:pPr>
              <a:defRPr sz="1725" b="1">
                <a:solidFill>
                  <a:srgbClr val="007F86"/>
                </a:solidFill>
                <a:latin typeface="Microsoft JhengHei"/>
                <a:ea typeface="Microsoft JhengHei"/>
                <a:cs typeface="Microsoft JhengHei"/>
              </a:defRPr>
            </a:pPr>
            <a:r>
              <a:rPr sz="1725" b="1">
                <a:solidFill>
                  <a:srgbClr val="007F86"/>
                </a:solidFill>
                <a:latin typeface="Microsoft JhengHei"/>
                <a:ea typeface="Microsoft JhengHei"/>
                <a:cs typeface="Microsoft JhengHei"/>
              </a:rPr>
              <a:t>追蹤專案應收帳款，催收弘聲（Vonmax）款項</a:t>
            </a:r>
          </a:p>
        </p:txBody>
      </p:sp>
      <p:sp>
        <p:nvSpPr>
          <p:cNvPr id="13" name="Rectangle 12">
            <a:extLst>
              <a:ext uri="{FF2B5EF4-FFF2-40B4-BE49-F238E27FC236}">
                <a16:creationId xmlns:a16="http://schemas.microsoft.com/office/drawing/2014/main" id="{35BCF9D5-FA3E-4BC2-9AE2-50B342721707}"/>
              </a:ext>
            </a:extLst>
          </p:cNvPr>
          <p:cNvSpPr>
            <a:spLocks noGrp="1"/>
          </p:cNvSpPr>
          <p:nvPr/>
        </p:nvSpPr>
        <p:spPr>
          <a:xfrm>
            <a:off x="1123950" y="4581525"/>
            <a:ext cx="5791200" cy="137160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Chiều theo dõi, cập nhật bảng công nợ các dự án đang triển khai; liên hệ khách hàng Vonmax để đôn đốc việc thanh toán các khoản công nợ đến hạn theo hợp đồng.</a:t>
            </a:r>
          </a:p>
        </p:txBody>
      </p:sp>
      <p:sp>
        <p:nvSpPr>
          <p:cNvPr id="14" name="Rectangle 13">
            <a:extLst>
              <a:ext uri="{FF2B5EF4-FFF2-40B4-BE49-F238E27FC236}">
                <a16:creationId xmlns:a16="http://schemas.microsoft.com/office/drawing/2014/main" id="{38A3C2F6-8A53-4AA3-9D6A-20E66C04583C}"/>
              </a:ext>
            </a:extLst>
          </p:cNvPr>
          <p:cNvSpPr>
            <a:spLocks noGrp="1"/>
          </p:cNvSpPr>
          <p:nvPr/>
        </p:nvSpPr>
        <p:spPr>
          <a:xfrm>
            <a:off x="7315200" y="4581525"/>
            <a:ext cx="4267200" cy="1371600"/>
          </a:xfrm>
          <a:prstGeom prst="rect">
            <a:avLst/>
          </a:prstGeom>
          <a:noFill/>
          <a:ln w="0">
            <a:noFill/>
          </a:ln>
        </p:spPr>
        <p:txBody>
          <a:bodyPr lIns="0" tIns="0" rIns="0" bIns="0" anchor="t"/>
          <a:lstStyle>
            <a:defPPr>
              <a:defRPr sz="1650" b="0">
                <a:solidFill>
                  <a:srgbClr val="526777"/>
                </a:solidFill>
                <a:latin typeface="Microsoft JhengHei"/>
                <a:ea typeface="Microsoft JhengHei"/>
                <a:cs typeface="Microsoft JhengHei"/>
              </a:defRPr>
            </a:defPPr>
            <a:lvl1pPr>
              <a:defRPr sz="1650" b="0">
                <a:solidFill>
                  <a:srgbClr val="526777"/>
                </a:solidFill>
                <a:latin typeface="Microsoft JhengHei"/>
                <a:ea typeface="Microsoft JhengHei"/>
                <a:cs typeface="Microsoft JhengHei"/>
              </a:defRPr>
            </a:lvl1pPr>
            <a:lvl2pPr>
              <a:defRPr sz="1650" b="0">
                <a:solidFill>
                  <a:srgbClr val="526777"/>
                </a:solidFill>
                <a:latin typeface="Microsoft JhengHei"/>
                <a:ea typeface="Microsoft JhengHei"/>
                <a:cs typeface="Microsoft JhengHei"/>
              </a:defRPr>
            </a:lvl2pPr>
            <a:lvl3pPr>
              <a:defRPr sz="1650" b="0">
                <a:solidFill>
                  <a:srgbClr val="526777"/>
                </a:solidFill>
                <a:latin typeface="Microsoft JhengHei"/>
                <a:ea typeface="Microsoft JhengHei"/>
                <a:cs typeface="Microsoft JhengHei"/>
              </a:defRPr>
            </a:lvl3pPr>
            <a:lvl4pPr>
              <a:defRPr sz="1650" b="0">
                <a:solidFill>
                  <a:srgbClr val="526777"/>
                </a:solidFill>
                <a:latin typeface="Microsoft JhengHei"/>
                <a:ea typeface="Microsoft JhengHei"/>
                <a:cs typeface="Microsoft JhengHei"/>
              </a:defRPr>
            </a:lvl4pPr>
            <a:lvl5pPr>
              <a:defRPr sz="1650" b="0">
                <a:solidFill>
                  <a:srgbClr val="526777"/>
                </a:solidFill>
                <a:latin typeface="Microsoft JhengHei"/>
                <a:ea typeface="Microsoft JhengHei"/>
                <a:cs typeface="Microsoft JhengHei"/>
              </a:defRPr>
            </a:lvl5pPr>
            <a:lvl6pPr>
              <a:defRPr sz="1650" b="0">
                <a:solidFill>
                  <a:srgbClr val="526777"/>
                </a:solidFill>
                <a:latin typeface="Microsoft JhengHei"/>
                <a:ea typeface="Microsoft JhengHei"/>
                <a:cs typeface="Microsoft JhengHei"/>
              </a:defRPr>
            </a:lvl6pPr>
            <a:lvl7pPr>
              <a:defRPr sz="1650" b="0">
                <a:solidFill>
                  <a:srgbClr val="526777"/>
                </a:solidFill>
                <a:latin typeface="Microsoft JhengHei"/>
                <a:ea typeface="Microsoft JhengHei"/>
                <a:cs typeface="Microsoft JhengHei"/>
              </a:defRPr>
            </a:lvl7pPr>
            <a:lvl8pPr>
              <a:defRPr sz="1650" b="0">
                <a:solidFill>
                  <a:srgbClr val="526777"/>
                </a:solidFill>
                <a:latin typeface="Microsoft JhengHei"/>
                <a:ea typeface="Microsoft JhengHei"/>
                <a:cs typeface="Microsoft JhengHei"/>
              </a:defRPr>
            </a:lvl8pPr>
            <a:lvl9pPr>
              <a:defRPr sz="1650" b="0">
                <a:solidFill>
                  <a:srgbClr val="526777"/>
                </a:solidFill>
                <a:latin typeface="Microsoft JhengHei"/>
                <a:ea typeface="Microsoft JhengHei"/>
                <a:cs typeface="Microsoft JhengHei"/>
              </a:defRPr>
            </a:lvl9pPr>
          </a:lstStyle>
          <a:p>
            <a:pPr>
              <a:defRPr sz="1650" b="0">
                <a:solidFill>
                  <a:srgbClr val="526777"/>
                </a:solidFill>
                <a:latin typeface="Microsoft JhengHei"/>
                <a:ea typeface="Microsoft JhengHei"/>
                <a:cs typeface="Microsoft JhengHei"/>
              </a:defRPr>
            </a:pPr>
            <a:r>
              <a:rPr sz="1650" b="0">
                <a:solidFill>
                  <a:srgbClr val="526777"/>
                </a:solidFill>
                <a:latin typeface="Microsoft JhengHei"/>
                <a:ea typeface="Microsoft JhengHei"/>
                <a:cs typeface="Microsoft JhengHei"/>
              </a:rPr>
              <a:t>下午檢視並更新各在建專案之應收帳款追蹤表；積極聯繫客戶弘聲（Vonmax）財務與窗口，嚴格催收各筆到期款項。</a:t>
            </a:r>
          </a:p>
        </p:txBody>
      </p:sp>
    </p:spTree>
    <p:extLst>
      <p:ext uri="{BB962C8B-B14F-4D97-AF65-F5344CB8AC3E}">
        <p14:creationId xmlns:p14="http://schemas.microsoft.com/office/powerpoint/2010/main" val="480213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EDF9F80-D0B8-49C3-8555-C452B4E4090C}"/>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Kết quả công việc  ·  30.10</a:t>
            </a:r>
          </a:p>
        </p:txBody>
      </p:sp>
      <p:sp>
        <p:nvSpPr>
          <p:cNvPr id="2" name="Rectangle 1">
            <a:extLst>
              <a:ext uri="{FF2B5EF4-FFF2-40B4-BE49-F238E27FC236}">
                <a16:creationId xmlns:a16="http://schemas.microsoft.com/office/drawing/2014/main" id="{6B8A2ABC-0DD6-4E4E-A857-02C5D12EE96D}"/>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工作結果記錄  /  Thứ Sáu / 星期五</a:t>
            </a:r>
          </a:p>
        </p:txBody>
      </p:sp>
      <p:sp>
        <p:nvSpPr>
          <p:cNvPr id="3" name="Rectangle 2">
            <a:extLst>
              <a:ext uri="{FF2B5EF4-FFF2-40B4-BE49-F238E27FC236}">
                <a16:creationId xmlns:a16="http://schemas.microsoft.com/office/drawing/2014/main" id="{541DACF8-8EBA-4794-9894-6D1BC1312B3A}"/>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0F3A2D78-0DBB-4BDE-932E-18828094E8E4}"/>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07 / 11</a:t>
            </a:r>
          </a:p>
        </p:txBody>
      </p:sp>
      <p:sp>
        <p:nvSpPr>
          <p:cNvPr id="5" name="Rectangle 4">
            <a:extLst>
              <a:ext uri="{FF2B5EF4-FFF2-40B4-BE49-F238E27FC236}">
                <a16:creationId xmlns:a16="http://schemas.microsoft.com/office/drawing/2014/main" id="{DCC36E6F-10A5-4206-9736-E7EF702ABFC0}"/>
              </a:ext>
            </a:extLst>
          </p:cNvPr>
          <p:cNvSpPr>
            <a:spLocks noGrp="1"/>
          </p:cNvSpPr>
          <p:nvPr/>
        </p:nvSpPr>
        <p:spPr>
          <a:xfrm>
            <a:off x="571500" y="1905000"/>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516C1362-B62C-43CA-A5FA-9469B7CA9EA9}"/>
              </a:ext>
            </a:extLst>
          </p:cNvPr>
          <p:cNvSpPr>
            <a:spLocks noGrp="1"/>
          </p:cNvSpPr>
          <p:nvPr/>
        </p:nvSpPr>
        <p:spPr>
          <a:xfrm>
            <a:off x="1123950" y="1905000"/>
            <a:ext cx="5791200" cy="609600"/>
          </a:xfrm>
          <a:prstGeom prst="rect">
            <a:avLst/>
          </a:prstGeom>
          <a:noFill/>
          <a:ln w="0">
            <a:noFill/>
          </a:ln>
        </p:spPr>
        <p:txBody>
          <a:bodyPr lIns="0" tIns="0" rIns="0" bIns="0" anchor="t"/>
          <a:lstStyle>
            <a:defPPr>
              <a:defRPr sz="2025" b="1">
                <a:solidFill>
                  <a:srgbClr val="12304A"/>
                </a:solidFill>
                <a:latin typeface="Calibri"/>
                <a:ea typeface="Calibri"/>
                <a:cs typeface="Calibri"/>
              </a:defRPr>
            </a:defPPr>
            <a:lvl1pPr>
              <a:defRPr sz="2025" b="1">
                <a:solidFill>
                  <a:srgbClr val="12304A"/>
                </a:solidFill>
                <a:latin typeface="Calibri"/>
                <a:ea typeface="Calibri"/>
                <a:cs typeface="Calibri"/>
              </a:defRPr>
            </a:lvl1pPr>
            <a:lvl2pPr>
              <a:defRPr sz="2025" b="1">
                <a:solidFill>
                  <a:srgbClr val="12304A"/>
                </a:solidFill>
                <a:latin typeface="Calibri"/>
                <a:ea typeface="Calibri"/>
                <a:cs typeface="Calibri"/>
              </a:defRPr>
            </a:lvl2pPr>
            <a:lvl3pPr>
              <a:defRPr sz="2025" b="1">
                <a:solidFill>
                  <a:srgbClr val="12304A"/>
                </a:solidFill>
                <a:latin typeface="Calibri"/>
                <a:ea typeface="Calibri"/>
                <a:cs typeface="Calibri"/>
              </a:defRPr>
            </a:lvl3pPr>
            <a:lvl4pPr>
              <a:defRPr sz="2025" b="1">
                <a:solidFill>
                  <a:srgbClr val="12304A"/>
                </a:solidFill>
                <a:latin typeface="Calibri"/>
                <a:ea typeface="Calibri"/>
                <a:cs typeface="Calibri"/>
              </a:defRPr>
            </a:lvl4pPr>
            <a:lvl5pPr>
              <a:defRPr sz="2025" b="1">
                <a:solidFill>
                  <a:srgbClr val="12304A"/>
                </a:solidFill>
                <a:latin typeface="Calibri"/>
                <a:ea typeface="Calibri"/>
                <a:cs typeface="Calibri"/>
              </a:defRPr>
            </a:lvl5pPr>
            <a:lvl6pPr>
              <a:defRPr sz="2025" b="1">
                <a:solidFill>
                  <a:srgbClr val="12304A"/>
                </a:solidFill>
                <a:latin typeface="Calibri"/>
                <a:ea typeface="Calibri"/>
                <a:cs typeface="Calibri"/>
              </a:defRPr>
            </a:lvl6pPr>
            <a:lvl7pPr>
              <a:defRPr sz="2025" b="1">
                <a:solidFill>
                  <a:srgbClr val="12304A"/>
                </a:solidFill>
                <a:latin typeface="Calibri"/>
                <a:ea typeface="Calibri"/>
                <a:cs typeface="Calibri"/>
              </a:defRPr>
            </a:lvl7pPr>
            <a:lvl8pPr>
              <a:defRPr sz="2025" b="1">
                <a:solidFill>
                  <a:srgbClr val="12304A"/>
                </a:solidFill>
                <a:latin typeface="Calibri"/>
                <a:ea typeface="Calibri"/>
                <a:cs typeface="Calibri"/>
              </a:defRPr>
            </a:lvl8pPr>
            <a:lvl9pPr>
              <a:defRPr sz="2025" b="1">
                <a:solidFill>
                  <a:srgbClr val="12304A"/>
                </a:solidFill>
                <a:latin typeface="Calibri"/>
                <a:ea typeface="Calibri"/>
                <a:cs typeface="Calibri"/>
              </a:defRPr>
            </a:lvl9pPr>
          </a:lstStyle>
          <a:p>
            <a:pPr>
              <a:defRPr sz="2025" b="1">
                <a:solidFill>
                  <a:srgbClr val="12304A"/>
                </a:solidFill>
                <a:latin typeface="Calibri"/>
                <a:ea typeface="Calibri"/>
                <a:cs typeface="Calibri"/>
              </a:defRPr>
            </a:pPr>
            <a:r>
              <a:rPr sz="2025" b="1">
                <a:solidFill>
                  <a:srgbClr val="12304A"/>
                </a:solidFill>
                <a:latin typeface="Calibri"/>
                <a:ea typeface="Calibri"/>
                <a:cs typeface="Calibri"/>
              </a:rPr>
              <a:t>Công việc Thứ 6 (hôm nay sẽ cập nhật sau)</a:t>
            </a:r>
          </a:p>
        </p:txBody>
      </p:sp>
      <p:sp>
        <p:nvSpPr>
          <p:cNvPr id="7" name="Rectangle 6">
            <a:extLst>
              <a:ext uri="{FF2B5EF4-FFF2-40B4-BE49-F238E27FC236}">
                <a16:creationId xmlns:a16="http://schemas.microsoft.com/office/drawing/2014/main" id="{A36AE2C7-45B0-4382-8F09-043E452864B9}"/>
              </a:ext>
            </a:extLst>
          </p:cNvPr>
          <p:cNvSpPr>
            <a:spLocks noGrp="1"/>
          </p:cNvSpPr>
          <p:nvPr/>
        </p:nvSpPr>
        <p:spPr>
          <a:xfrm>
            <a:off x="7315200" y="1905000"/>
            <a:ext cx="4267200" cy="571500"/>
          </a:xfrm>
          <a:prstGeom prst="rect">
            <a:avLst/>
          </a:prstGeom>
          <a:noFill/>
          <a:ln w="0">
            <a:noFill/>
          </a:ln>
        </p:spPr>
        <p:txBody>
          <a:bodyPr lIns="0" tIns="0" rIns="0" bIns="0" anchor="t"/>
          <a:lstStyle>
            <a:defPPr>
              <a:defRPr sz="1725" b="1">
                <a:solidFill>
                  <a:srgbClr val="007F86"/>
                </a:solidFill>
                <a:latin typeface="Microsoft JhengHei"/>
                <a:ea typeface="Microsoft JhengHei"/>
                <a:cs typeface="Microsoft JhengHei"/>
              </a:defRPr>
            </a:defPPr>
            <a:lvl1pPr>
              <a:defRPr sz="1725" b="1">
                <a:solidFill>
                  <a:srgbClr val="007F86"/>
                </a:solidFill>
                <a:latin typeface="Microsoft JhengHei"/>
                <a:ea typeface="Microsoft JhengHei"/>
                <a:cs typeface="Microsoft JhengHei"/>
              </a:defRPr>
            </a:lvl1pPr>
            <a:lvl2pPr>
              <a:defRPr sz="1725" b="1">
                <a:solidFill>
                  <a:srgbClr val="007F86"/>
                </a:solidFill>
                <a:latin typeface="Microsoft JhengHei"/>
                <a:ea typeface="Microsoft JhengHei"/>
                <a:cs typeface="Microsoft JhengHei"/>
              </a:defRPr>
            </a:lvl2pPr>
            <a:lvl3pPr>
              <a:defRPr sz="1725" b="1">
                <a:solidFill>
                  <a:srgbClr val="007F86"/>
                </a:solidFill>
                <a:latin typeface="Microsoft JhengHei"/>
                <a:ea typeface="Microsoft JhengHei"/>
                <a:cs typeface="Microsoft JhengHei"/>
              </a:defRPr>
            </a:lvl3pPr>
            <a:lvl4pPr>
              <a:defRPr sz="1725" b="1">
                <a:solidFill>
                  <a:srgbClr val="007F86"/>
                </a:solidFill>
                <a:latin typeface="Microsoft JhengHei"/>
                <a:ea typeface="Microsoft JhengHei"/>
                <a:cs typeface="Microsoft JhengHei"/>
              </a:defRPr>
            </a:lvl4pPr>
            <a:lvl5pPr>
              <a:defRPr sz="1725" b="1">
                <a:solidFill>
                  <a:srgbClr val="007F86"/>
                </a:solidFill>
                <a:latin typeface="Microsoft JhengHei"/>
                <a:ea typeface="Microsoft JhengHei"/>
                <a:cs typeface="Microsoft JhengHei"/>
              </a:defRPr>
            </a:lvl5pPr>
            <a:lvl6pPr>
              <a:defRPr sz="1725" b="1">
                <a:solidFill>
                  <a:srgbClr val="007F86"/>
                </a:solidFill>
                <a:latin typeface="Microsoft JhengHei"/>
                <a:ea typeface="Microsoft JhengHei"/>
                <a:cs typeface="Microsoft JhengHei"/>
              </a:defRPr>
            </a:lvl6pPr>
            <a:lvl7pPr>
              <a:defRPr sz="1725" b="1">
                <a:solidFill>
                  <a:srgbClr val="007F86"/>
                </a:solidFill>
                <a:latin typeface="Microsoft JhengHei"/>
                <a:ea typeface="Microsoft JhengHei"/>
                <a:cs typeface="Microsoft JhengHei"/>
              </a:defRPr>
            </a:lvl7pPr>
            <a:lvl8pPr>
              <a:defRPr sz="1725" b="1">
                <a:solidFill>
                  <a:srgbClr val="007F86"/>
                </a:solidFill>
                <a:latin typeface="Microsoft JhengHei"/>
                <a:ea typeface="Microsoft JhengHei"/>
                <a:cs typeface="Microsoft JhengHei"/>
              </a:defRPr>
            </a:lvl8pPr>
            <a:lvl9pPr>
              <a:defRPr sz="1725" b="1">
                <a:solidFill>
                  <a:srgbClr val="007F86"/>
                </a:solidFill>
                <a:latin typeface="Microsoft JhengHei"/>
                <a:ea typeface="Microsoft JhengHei"/>
                <a:cs typeface="Microsoft JhengHei"/>
              </a:defRPr>
            </a:lvl9pPr>
          </a:lstStyle>
          <a:p>
            <a:pPr>
              <a:defRPr sz="1725" b="1">
                <a:solidFill>
                  <a:srgbClr val="007F86"/>
                </a:solidFill>
                <a:latin typeface="Microsoft JhengHei"/>
                <a:ea typeface="Microsoft JhengHei"/>
                <a:cs typeface="Microsoft JhengHei"/>
              </a:defRPr>
            </a:pPr>
            <a:r>
              <a:rPr sz="1725" b="1">
                <a:solidFill>
                  <a:srgbClr val="007F86"/>
                </a:solidFill>
                <a:latin typeface="Microsoft JhengHei"/>
                <a:ea typeface="Microsoft JhengHei"/>
                <a:cs typeface="Microsoft JhengHei"/>
              </a:rPr>
              <a:t>今日週五工作事項（後續補充）</a:t>
            </a:r>
          </a:p>
        </p:txBody>
      </p:sp>
      <p:sp>
        <p:nvSpPr>
          <p:cNvPr id="8" name="Rectangle 7">
            <a:extLst>
              <a:ext uri="{FF2B5EF4-FFF2-40B4-BE49-F238E27FC236}">
                <a16:creationId xmlns:a16="http://schemas.microsoft.com/office/drawing/2014/main" id="{6244A7BC-39A8-4707-8560-06A073B9C43C}"/>
              </a:ext>
            </a:extLst>
          </p:cNvPr>
          <p:cNvSpPr>
            <a:spLocks noGrp="1"/>
          </p:cNvSpPr>
          <p:nvPr/>
        </p:nvSpPr>
        <p:spPr>
          <a:xfrm>
            <a:off x="1123950" y="2657475"/>
            <a:ext cx="5791200" cy="137160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Rà soát hồ sơ tiếp nhận dự án, đối chiếu công nợ và các nội dung công việc phát sinh trong ngày Thứ 6 sẽ được cập nhật bổ sung sau khi kết thúc ngày làm việc.</a:t>
            </a:r>
          </a:p>
        </p:txBody>
      </p:sp>
      <p:sp>
        <p:nvSpPr>
          <p:cNvPr id="9" name="Rectangle 8">
            <a:extLst>
              <a:ext uri="{FF2B5EF4-FFF2-40B4-BE49-F238E27FC236}">
                <a16:creationId xmlns:a16="http://schemas.microsoft.com/office/drawing/2014/main" id="{4F3259E7-6674-4179-B7DC-40BB145D03E9}"/>
              </a:ext>
            </a:extLst>
          </p:cNvPr>
          <p:cNvSpPr>
            <a:spLocks noGrp="1"/>
          </p:cNvSpPr>
          <p:nvPr/>
        </p:nvSpPr>
        <p:spPr>
          <a:xfrm>
            <a:off x="7315200" y="2657475"/>
            <a:ext cx="4267200" cy="1371600"/>
          </a:xfrm>
          <a:prstGeom prst="rect">
            <a:avLst/>
          </a:prstGeom>
          <a:noFill/>
          <a:ln w="0">
            <a:noFill/>
          </a:ln>
        </p:spPr>
        <p:txBody>
          <a:bodyPr lIns="0" tIns="0" rIns="0" bIns="0" anchor="t"/>
          <a:lstStyle>
            <a:defPPr>
              <a:defRPr sz="1650" b="0">
                <a:solidFill>
                  <a:srgbClr val="526777"/>
                </a:solidFill>
                <a:latin typeface="Microsoft JhengHei"/>
                <a:ea typeface="Microsoft JhengHei"/>
                <a:cs typeface="Microsoft JhengHei"/>
              </a:defRPr>
            </a:defPPr>
            <a:lvl1pPr>
              <a:defRPr sz="1650" b="0">
                <a:solidFill>
                  <a:srgbClr val="526777"/>
                </a:solidFill>
                <a:latin typeface="Microsoft JhengHei"/>
                <a:ea typeface="Microsoft JhengHei"/>
                <a:cs typeface="Microsoft JhengHei"/>
              </a:defRPr>
            </a:lvl1pPr>
            <a:lvl2pPr>
              <a:defRPr sz="1650" b="0">
                <a:solidFill>
                  <a:srgbClr val="526777"/>
                </a:solidFill>
                <a:latin typeface="Microsoft JhengHei"/>
                <a:ea typeface="Microsoft JhengHei"/>
                <a:cs typeface="Microsoft JhengHei"/>
              </a:defRPr>
            </a:lvl2pPr>
            <a:lvl3pPr>
              <a:defRPr sz="1650" b="0">
                <a:solidFill>
                  <a:srgbClr val="526777"/>
                </a:solidFill>
                <a:latin typeface="Microsoft JhengHei"/>
                <a:ea typeface="Microsoft JhengHei"/>
                <a:cs typeface="Microsoft JhengHei"/>
              </a:defRPr>
            </a:lvl3pPr>
            <a:lvl4pPr>
              <a:defRPr sz="1650" b="0">
                <a:solidFill>
                  <a:srgbClr val="526777"/>
                </a:solidFill>
                <a:latin typeface="Microsoft JhengHei"/>
                <a:ea typeface="Microsoft JhengHei"/>
                <a:cs typeface="Microsoft JhengHei"/>
              </a:defRPr>
            </a:lvl4pPr>
            <a:lvl5pPr>
              <a:defRPr sz="1650" b="0">
                <a:solidFill>
                  <a:srgbClr val="526777"/>
                </a:solidFill>
                <a:latin typeface="Microsoft JhengHei"/>
                <a:ea typeface="Microsoft JhengHei"/>
                <a:cs typeface="Microsoft JhengHei"/>
              </a:defRPr>
            </a:lvl5pPr>
            <a:lvl6pPr>
              <a:defRPr sz="1650" b="0">
                <a:solidFill>
                  <a:srgbClr val="526777"/>
                </a:solidFill>
                <a:latin typeface="Microsoft JhengHei"/>
                <a:ea typeface="Microsoft JhengHei"/>
                <a:cs typeface="Microsoft JhengHei"/>
              </a:defRPr>
            </a:lvl6pPr>
            <a:lvl7pPr>
              <a:defRPr sz="1650" b="0">
                <a:solidFill>
                  <a:srgbClr val="526777"/>
                </a:solidFill>
                <a:latin typeface="Microsoft JhengHei"/>
                <a:ea typeface="Microsoft JhengHei"/>
                <a:cs typeface="Microsoft JhengHei"/>
              </a:defRPr>
            </a:lvl7pPr>
            <a:lvl8pPr>
              <a:defRPr sz="1650" b="0">
                <a:solidFill>
                  <a:srgbClr val="526777"/>
                </a:solidFill>
                <a:latin typeface="Microsoft JhengHei"/>
                <a:ea typeface="Microsoft JhengHei"/>
                <a:cs typeface="Microsoft JhengHei"/>
              </a:defRPr>
            </a:lvl8pPr>
            <a:lvl9pPr>
              <a:defRPr sz="1650" b="0">
                <a:solidFill>
                  <a:srgbClr val="526777"/>
                </a:solidFill>
                <a:latin typeface="Microsoft JhengHei"/>
                <a:ea typeface="Microsoft JhengHei"/>
                <a:cs typeface="Microsoft JhengHei"/>
              </a:defRPr>
            </a:lvl9pPr>
          </a:lstStyle>
          <a:p>
            <a:pPr>
              <a:defRPr sz="1650" b="0">
                <a:solidFill>
                  <a:srgbClr val="526777"/>
                </a:solidFill>
                <a:latin typeface="Microsoft JhengHei"/>
                <a:ea typeface="Microsoft JhengHei"/>
                <a:cs typeface="Microsoft JhengHei"/>
              </a:defRPr>
            </a:pPr>
            <a:r>
              <a:rPr sz="1650" b="0">
                <a:solidFill>
                  <a:srgbClr val="526777"/>
                </a:solidFill>
                <a:latin typeface="Microsoft JhengHei"/>
                <a:ea typeface="Microsoft JhengHei"/>
                <a:cs typeface="Microsoft JhengHei"/>
              </a:rPr>
              <a:t>核對專案交接檔案、核算各專案款項，週五當日其餘具體執行事項將於下班前陸續補充更新。</a:t>
            </a:r>
          </a:p>
        </p:txBody>
      </p:sp>
    </p:spTree>
    <p:extLst>
      <p:ext uri="{BB962C8B-B14F-4D97-AF65-F5344CB8AC3E}">
        <p14:creationId xmlns:p14="http://schemas.microsoft.com/office/powerpoint/2010/main" val="257143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BFC844-1B07-4617-BE05-16D5CC522B61}"/>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Kết quả công việc  ·  31.10</a:t>
            </a:r>
          </a:p>
        </p:txBody>
      </p:sp>
      <p:sp>
        <p:nvSpPr>
          <p:cNvPr id="2" name="Rectangle 1">
            <a:extLst>
              <a:ext uri="{FF2B5EF4-FFF2-40B4-BE49-F238E27FC236}">
                <a16:creationId xmlns:a16="http://schemas.microsoft.com/office/drawing/2014/main" id="{5E21B7C2-3CD3-4B85-A98E-C44043DF0073}"/>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工作結果記錄  /  Thứ Bảy / 星期六</a:t>
            </a:r>
          </a:p>
        </p:txBody>
      </p:sp>
      <p:sp>
        <p:nvSpPr>
          <p:cNvPr id="3" name="Rectangle 2">
            <a:extLst>
              <a:ext uri="{FF2B5EF4-FFF2-40B4-BE49-F238E27FC236}">
                <a16:creationId xmlns:a16="http://schemas.microsoft.com/office/drawing/2014/main" id="{2F159D95-E428-4588-9ECF-D97C1D73AA69}"/>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60C739BC-9124-44EB-AF4A-57484C39EFEE}"/>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08 / 11</a:t>
            </a:r>
          </a:p>
        </p:txBody>
      </p:sp>
      <p:sp>
        <p:nvSpPr>
          <p:cNvPr id="5" name="Rectangle 4">
            <a:extLst>
              <a:ext uri="{FF2B5EF4-FFF2-40B4-BE49-F238E27FC236}">
                <a16:creationId xmlns:a16="http://schemas.microsoft.com/office/drawing/2014/main" id="{961CBCB3-3EDC-4807-AAB2-9D91FD051F87}"/>
              </a:ext>
            </a:extLst>
          </p:cNvPr>
          <p:cNvSpPr>
            <a:spLocks noGrp="1"/>
          </p:cNvSpPr>
          <p:nvPr/>
        </p:nvSpPr>
        <p:spPr>
          <a:xfrm>
            <a:off x="571500" y="1905000"/>
            <a:ext cx="428625" cy="381000"/>
          </a:xfrm>
          <a:prstGeom prst="rect">
            <a:avLst/>
          </a:prstGeom>
          <a:noFill/>
          <a:ln w="0">
            <a:noFill/>
          </a:ln>
        </p:spPr>
        <p:txBody>
          <a:bodyPr lIns="0" tIns="0" rIns="0" bIns="0" anchor="t"/>
          <a:lstStyle>
            <a:defPPr>
              <a:defRPr sz="2025" b="1">
                <a:solidFill>
                  <a:srgbClr val="007F86"/>
                </a:solidFill>
                <a:latin typeface="Calibri"/>
                <a:ea typeface="Calibri"/>
                <a:cs typeface="Calibri"/>
              </a:defRPr>
            </a:defPPr>
            <a:lvl1pPr>
              <a:defRPr sz="2025" b="1">
                <a:solidFill>
                  <a:srgbClr val="007F86"/>
                </a:solidFill>
                <a:latin typeface="Calibri"/>
                <a:ea typeface="Calibri"/>
                <a:cs typeface="Calibri"/>
              </a:defRPr>
            </a:lvl1pPr>
            <a:lvl2pPr>
              <a:defRPr sz="2025" b="1">
                <a:solidFill>
                  <a:srgbClr val="007F86"/>
                </a:solidFill>
                <a:latin typeface="Calibri"/>
                <a:ea typeface="Calibri"/>
                <a:cs typeface="Calibri"/>
              </a:defRPr>
            </a:lvl2pPr>
            <a:lvl3pPr>
              <a:defRPr sz="2025" b="1">
                <a:solidFill>
                  <a:srgbClr val="007F86"/>
                </a:solidFill>
                <a:latin typeface="Calibri"/>
                <a:ea typeface="Calibri"/>
                <a:cs typeface="Calibri"/>
              </a:defRPr>
            </a:lvl3pPr>
            <a:lvl4pPr>
              <a:defRPr sz="2025" b="1">
                <a:solidFill>
                  <a:srgbClr val="007F86"/>
                </a:solidFill>
                <a:latin typeface="Calibri"/>
                <a:ea typeface="Calibri"/>
                <a:cs typeface="Calibri"/>
              </a:defRPr>
            </a:lvl4pPr>
            <a:lvl5pPr>
              <a:defRPr sz="2025" b="1">
                <a:solidFill>
                  <a:srgbClr val="007F86"/>
                </a:solidFill>
                <a:latin typeface="Calibri"/>
                <a:ea typeface="Calibri"/>
                <a:cs typeface="Calibri"/>
              </a:defRPr>
            </a:lvl5pPr>
            <a:lvl6pPr>
              <a:defRPr sz="2025" b="1">
                <a:solidFill>
                  <a:srgbClr val="007F86"/>
                </a:solidFill>
                <a:latin typeface="Calibri"/>
                <a:ea typeface="Calibri"/>
                <a:cs typeface="Calibri"/>
              </a:defRPr>
            </a:lvl6pPr>
            <a:lvl7pPr>
              <a:defRPr sz="2025" b="1">
                <a:solidFill>
                  <a:srgbClr val="007F86"/>
                </a:solidFill>
                <a:latin typeface="Calibri"/>
                <a:ea typeface="Calibri"/>
                <a:cs typeface="Calibri"/>
              </a:defRPr>
            </a:lvl7pPr>
            <a:lvl8pPr>
              <a:defRPr sz="2025" b="1">
                <a:solidFill>
                  <a:srgbClr val="007F86"/>
                </a:solidFill>
                <a:latin typeface="Calibri"/>
                <a:ea typeface="Calibri"/>
                <a:cs typeface="Calibri"/>
              </a:defRPr>
            </a:lvl8pPr>
            <a:lvl9pPr>
              <a:defRPr sz="2025" b="1">
                <a:solidFill>
                  <a:srgbClr val="007F86"/>
                </a:solidFill>
                <a:latin typeface="Calibri"/>
                <a:ea typeface="Calibri"/>
                <a:cs typeface="Calibri"/>
              </a:defRPr>
            </a:lvl9pPr>
          </a:lstStyle>
          <a:p>
            <a:pPr>
              <a:defRPr sz="2025" b="1">
                <a:solidFill>
                  <a:srgbClr val="007F86"/>
                </a:solidFill>
                <a:latin typeface="Calibri"/>
                <a:ea typeface="Calibri"/>
                <a:cs typeface="Calibri"/>
              </a:defRPr>
            </a:pPr>
            <a:r>
              <a:rPr sz="2025"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2198D617-6019-4B6F-A9B2-8BE8096D54C4}"/>
              </a:ext>
            </a:extLst>
          </p:cNvPr>
          <p:cNvSpPr>
            <a:spLocks noGrp="1"/>
          </p:cNvSpPr>
          <p:nvPr/>
        </p:nvSpPr>
        <p:spPr>
          <a:xfrm>
            <a:off x="1123950" y="1905000"/>
            <a:ext cx="5791200" cy="609600"/>
          </a:xfrm>
          <a:prstGeom prst="rect">
            <a:avLst/>
          </a:prstGeom>
          <a:noFill/>
          <a:ln w="0">
            <a:noFill/>
          </a:ln>
        </p:spPr>
        <p:txBody>
          <a:bodyPr lIns="0" tIns="0" rIns="0" bIns="0" anchor="t"/>
          <a:lstStyle>
            <a:defPPr>
              <a:defRPr sz="2025" b="1">
                <a:solidFill>
                  <a:srgbClr val="12304A"/>
                </a:solidFill>
                <a:latin typeface="Calibri"/>
                <a:ea typeface="Calibri"/>
                <a:cs typeface="Calibri"/>
              </a:defRPr>
            </a:defPPr>
            <a:lvl1pPr>
              <a:defRPr sz="2025" b="1">
                <a:solidFill>
                  <a:srgbClr val="12304A"/>
                </a:solidFill>
                <a:latin typeface="Calibri"/>
                <a:ea typeface="Calibri"/>
                <a:cs typeface="Calibri"/>
              </a:defRPr>
            </a:lvl1pPr>
            <a:lvl2pPr>
              <a:defRPr sz="2025" b="1">
                <a:solidFill>
                  <a:srgbClr val="12304A"/>
                </a:solidFill>
                <a:latin typeface="Calibri"/>
                <a:ea typeface="Calibri"/>
                <a:cs typeface="Calibri"/>
              </a:defRPr>
            </a:lvl2pPr>
            <a:lvl3pPr>
              <a:defRPr sz="2025" b="1">
                <a:solidFill>
                  <a:srgbClr val="12304A"/>
                </a:solidFill>
                <a:latin typeface="Calibri"/>
                <a:ea typeface="Calibri"/>
                <a:cs typeface="Calibri"/>
              </a:defRPr>
            </a:lvl3pPr>
            <a:lvl4pPr>
              <a:defRPr sz="2025" b="1">
                <a:solidFill>
                  <a:srgbClr val="12304A"/>
                </a:solidFill>
                <a:latin typeface="Calibri"/>
                <a:ea typeface="Calibri"/>
                <a:cs typeface="Calibri"/>
              </a:defRPr>
            </a:lvl4pPr>
            <a:lvl5pPr>
              <a:defRPr sz="2025" b="1">
                <a:solidFill>
                  <a:srgbClr val="12304A"/>
                </a:solidFill>
                <a:latin typeface="Calibri"/>
                <a:ea typeface="Calibri"/>
                <a:cs typeface="Calibri"/>
              </a:defRPr>
            </a:lvl5pPr>
            <a:lvl6pPr>
              <a:defRPr sz="2025" b="1">
                <a:solidFill>
                  <a:srgbClr val="12304A"/>
                </a:solidFill>
                <a:latin typeface="Calibri"/>
                <a:ea typeface="Calibri"/>
                <a:cs typeface="Calibri"/>
              </a:defRPr>
            </a:lvl6pPr>
            <a:lvl7pPr>
              <a:defRPr sz="2025" b="1">
                <a:solidFill>
                  <a:srgbClr val="12304A"/>
                </a:solidFill>
                <a:latin typeface="Calibri"/>
                <a:ea typeface="Calibri"/>
                <a:cs typeface="Calibri"/>
              </a:defRPr>
            </a:lvl7pPr>
            <a:lvl8pPr>
              <a:defRPr sz="2025" b="1">
                <a:solidFill>
                  <a:srgbClr val="12304A"/>
                </a:solidFill>
                <a:latin typeface="Calibri"/>
                <a:ea typeface="Calibri"/>
                <a:cs typeface="Calibri"/>
              </a:defRPr>
            </a:lvl8pPr>
            <a:lvl9pPr>
              <a:defRPr sz="2025" b="1">
                <a:solidFill>
                  <a:srgbClr val="12304A"/>
                </a:solidFill>
                <a:latin typeface="Calibri"/>
                <a:ea typeface="Calibri"/>
                <a:cs typeface="Calibri"/>
              </a:defRPr>
            </a:lvl9pPr>
          </a:lstStyle>
          <a:p>
            <a:pPr>
              <a:defRPr sz="2025" b="1">
                <a:solidFill>
                  <a:srgbClr val="12304A"/>
                </a:solidFill>
                <a:latin typeface="Calibri"/>
                <a:ea typeface="Calibri"/>
                <a:cs typeface="Calibri"/>
              </a:defRPr>
            </a:pPr>
            <a:r>
              <a:rPr sz="2025" b="1">
                <a:solidFill>
                  <a:srgbClr val="12304A"/>
                </a:solidFill>
                <a:latin typeface="Calibri"/>
                <a:ea typeface="Calibri"/>
                <a:cs typeface="Calibri"/>
              </a:rPr>
              <a:t>Công việc Thứ 7 (sẽ cập nhật sau)</a:t>
            </a:r>
          </a:p>
        </p:txBody>
      </p:sp>
      <p:sp>
        <p:nvSpPr>
          <p:cNvPr id="7" name="Rectangle 6">
            <a:extLst>
              <a:ext uri="{FF2B5EF4-FFF2-40B4-BE49-F238E27FC236}">
                <a16:creationId xmlns:a16="http://schemas.microsoft.com/office/drawing/2014/main" id="{607F14BE-F885-4904-B7BD-A6091D980E5A}"/>
              </a:ext>
            </a:extLst>
          </p:cNvPr>
          <p:cNvSpPr>
            <a:spLocks noGrp="1"/>
          </p:cNvSpPr>
          <p:nvPr/>
        </p:nvSpPr>
        <p:spPr>
          <a:xfrm>
            <a:off x="7315200" y="1905000"/>
            <a:ext cx="4267200" cy="571500"/>
          </a:xfrm>
          <a:prstGeom prst="rect">
            <a:avLst/>
          </a:prstGeom>
          <a:noFill/>
          <a:ln w="0">
            <a:noFill/>
          </a:ln>
        </p:spPr>
        <p:txBody>
          <a:bodyPr lIns="0" tIns="0" rIns="0" bIns="0" anchor="t"/>
          <a:lstStyle>
            <a:defPPr>
              <a:defRPr sz="1725" b="1">
                <a:solidFill>
                  <a:srgbClr val="007F86"/>
                </a:solidFill>
                <a:latin typeface="Microsoft JhengHei"/>
                <a:ea typeface="Microsoft JhengHei"/>
                <a:cs typeface="Microsoft JhengHei"/>
              </a:defRPr>
            </a:defPPr>
            <a:lvl1pPr>
              <a:defRPr sz="1725" b="1">
                <a:solidFill>
                  <a:srgbClr val="007F86"/>
                </a:solidFill>
                <a:latin typeface="Microsoft JhengHei"/>
                <a:ea typeface="Microsoft JhengHei"/>
                <a:cs typeface="Microsoft JhengHei"/>
              </a:defRPr>
            </a:lvl1pPr>
            <a:lvl2pPr>
              <a:defRPr sz="1725" b="1">
                <a:solidFill>
                  <a:srgbClr val="007F86"/>
                </a:solidFill>
                <a:latin typeface="Microsoft JhengHei"/>
                <a:ea typeface="Microsoft JhengHei"/>
                <a:cs typeface="Microsoft JhengHei"/>
              </a:defRPr>
            </a:lvl2pPr>
            <a:lvl3pPr>
              <a:defRPr sz="1725" b="1">
                <a:solidFill>
                  <a:srgbClr val="007F86"/>
                </a:solidFill>
                <a:latin typeface="Microsoft JhengHei"/>
                <a:ea typeface="Microsoft JhengHei"/>
                <a:cs typeface="Microsoft JhengHei"/>
              </a:defRPr>
            </a:lvl3pPr>
            <a:lvl4pPr>
              <a:defRPr sz="1725" b="1">
                <a:solidFill>
                  <a:srgbClr val="007F86"/>
                </a:solidFill>
                <a:latin typeface="Microsoft JhengHei"/>
                <a:ea typeface="Microsoft JhengHei"/>
                <a:cs typeface="Microsoft JhengHei"/>
              </a:defRPr>
            </a:lvl4pPr>
            <a:lvl5pPr>
              <a:defRPr sz="1725" b="1">
                <a:solidFill>
                  <a:srgbClr val="007F86"/>
                </a:solidFill>
                <a:latin typeface="Microsoft JhengHei"/>
                <a:ea typeface="Microsoft JhengHei"/>
                <a:cs typeface="Microsoft JhengHei"/>
              </a:defRPr>
            </a:lvl5pPr>
            <a:lvl6pPr>
              <a:defRPr sz="1725" b="1">
                <a:solidFill>
                  <a:srgbClr val="007F86"/>
                </a:solidFill>
                <a:latin typeface="Microsoft JhengHei"/>
                <a:ea typeface="Microsoft JhengHei"/>
                <a:cs typeface="Microsoft JhengHei"/>
              </a:defRPr>
            </a:lvl6pPr>
            <a:lvl7pPr>
              <a:defRPr sz="1725" b="1">
                <a:solidFill>
                  <a:srgbClr val="007F86"/>
                </a:solidFill>
                <a:latin typeface="Microsoft JhengHei"/>
                <a:ea typeface="Microsoft JhengHei"/>
                <a:cs typeface="Microsoft JhengHei"/>
              </a:defRPr>
            </a:lvl7pPr>
            <a:lvl8pPr>
              <a:defRPr sz="1725" b="1">
                <a:solidFill>
                  <a:srgbClr val="007F86"/>
                </a:solidFill>
                <a:latin typeface="Microsoft JhengHei"/>
                <a:ea typeface="Microsoft JhengHei"/>
                <a:cs typeface="Microsoft JhengHei"/>
              </a:defRPr>
            </a:lvl8pPr>
            <a:lvl9pPr>
              <a:defRPr sz="1725" b="1">
                <a:solidFill>
                  <a:srgbClr val="007F86"/>
                </a:solidFill>
                <a:latin typeface="Microsoft JhengHei"/>
                <a:ea typeface="Microsoft JhengHei"/>
                <a:cs typeface="Microsoft JhengHei"/>
              </a:defRPr>
            </a:lvl9pPr>
          </a:lstStyle>
          <a:p>
            <a:pPr>
              <a:defRPr sz="1725" b="1">
                <a:solidFill>
                  <a:srgbClr val="007F86"/>
                </a:solidFill>
                <a:latin typeface="Microsoft JhengHei"/>
                <a:ea typeface="Microsoft JhengHei"/>
                <a:cs typeface="Microsoft JhengHei"/>
              </a:defRPr>
            </a:pPr>
            <a:r>
              <a:rPr sz="1725" b="1">
                <a:solidFill>
                  <a:srgbClr val="007F86"/>
                </a:solidFill>
                <a:latin typeface="Microsoft JhengHei"/>
                <a:ea typeface="Microsoft JhengHei"/>
                <a:cs typeface="Microsoft JhengHei"/>
              </a:rPr>
              <a:t>週六工作事項（後續補充）</a:t>
            </a:r>
          </a:p>
        </p:txBody>
      </p:sp>
      <p:sp>
        <p:nvSpPr>
          <p:cNvPr id="8" name="Rectangle 7">
            <a:extLst>
              <a:ext uri="{FF2B5EF4-FFF2-40B4-BE49-F238E27FC236}">
                <a16:creationId xmlns:a16="http://schemas.microsoft.com/office/drawing/2014/main" id="{F1D0A0BE-B1FC-4A21-BEC9-5BB11BE4A9CD}"/>
              </a:ext>
            </a:extLst>
          </p:cNvPr>
          <p:cNvSpPr>
            <a:spLocks noGrp="1"/>
          </p:cNvSpPr>
          <p:nvPr/>
        </p:nvSpPr>
        <p:spPr>
          <a:xfrm>
            <a:off x="1123950" y="2657475"/>
            <a:ext cx="5791200" cy="137160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Các nội dung công việc dự kiến phát sinh trong ngày Thứ 7 sẽ được cập nhật và hoàn thiện sau.</a:t>
            </a:r>
          </a:p>
        </p:txBody>
      </p:sp>
      <p:sp>
        <p:nvSpPr>
          <p:cNvPr id="9" name="Rectangle 8">
            <a:extLst>
              <a:ext uri="{FF2B5EF4-FFF2-40B4-BE49-F238E27FC236}">
                <a16:creationId xmlns:a16="http://schemas.microsoft.com/office/drawing/2014/main" id="{014154FA-F2FF-45D5-AFA1-FCC6B47540CB}"/>
              </a:ext>
            </a:extLst>
          </p:cNvPr>
          <p:cNvSpPr>
            <a:spLocks noGrp="1"/>
          </p:cNvSpPr>
          <p:nvPr/>
        </p:nvSpPr>
        <p:spPr>
          <a:xfrm>
            <a:off x="7315200" y="2657475"/>
            <a:ext cx="4267200" cy="1371600"/>
          </a:xfrm>
          <a:prstGeom prst="rect">
            <a:avLst/>
          </a:prstGeom>
          <a:noFill/>
          <a:ln w="0">
            <a:noFill/>
          </a:ln>
        </p:spPr>
        <p:txBody>
          <a:bodyPr lIns="0" tIns="0" rIns="0" bIns="0" anchor="t"/>
          <a:lstStyle>
            <a:defPPr>
              <a:defRPr sz="1650" b="0">
                <a:solidFill>
                  <a:srgbClr val="526777"/>
                </a:solidFill>
                <a:latin typeface="Microsoft JhengHei"/>
                <a:ea typeface="Microsoft JhengHei"/>
                <a:cs typeface="Microsoft JhengHei"/>
              </a:defRPr>
            </a:defPPr>
            <a:lvl1pPr>
              <a:defRPr sz="1650" b="0">
                <a:solidFill>
                  <a:srgbClr val="526777"/>
                </a:solidFill>
                <a:latin typeface="Microsoft JhengHei"/>
                <a:ea typeface="Microsoft JhengHei"/>
                <a:cs typeface="Microsoft JhengHei"/>
              </a:defRPr>
            </a:lvl1pPr>
            <a:lvl2pPr>
              <a:defRPr sz="1650" b="0">
                <a:solidFill>
                  <a:srgbClr val="526777"/>
                </a:solidFill>
                <a:latin typeface="Microsoft JhengHei"/>
                <a:ea typeface="Microsoft JhengHei"/>
                <a:cs typeface="Microsoft JhengHei"/>
              </a:defRPr>
            </a:lvl2pPr>
            <a:lvl3pPr>
              <a:defRPr sz="1650" b="0">
                <a:solidFill>
                  <a:srgbClr val="526777"/>
                </a:solidFill>
                <a:latin typeface="Microsoft JhengHei"/>
                <a:ea typeface="Microsoft JhengHei"/>
                <a:cs typeface="Microsoft JhengHei"/>
              </a:defRPr>
            </a:lvl3pPr>
            <a:lvl4pPr>
              <a:defRPr sz="1650" b="0">
                <a:solidFill>
                  <a:srgbClr val="526777"/>
                </a:solidFill>
                <a:latin typeface="Microsoft JhengHei"/>
                <a:ea typeface="Microsoft JhengHei"/>
                <a:cs typeface="Microsoft JhengHei"/>
              </a:defRPr>
            </a:lvl4pPr>
            <a:lvl5pPr>
              <a:defRPr sz="1650" b="0">
                <a:solidFill>
                  <a:srgbClr val="526777"/>
                </a:solidFill>
                <a:latin typeface="Microsoft JhengHei"/>
                <a:ea typeface="Microsoft JhengHei"/>
                <a:cs typeface="Microsoft JhengHei"/>
              </a:defRPr>
            </a:lvl5pPr>
            <a:lvl6pPr>
              <a:defRPr sz="1650" b="0">
                <a:solidFill>
                  <a:srgbClr val="526777"/>
                </a:solidFill>
                <a:latin typeface="Microsoft JhengHei"/>
                <a:ea typeface="Microsoft JhengHei"/>
                <a:cs typeface="Microsoft JhengHei"/>
              </a:defRPr>
            </a:lvl6pPr>
            <a:lvl7pPr>
              <a:defRPr sz="1650" b="0">
                <a:solidFill>
                  <a:srgbClr val="526777"/>
                </a:solidFill>
                <a:latin typeface="Microsoft JhengHei"/>
                <a:ea typeface="Microsoft JhengHei"/>
                <a:cs typeface="Microsoft JhengHei"/>
              </a:defRPr>
            </a:lvl7pPr>
            <a:lvl8pPr>
              <a:defRPr sz="1650" b="0">
                <a:solidFill>
                  <a:srgbClr val="526777"/>
                </a:solidFill>
                <a:latin typeface="Microsoft JhengHei"/>
                <a:ea typeface="Microsoft JhengHei"/>
                <a:cs typeface="Microsoft JhengHei"/>
              </a:defRPr>
            </a:lvl8pPr>
            <a:lvl9pPr>
              <a:defRPr sz="1650" b="0">
                <a:solidFill>
                  <a:srgbClr val="526777"/>
                </a:solidFill>
                <a:latin typeface="Microsoft JhengHei"/>
                <a:ea typeface="Microsoft JhengHei"/>
                <a:cs typeface="Microsoft JhengHei"/>
              </a:defRPr>
            </a:lvl9pPr>
          </a:lstStyle>
          <a:p>
            <a:pPr>
              <a:defRPr sz="1650" b="0">
                <a:solidFill>
                  <a:srgbClr val="526777"/>
                </a:solidFill>
                <a:latin typeface="Microsoft JhengHei"/>
                <a:ea typeface="Microsoft JhengHei"/>
                <a:cs typeface="Microsoft JhengHei"/>
              </a:defRPr>
            </a:pPr>
            <a:r>
              <a:rPr sz="1650" b="0">
                <a:solidFill>
                  <a:srgbClr val="526777"/>
                </a:solidFill>
                <a:latin typeface="Microsoft JhengHei"/>
                <a:ea typeface="Microsoft JhengHei"/>
                <a:cs typeface="Microsoft JhengHei"/>
              </a:rPr>
              <a:t>週六預定執行事項與進度將於後續補充更新。</a:t>
            </a:r>
          </a:p>
        </p:txBody>
      </p:sp>
    </p:spTree>
    <p:extLst>
      <p:ext uri="{BB962C8B-B14F-4D97-AF65-F5344CB8AC3E}">
        <p14:creationId xmlns:p14="http://schemas.microsoft.com/office/powerpoint/2010/main" val="45834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304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956EF33-2C10-43F1-B654-B315C93BF96C}"/>
              </a:ext>
            </a:extLst>
          </p:cNvPr>
          <p:cNvSpPr>
            <a:spLocks noGrp="1"/>
          </p:cNvSpPr>
          <p:nvPr/>
        </p:nvSpPr>
        <p:spPr>
          <a:xfrm>
            <a:off x="685800" y="571500"/>
            <a:ext cx="10477500" cy="333375"/>
          </a:xfrm>
          <a:prstGeom prst="rect">
            <a:avLst/>
          </a:prstGeom>
          <a:noFill/>
          <a:ln w="0">
            <a:noFill/>
          </a:ln>
        </p:spPr>
        <p:txBody>
          <a:bodyPr lIns="0" tIns="0" rIns="0" bIns="0" anchor="t"/>
          <a:lstStyle>
            <a:defPPr>
              <a:defRPr sz="1575" b="1">
                <a:solidFill>
                  <a:srgbClr val="6CD4D0"/>
                </a:solidFill>
                <a:latin typeface="Calibri"/>
                <a:ea typeface="Calibri"/>
                <a:cs typeface="Calibri"/>
              </a:defRPr>
            </a:defPPr>
            <a:lvl1pPr>
              <a:defRPr sz="1575" b="1">
                <a:solidFill>
                  <a:srgbClr val="6CD4D0"/>
                </a:solidFill>
                <a:latin typeface="Calibri"/>
                <a:ea typeface="Calibri"/>
                <a:cs typeface="Calibri"/>
              </a:defRPr>
            </a:lvl1pPr>
            <a:lvl2pPr>
              <a:defRPr sz="1575" b="1">
                <a:solidFill>
                  <a:srgbClr val="6CD4D0"/>
                </a:solidFill>
                <a:latin typeface="Calibri"/>
                <a:ea typeface="Calibri"/>
                <a:cs typeface="Calibri"/>
              </a:defRPr>
            </a:lvl2pPr>
            <a:lvl3pPr>
              <a:defRPr sz="1575" b="1">
                <a:solidFill>
                  <a:srgbClr val="6CD4D0"/>
                </a:solidFill>
                <a:latin typeface="Calibri"/>
                <a:ea typeface="Calibri"/>
                <a:cs typeface="Calibri"/>
              </a:defRPr>
            </a:lvl3pPr>
            <a:lvl4pPr>
              <a:defRPr sz="1575" b="1">
                <a:solidFill>
                  <a:srgbClr val="6CD4D0"/>
                </a:solidFill>
                <a:latin typeface="Calibri"/>
                <a:ea typeface="Calibri"/>
                <a:cs typeface="Calibri"/>
              </a:defRPr>
            </a:lvl4pPr>
            <a:lvl5pPr>
              <a:defRPr sz="1575" b="1">
                <a:solidFill>
                  <a:srgbClr val="6CD4D0"/>
                </a:solidFill>
                <a:latin typeface="Calibri"/>
                <a:ea typeface="Calibri"/>
                <a:cs typeface="Calibri"/>
              </a:defRPr>
            </a:lvl5pPr>
            <a:lvl6pPr>
              <a:defRPr sz="1575" b="1">
                <a:solidFill>
                  <a:srgbClr val="6CD4D0"/>
                </a:solidFill>
                <a:latin typeface="Calibri"/>
                <a:ea typeface="Calibri"/>
                <a:cs typeface="Calibri"/>
              </a:defRPr>
            </a:lvl6pPr>
            <a:lvl7pPr>
              <a:defRPr sz="1575" b="1">
                <a:solidFill>
                  <a:srgbClr val="6CD4D0"/>
                </a:solidFill>
                <a:latin typeface="Calibri"/>
                <a:ea typeface="Calibri"/>
                <a:cs typeface="Calibri"/>
              </a:defRPr>
            </a:lvl7pPr>
            <a:lvl8pPr>
              <a:defRPr sz="1575" b="1">
                <a:solidFill>
                  <a:srgbClr val="6CD4D0"/>
                </a:solidFill>
                <a:latin typeface="Calibri"/>
                <a:ea typeface="Calibri"/>
                <a:cs typeface="Calibri"/>
              </a:defRPr>
            </a:lvl8pPr>
            <a:lvl9pPr>
              <a:defRPr sz="1575" b="1">
                <a:solidFill>
                  <a:srgbClr val="6CD4D0"/>
                </a:solidFill>
                <a:latin typeface="Calibri"/>
                <a:ea typeface="Calibri"/>
                <a:cs typeface="Calibri"/>
              </a:defRPr>
            </a:lvl9pPr>
          </a:lstStyle>
          <a:p>
            <a:pPr>
              <a:defRPr sz="1575" b="1">
                <a:solidFill>
                  <a:srgbClr val="6CD4D0"/>
                </a:solidFill>
                <a:latin typeface="Calibri"/>
                <a:ea typeface="Calibri"/>
                <a:cs typeface="Calibri"/>
              </a:defRPr>
            </a:pPr>
            <a:r>
              <a:rPr sz="1575" b="1">
                <a:solidFill>
                  <a:srgbClr val="6CD4D0"/>
                </a:solidFill>
                <a:latin typeface="Calibri"/>
                <a:ea typeface="Calibri"/>
                <a:cs typeface="Calibri"/>
              </a:rPr>
              <a:t>HONG MING GLOBAL</a:t>
            </a:r>
          </a:p>
        </p:txBody>
      </p:sp>
      <p:sp>
        <p:nvSpPr>
          <p:cNvPr id="2" name="Rectangle 1">
            <a:extLst>
              <a:ext uri="{FF2B5EF4-FFF2-40B4-BE49-F238E27FC236}">
                <a16:creationId xmlns:a16="http://schemas.microsoft.com/office/drawing/2014/main" id="{64CBDC37-9238-4406-A368-5955D2EC7F51}"/>
              </a:ext>
            </a:extLst>
          </p:cNvPr>
          <p:cNvSpPr>
            <a:spLocks noGrp="1"/>
          </p:cNvSpPr>
          <p:nvPr/>
        </p:nvSpPr>
        <p:spPr>
          <a:xfrm>
            <a:off x="685800" y="2057400"/>
            <a:ext cx="10572750" cy="952500"/>
          </a:xfrm>
          <a:prstGeom prst="rect">
            <a:avLst/>
          </a:prstGeom>
          <a:noFill/>
          <a:ln w="0">
            <a:noFill/>
          </a:ln>
        </p:spPr>
        <p:txBody>
          <a:bodyPr lIns="0" tIns="0" rIns="0" bIns="0" anchor="t"/>
          <a:lstStyle>
            <a:defPPr>
              <a:defRPr sz="5250" b="1">
                <a:solidFill>
                  <a:srgbClr val="FFFFFF"/>
                </a:solidFill>
                <a:latin typeface="Calibri"/>
                <a:ea typeface="Calibri"/>
                <a:cs typeface="Calibri"/>
              </a:defRPr>
            </a:defPPr>
            <a:lvl1pPr>
              <a:defRPr sz="5250" b="1">
                <a:solidFill>
                  <a:srgbClr val="FFFFFF"/>
                </a:solidFill>
                <a:latin typeface="Calibri"/>
                <a:ea typeface="Calibri"/>
                <a:cs typeface="Calibri"/>
              </a:defRPr>
            </a:lvl1pPr>
            <a:lvl2pPr>
              <a:defRPr sz="5250" b="1">
                <a:solidFill>
                  <a:srgbClr val="FFFFFF"/>
                </a:solidFill>
                <a:latin typeface="Calibri"/>
                <a:ea typeface="Calibri"/>
                <a:cs typeface="Calibri"/>
              </a:defRPr>
            </a:lvl2pPr>
            <a:lvl3pPr>
              <a:defRPr sz="5250" b="1">
                <a:solidFill>
                  <a:srgbClr val="FFFFFF"/>
                </a:solidFill>
                <a:latin typeface="Calibri"/>
                <a:ea typeface="Calibri"/>
                <a:cs typeface="Calibri"/>
              </a:defRPr>
            </a:lvl3pPr>
            <a:lvl4pPr>
              <a:defRPr sz="5250" b="1">
                <a:solidFill>
                  <a:srgbClr val="FFFFFF"/>
                </a:solidFill>
                <a:latin typeface="Calibri"/>
                <a:ea typeface="Calibri"/>
                <a:cs typeface="Calibri"/>
              </a:defRPr>
            </a:lvl4pPr>
            <a:lvl5pPr>
              <a:defRPr sz="5250" b="1">
                <a:solidFill>
                  <a:srgbClr val="FFFFFF"/>
                </a:solidFill>
                <a:latin typeface="Calibri"/>
                <a:ea typeface="Calibri"/>
                <a:cs typeface="Calibri"/>
              </a:defRPr>
            </a:lvl5pPr>
            <a:lvl6pPr>
              <a:defRPr sz="5250" b="1">
                <a:solidFill>
                  <a:srgbClr val="FFFFFF"/>
                </a:solidFill>
                <a:latin typeface="Calibri"/>
                <a:ea typeface="Calibri"/>
                <a:cs typeface="Calibri"/>
              </a:defRPr>
            </a:lvl6pPr>
            <a:lvl7pPr>
              <a:defRPr sz="5250" b="1">
                <a:solidFill>
                  <a:srgbClr val="FFFFFF"/>
                </a:solidFill>
                <a:latin typeface="Calibri"/>
                <a:ea typeface="Calibri"/>
                <a:cs typeface="Calibri"/>
              </a:defRPr>
            </a:lvl7pPr>
            <a:lvl8pPr>
              <a:defRPr sz="5250" b="1">
                <a:solidFill>
                  <a:srgbClr val="FFFFFF"/>
                </a:solidFill>
                <a:latin typeface="Calibri"/>
                <a:ea typeface="Calibri"/>
                <a:cs typeface="Calibri"/>
              </a:defRPr>
            </a:lvl8pPr>
            <a:lvl9pPr>
              <a:defRPr sz="5250" b="1">
                <a:solidFill>
                  <a:srgbClr val="FFFFFF"/>
                </a:solidFill>
                <a:latin typeface="Calibri"/>
                <a:ea typeface="Calibri"/>
                <a:cs typeface="Calibri"/>
              </a:defRPr>
            </a:lvl9pPr>
          </a:lstStyle>
          <a:p>
            <a:pPr>
              <a:defRPr sz="5250" b="1">
                <a:solidFill>
                  <a:srgbClr val="FFFFFF"/>
                </a:solidFill>
                <a:latin typeface="Calibri"/>
                <a:ea typeface="Calibri"/>
                <a:cs typeface="Calibri"/>
              </a:defRPr>
            </a:pPr>
            <a:r>
              <a:rPr sz="5250" b="1">
                <a:solidFill>
                  <a:srgbClr val="FFFFFF"/>
                </a:solidFill>
                <a:latin typeface="Calibri"/>
                <a:ea typeface="Calibri"/>
                <a:cs typeface="Calibri"/>
              </a:rPr>
              <a:t>KẾ HOẠCH TUẦN TỚI</a:t>
            </a:r>
          </a:p>
        </p:txBody>
      </p:sp>
      <p:sp>
        <p:nvSpPr>
          <p:cNvPr id="3" name="Rectangle 2">
            <a:extLst>
              <a:ext uri="{FF2B5EF4-FFF2-40B4-BE49-F238E27FC236}">
                <a16:creationId xmlns:a16="http://schemas.microsoft.com/office/drawing/2014/main" id="{E449A1CB-7BB8-4D17-B8A6-19DC5ED1F7EF}"/>
              </a:ext>
            </a:extLst>
          </p:cNvPr>
          <p:cNvSpPr>
            <a:spLocks noGrp="1"/>
          </p:cNvSpPr>
          <p:nvPr/>
        </p:nvSpPr>
        <p:spPr>
          <a:xfrm>
            <a:off x="723900" y="3143250"/>
            <a:ext cx="10477500" cy="647700"/>
          </a:xfrm>
          <a:prstGeom prst="rect">
            <a:avLst/>
          </a:prstGeom>
          <a:noFill/>
          <a:ln w="0">
            <a:noFill/>
          </a:ln>
        </p:spPr>
        <p:txBody>
          <a:bodyPr lIns="0" tIns="0" rIns="0" bIns="0" anchor="t"/>
          <a:lstStyle>
            <a:defPPr>
              <a:defRPr sz="2625" b="0">
                <a:solidFill>
                  <a:srgbClr val="6CD4D0"/>
                </a:solidFill>
                <a:latin typeface="Microsoft JhengHei"/>
                <a:ea typeface="Microsoft JhengHei"/>
                <a:cs typeface="Microsoft JhengHei"/>
              </a:defRPr>
            </a:defPPr>
            <a:lvl1pPr>
              <a:defRPr sz="2625" b="0">
                <a:solidFill>
                  <a:srgbClr val="6CD4D0"/>
                </a:solidFill>
                <a:latin typeface="Microsoft JhengHei"/>
                <a:ea typeface="Microsoft JhengHei"/>
                <a:cs typeface="Microsoft JhengHei"/>
              </a:defRPr>
            </a:lvl1pPr>
            <a:lvl2pPr>
              <a:defRPr sz="2625" b="0">
                <a:solidFill>
                  <a:srgbClr val="6CD4D0"/>
                </a:solidFill>
                <a:latin typeface="Microsoft JhengHei"/>
                <a:ea typeface="Microsoft JhengHei"/>
                <a:cs typeface="Microsoft JhengHei"/>
              </a:defRPr>
            </a:lvl2pPr>
            <a:lvl3pPr>
              <a:defRPr sz="2625" b="0">
                <a:solidFill>
                  <a:srgbClr val="6CD4D0"/>
                </a:solidFill>
                <a:latin typeface="Microsoft JhengHei"/>
                <a:ea typeface="Microsoft JhengHei"/>
                <a:cs typeface="Microsoft JhengHei"/>
              </a:defRPr>
            </a:lvl3pPr>
            <a:lvl4pPr>
              <a:defRPr sz="2625" b="0">
                <a:solidFill>
                  <a:srgbClr val="6CD4D0"/>
                </a:solidFill>
                <a:latin typeface="Microsoft JhengHei"/>
                <a:ea typeface="Microsoft JhengHei"/>
                <a:cs typeface="Microsoft JhengHei"/>
              </a:defRPr>
            </a:lvl4pPr>
            <a:lvl5pPr>
              <a:defRPr sz="2625" b="0">
                <a:solidFill>
                  <a:srgbClr val="6CD4D0"/>
                </a:solidFill>
                <a:latin typeface="Microsoft JhengHei"/>
                <a:ea typeface="Microsoft JhengHei"/>
                <a:cs typeface="Microsoft JhengHei"/>
              </a:defRPr>
            </a:lvl5pPr>
            <a:lvl6pPr>
              <a:defRPr sz="2625" b="0">
                <a:solidFill>
                  <a:srgbClr val="6CD4D0"/>
                </a:solidFill>
                <a:latin typeface="Microsoft JhengHei"/>
                <a:ea typeface="Microsoft JhengHei"/>
                <a:cs typeface="Microsoft JhengHei"/>
              </a:defRPr>
            </a:lvl6pPr>
            <a:lvl7pPr>
              <a:defRPr sz="2625" b="0">
                <a:solidFill>
                  <a:srgbClr val="6CD4D0"/>
                </a:solidFill>
                <a:latin typeface="Microsoft JhengHei"/>
                <a:ea typeface="Microsoft JhengHei"/>
                <a:cs typeface="Microsoft JhengHei"/>
              </a:defRPr>
            </a:lvl7pPr>
            <a:lvl8pPr>
              <a:defRPr sz="2625" b="0">
                <a:solidFill>
                  <a:srgbClr val="6CD4D0"/>
                </a:solidFill>
                <a:latin typeface="Microsoft JhengHei"/>
                <a:ea typeface="Microsoft JhengHei"/>
                <a:cs typeface="Microsoft JhengHei"/>
              </a:defRPr>
            </a:lvl8pPr>
            <a:lvl9pPr>
              <a:defRPr sz="2625" b="0">
                <a:solidFill>
                  <a:srgbClr val="6CD4D0"/>
                </a:solidFill>
                <a:latin typeface="Microsoft JhengHei"/>
                <a:ea typeface="Microsoft JhengHei"/>
                <a:cs typeface="Microsoft JhengHei"/>
              </a:defRPr>
            </a:lvl9pPr>
          </a:lstStyle>
          <a:p>
            <a:pPr>
              <a:defRPr sz="2625" b="0">
                <a:solidFill>
                  <a:srgbClr val="6CD4D0"/>
                </a:solidFill>
                <a:latin typeface="Microsoft JhengHei"/>
                <a:ea typeface="Microsoft JhengHei"/>
                <a:cs typeface="Microsoft JhengHei"/>
              </a:defRPr>
            </a:pPr>
            <a:r>
              <a:rPr sz="2625" b="0">
                <a:solidFill>
                  <a:srgbClr val="6CD4D0"/>
                </a:solidFill>
                <a:latin typeface="Microsoft JhengHei"/>
                <a:ea typeface="Microsoft JhengHei"/>
                <a:cs typeface="Microsoft JhengHei"/>
              </a:rPr>
              <a:t>下週工作計畫</a:t>
            </a:r>
          </a:p>
        </p:txBody>
      </p:sp>
      <p:sp>
        <p:nvSpPr>
          <p:cNvPr id="4" name="Rectangle 3">
            <a:extLst>
              <a:ext uri="{FF2B5EF4-FFF2-40B4-BE49-F238E27FC236}">
                <a16:creationId xmlns:a16="http://schemas.microsoft.com/office/drawing/2014/main" id="{04F2DB7D-A3A6-4269-8115-6B94DCB9A69B}"/>
              </a:ext>
            </a:extLst>
          </p:cNvPr>
          <p:cNvSpPr>
            <a:spLocks noGrp="1"/>
          </p:cNvSpPr>
          <p:nvPr/>
        </p:nvSpPr>
        <p:spPr>
          <a:xfrm>
            <a:off x="723900" y="4457700"/>
            <a:ext cx="10477500" cy="495300"/>
          </a:xfrm>
          <a:prstGeom prst="rect">
            <a:avLst/>
          </a:prstGeom>
          <a:noFill/>
          <a:ln w="0">
            <a:noFill/>
          </a:ln>
        </p:spPr>
        <p:txBody>
          <a:bodyPr lIns="0" tIns="0" rIns="0" bIns="0" anchor="t"/>
          <a:lstStyle>
            <a:defPPr>
              <a:defRPr sz="2400" b="0">
                <a:solidFill>
                  <a:srgbClr val="FFFFFF"/>
                </a:solidFill>
                <a:latin typeface="Calibri"/>
                <a:ea typeface="Calibri"/>
                <a:cs typeface="Calibri"/>
              </a:defRPr>
            </a:defPPr>
            <a:lvl1pPr>
              <a:defRPr sz="2400" b="0">
                <a:solidFill>
                  <a:srgbClr val="FFFFFF"/>
                </a:solidFill>
                <a:latin typeface="Calibri"/>
                <a:ea typeface="Calibri"/>
                <a:cs typeface="Calibri"/>
              </a:defRPr>
            </a:lvl1pPr>
            <a:lvl2pPr>
              <a:defRPr sz="2400" b="0">
                <a:solidFill>
                  <a:srgbClr val="FFFFFF"/>
                </a:solidFill>
                <a:latin typeface="Calibri"/>
                <a:ea typeface="Calibri"/>
                <a:cs typeface="Calibri"/>
              </a:defRPr>
            </a:lvl2pPr>
            <a:lvl3pPr>
              <a:defRPr sz="2400" b="0">
                <a:solidFill>
                  <a:srgbClr val="FFFFFF"/>
                </a:solidFill>
                <a:latin typeface="Calibri"/>
                <a:ea typeface="Calibri"/>
                <a:cs typeface="Calibri"/>
              </a:defRPr>
            </a:lvl3pPr>
            <a:lvl4pPr>
              <a:defRPr sz="2400" b="0">
                <a:solidFill>
                  <a:srgbClr val="FFFFFF"/>
                </a:solidFill>
                <a:latin typeface="Calibri"/>
                <a:ea typeface="Calibri"/>
                <a:cs typeface="Calibri"/>
              </a:defRPr>
            </a:lvl4pPr>
            <a:lvl5pPr>
              <a:defRPr sz="2400" b="0">
                <a:solidFill>
                  <a:srgbClr val="FFFFFF"/>
                </a:solidFill>
                <a:latin typeface="Calibri"/>
                <a:ea typeface="Calibri"/>
                <a:cs typeface="Calibri"/>
              </a:defRPr>
            </a:lvl5pPr>
            <a:lvl6pPr>
              <a:defRPr sz="2400" b="0">
                <a:solidFill>
                  <a:srgbClr val="FFFFFF"/>
                </a:solidFill>
                <a:latin typeface="Calibri"/>
                <a:ea typeface="Calibri"/>
                <a:cs typeface="Calibri"/>
              </a:defRPr>
            </a:lvl6pPr>
            <a:lvl7pPr>
              <a:defRPr sz="2400" b="0">
                <a:solidFill>
                  <a:srgbClr val="FFFFFF"/>
                </a:solidFill>
                <a:latin typeface="Calibri"/>
                <a:ea typeface="Calibri"/>
                <a:cs typeface="Calibri"/>
              </a:defRPr>
            </a:lvl7pPr>
            <a:lvl8pPr>
              <a:defRPr sz="2400" b="0">
                <a:solidFill>
                  <a:srgbClr val="FFFFFF"/>
                </a:solidFill>
                <a:latin typeface="Calibri"/>
                <a:ea typeface="Calibri"/>
                <a:cs typeface="Calibri"/>
              </a:defRPr>
            </a:lvl8pPr>
            <a:lvl9pPr>
              <a:defRPr sz="2400" b="0">
                <a:solidFill>
                  <a:srgbClr val="FFFFFF"/>
                </a:solidFill>
                <a:latin typeface="Calibri"/>
                <a:ea typeface="Calibri"/>
                <a:cs typeface="Calibri"/>
              </a:defRPr>
            </a:lvl9pPr>
          </a:lstStyle>
          <a:p>
            <a:pPr>
              <a:defRPr sz="2400" b="0">
                <a:solidFill>
                  <a:srgbClr val="FFFFFF"/>
                </a:solidFill>
                <a:latin typeface="Calibri"/>
                <a:ea typeface="Calibri"/>
                <a:cs typeface="Calibri"/>
              </a:defRPr>
            </a:pPr>
            <a:r>
              <a:rPr sz="2400" b="0">
                <a:solidFill>
                  <a:srgbClr val="FFFFFF"/>
                </a:solidFill>
                <a:latin typeface="Calibri"/>
                <a:ea typeface="Calibri"/>
                <a:cs typeface="Calibri"/>
              </a:rPr>
              <a:t>02.11 – 07.11.2026</a:t>
            </a:r>
          </a:p>
        </p:txBody>
      </p:sp>
      <p:sp>
        <p:nvSpPr>
          <p:cNvPr id="5" name="Rectangle 4">
            <a:extLst>
              <a:ext uri="{FF2B5EF4-FFF2-40B4-BE49-F238E27FC236}">
                <a16:creationId xmlns:a16="http://schemas.microsoft.com/office/drawing/2014/main" id="{08403291-DF8C-4B5C-9500-10D97387233B}"/>
              </a:ext>
            </a:extLst>
          </p:cNvPr>
          <p:cNvSpPr>
            <a:spLocks noGrp="1"/>
          </p:cNvSpPr>
          <p:nvPr/>
        </p:nvSpPr>
        <p:spPr>
          <a:xfrm>
            <a:off x="733425" y="5391150"/>
            <a:ext cx="10477500" cy="342900"/>
          </a:xfrm>
          <a:prstGeom prst="rect">
            <a:avLst/>
          </a:prstGeom>
          <a:noFill/>
          <a:ln w="0">
            <a:noFill/>
          </a:ln>
        </p:spPr>
        <p:txBody>
          <a:bodyPr lIns="0" tIns="0" rIns="0" bIns="0" anchor="t"/>
          <a:lstStyle>
            <a:defPPr>
              <a:defRPr sz="1650" b="0">
                <a:solidFill>
                  <a:srgbClr val="B8CAD7"/>
                </a:solidFill>
                <a:latin typeface="Calibri"/>
                <a:ea typeface="Calibri"/>
                <a:cs typeface="Calibri"/>
              </a:defRPr>
            </a:defPPr>
            <a:lvl1pPr>
              <a:defRPr sz="1650" b="0">
                <a:solidFill>
                  <a:srgbClr val="B8CAD7"/>
                </a:solidFill>
                <a:latin typeface="Calibri"/>
                <a:ea typeface="Calibri"/>
                <a:cs typeface="Calibri"/>
              </a:defRPr>
            </a:lvl1pPr>
            <a:lvl2pPr>
              <a:defRPr sz="1650" b="0">
                <a:solidFill>
                  <a:srgbClr val="B8CAD7"/>
                </a:solidFill>
                <a:latin typeface="Calibri"/>
                <a:ea typeface="Calibri"/>
                <a:cs typeface="Calibri"/>
              </a:defRPr>
            </a:lvl2pPr>
            <a:lvl3pPr>
              <a:defRPr sz="1650" b="0">
                <a:solidFill>
                  <a:srgbClr val="B8CAD7"/>
                </a:solidFill>
                <a:latin typeface="Calibri"/>
                <a:ea typeface="Calibri"/>
                <a:cs typeface="Calibri"/>
              </a:defRPr>
            </a:lvl3pPr>
            <a:lvl4pPr>
              <a:defRPr sz="1650" b="0">
                <a:solidFill>
                  <a:srgbClr val="B8CAD7"/>
                </a:solidFill>
                <a:latin typeface="Calibri"/>
                <a:ea typeface="Calibri"/>
                <a:cs typeface="Calibri"/>
              </a:defRPr>
            </a:lvl4pPr>
            <a:lvl5pPr>
              <a:defRPr sz="1650" b="0">
                <a:solidFill>
                  <a:srgbClr val="B8CAD7"/>
                </a:solidFill>
                <a:latin typeface="Calibri"/>
                <a:ea typeface="Calibri"/>
                <a:cs typeface="Calibri"/>
              </a:defRPr>
            </a:lvl5pPr>
            <a:lvl6pPr>
              <a:defRPr sz="1650" b="0">
                <a:solidFill>
                  <a:srgbClr val="B8CAD7"/>
                </a:solidFill>
                <a:latin typeface="Calibri"/>
                <a:ea typeface="Calibri"/>
                <a:cs typeface="Calibri"/>
              </a:defRPr>
            </a:lvl6pPr>
            <a:lvl7pPr>
              <a:defRPr sz="1650" b="0">
                <a:solidFill>
                  <a:srgbClr val="B8CAD7"/>
                </a:solidFill>
                <a:latin typeface="Calibri"/>
                <a:ea typeface="Calibri"/>
                <a:cs typeface="Calibri"/>
              </a:defRPr>
            </a:lvl7pPr>
            <a:lvl8pPr>
              <a:defRPr sz="1650" b="0">
                <a:solidFill>
                  <a:srgbClr val="B8CAD7"/>
                </a:solidFill>
                <a:latin typeface="Calibri"/>
                <a:ea typeface="Calibri"/>
                <a:cs typeface="Calibri"/>
              </a:defRPr>
            </a:lvl8pPr>
            <a:lvl9pPr>
              <a:defRPr sz="1650" b="0">
                <a:solidFill>
                  <a:srgbClr val="B8CAD7"/>
                </a:solidFill>
                <a:latin typeface="Calibri"/>
                <a:ea typeface="Calibri"/>
                <a:cs typeface="Calibri"/>
              </a:defRPr>
            </a:lvl9pPr>
          </a:lstStyle>
          <a:p>
            <a:pPr>
              <a:defRPr sz="1650" b="0">
                <a:solidFill>
                  <a:srgbClr val="B8CAD7"/>
                </a:solidFill>
                <a:latin typeface="Calibri"/>
                <a:ea typeface="Calibri"/>
                <a:cs typeface="Calibri"/>
              </a:defRPr>
            </a:pPr>
            <a:r>
              <a:rPr sz="1650" b="0">
                <a:solidFill>
                  <a:srgbClr val="B8CAD7"/>
                </a:solidFill>
                <a:latin typeface="Calibri"/>
                <a:ea typeface="Calibri"/>
                <a:cs typeface="Calibri"/>
              </a:rPr>
              <a:t>NGUYEN SY KIM BANG</a:t>
            </a:r>
          </a:p>
        </p:txBody>
      </p:sp>
      <p:sp>
        <p:nvSpPr>
          <p:cNvPr id="6" name="Rectangle 5">
            <a:extLst>
              <a:ext uri="{FF2B5EF4-FFF2-40B4-BE49-F238E27FC236}">
                <a16:creationId xmlns:a16="http://schemas.microsoft.com/office/drawing/2014/main" id="{CA8A6014-052B-4F4F-BFAA-94BC956D59E7}"/>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B8CAD7"/>
                </a:solidFill>
                <a:latin typeface="Calibri"/>
                <a:ea typeface="Calibri"/>
                <a:cs typeface="Calibri"/>
              </a:defRPr>
            </a:defPPr>
            <a:lvl1pPr>
              <a:defRPr sz="1050" b="0">
                <a:solidFill>
                  <a:srgbClr val="B8CAD7"/>
                </a:solidFill>
                <a:latin typeface="Calibri"/>
                <a:ea typeface="Calibri"/>
                <a:cs typeface="Calibri"/>
              </a:defRPr>
            </a:lvl1pPr>
            <a:lvl2pPr>
              <a:defRPr sz="1050" b="0">
                <a:solidFill>
                  <a:srgbClr val="B8CAD7"/>
                </a:solidFill>
                <a:latin typeface="Calibri"/>
                <a:ea typeface="Calibri"/>
                <a:cs typeface="Calibri"/>
              </a:defRPr>
            </a:lvl2pPr>
            <a:lvl3pPr>
              <a:defRPr sz="1050" b="0">
                <a:solidFill>
                  <a:srgbClr val="B8CAD7"/>
                </a:solidFill>
                <a:latin typeface="Calibri"/>
                <a:ea typeface="Calibri"/>
                <a:cs typeface="Calibri"/>
              </a:defRPr>
            </a:lvl3pPr>
            <a:lvl4pPr>
              <a:defRPr sz="1050" b="0">
                <a:solidFill>
                  <a:srgbClr val="B8CAD7"/>
                </a:solidFill>
                <a:latin typeface="Calibri"/>
                <a:ea typeface="Calibri"/>
                <a:cs typeface="Calibri"/>
              </a:defRPr>
            </a:lvl4pPr>
            <a:lvl5pPr>
              <a:defRPr sz="1050" b="0">
                <a:solidFill>
                  <a:srgbClr val="B8CAD7"/>
                </a:solidFill>
                <a:latin typeface="Calibri"/>
                <a:ea typeface="Calibri"/>
                <a:cs typeface="Calibri"/>
              </a:defRPr>
            </a:lvl5pPr>
            <a:lvl6pPr>
              <a:defRPr sz="1050" b="0">
                <a:solidFill>
                  <a:srgbClr val="B8CAD7"/>
                </a:solidFill>
                <a:latin typeface="Calibri"/>
                <a:ea typeface="Calibri"/>
                <a:cs typeface="Calibri"/>
              </a:defRPr>
            </a:lvl6pPr>
            <a:lvl7pPr>
              <a:defRPr sz="1050" b="0">
                <a:solidFill>
                  <a:srgbClr val="B8CAD7"/>
                </a:solidFill>
                <a:latin typeface="Calibri"/>
                <a:ea typeface="Calibri"/>
                <a:cs typeface="Calibri"/>
              </a:defRPr>
            </a:lvl7pPr>
            <a:lvl8pPr>
              <a:defRPr sz="1050" b="0">
                <a:solidFill>
                  <a:srgbClr val="B8CAD7"/>
                </a:solidFill>
                <a:latin typeface="Calibri"/>
                <a:ea typeface="Calibri"/>
                <a:cs typeface="Calibri"/>
              </a:defRPr>
            </a:lvl8pPr>
            <a:lvl9pPr>
              <a:defRPr sz="1050" b="0">
                <a:solidFill>
                  <a:srgbClr val="B8CAD7"/>
                </a:solidFill>
                <a:latin typeface="Calibri"/>
                <a:ea typeface="Calibri"/>
                <a:cs typeface="Calibri"/>
              </a:defRPr>
            </a:lvl9pPr>
          </a:lstStyle>
          <a:p>
            <a:pPr>
              <a:defRPr sz="1050" b="0">
                <a:solidFill>
                  <a:srgbClr val="B8CAD7"/>
                </a:solidFill>
                <a:latin typeface="Calibri"/>
                <a:ea typeface="Calibri"/>
                <a:cs typeface="Calibri"/>
              </a:defRPr>
            </a:pPr>
            <a:r>
              <a:rPr sz="1050" b="0">
                <a:solidFill>
                  <a:srgbClr val="B8CAD7"/>
                </a:solidFill>
                <a:latin typeface="Calibri"/>
                <a:ea typeface="Calibri"/>
                <a:cs typeface="Calibri"/>
              </a:rPr>
              <a:t>09 / 11</a:t>
            </a:r>
          </a:p>
        </p:txBody>
      </p:sp>
    </p:spTree>
    <p:extLst>
      <p:ext uri="{BB962C8B-B14F-4D97-AF65-F5344CB8AC3E}">
        <p14:creationId xmlns:p14="http://schemas.microsoft.com/office/powerpoint/2010/main" val="68759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19C53E5-53DB-477C-A6BB-1C58647F1BE3}"/>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Lịch công việc tuần tới</a:t>
            </a:r>
          </a:p>
        </p:txBody>
      </p:sp>
      <p:sp>
        <p:nvSpPr>
          <p:cNvPr id="2" name="Rectangle 1">
            <a:extLst>
              <a:ext uri="{FF2B5EF4-FFF2-40B4-BE49-F238E27FC236}">
                <a16:creationId xmlns:a16="http://schemas.microsoft.com/office/drawing/2014/main" id="{05BF8BEB-C99E-4E06-A266-C32D85E9A1FB}"/>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02.11 – 07.11.2026  /  下週預定工作排程</a:t>
            </a:r>
          </a:p>
        </p:txBody>
      </p:sp>
      <p:sp>
        <p:nvSpPr>
          <p:cNvPr id="3" name="Rectangle 2">
            <a:extLst>
              <a:ext uri="{FF2B5EF4-FFF2-40B4-BE49-F238E27FC236}">
                <a16:creationId xmlns:a16="http://schemas.microsoft.com/office/drawing/2014/main" id="{FD951C28-B29E-4F87-980A-1047C4F2CBB2}"/>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3504B45A-675C-44F1-A7B5-1A31A24B9499}"/>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10 / 11</a:t>
            </a:r>
          </a:p>
        </p:txBody>
      </p:sp>
      <p:graphicFrame>
        <p:nvGraphicFramePr>
          <p:cNvPr id="5" name="Table 4">
            <a:extLst>
              <a:ext uri="{FF2B5EF4-FFF2-40B4-BE49-F238E27FC236}">
                <a16:creationId xmlns:a16="http://schemas.microsoft.com/office/drawing/2014/main" id="{3E220B1E-8CE5-4FF2-B89A-D8007DB74348}"/>
              </a:ext>
            </a:extLst>
          </p:cNvPr>
          <p:cNvGraphicFramePr/>
          <p:nvPr/>
        </p:nvGraphicFramePr>
        <p:xfrm>
          <a:off x="571500" y="1362075"/>
          <a:ext cx="11049000" cy="4813935"/>
        </p:xfrm>
        <a:graphic>
          <a:graphicData uri="http://schemas.openxmlformats.org/drawingml/2006/table">
            <a:tbl>
              <a:tblPr/>
              <a:tblGrid>
                <a:gridCol w="1162050">
                  <a:extLst>
                    <a:ext uri="{9D8B030D-6E8A-4147-A177-3AD203B41FA5}">
                      <a16:colId xmlns:a16="http://schemas.microsoft.com/office/drawing/2014/main" val="20000"/>
                    </a:ext>
                  </a:extLst>
                </a:gridCol>
                <a:gridCol w="4943475">
                  <a:extLst>
                    <a:ext uri="{9D8B030D-6E8A-4147-A177-3AD203B41FA5}">
                      <a16:colId xmlns:a16="http://schemas.microsoft.com/office/drawing/2014/main" val="20001"/>
                    </a:ext>
                  </a:extLst>
                </a:gridCol>
                <a:gridCol w="4943475">
                  <a:extLst>
                    <a:ext uri="{9D8B030D-6E8A-4147-A177-3AD203B41FA5}">
                      <a16:colId xmlns:a16="http://schemas.microsoft.com/office/drawing/2014/main" val="20002"/>
                    </a:ext>
                  </a:extLst>
                </a:gridCol>
              </a:tblGrid>
              <a:tr h="447675">
                <a:tc>
                  <a:txBody>
                    <a:bodyPr/>
                    <a:lstStyle/>
                    <a:p>
                      <a:r>
                        <a:rPr sz="1275" b="1">
                          <a:solidFill>
                            <a:srgbClr val="FFFFFF"/>
                          </a:solidFill>
                          <a:latin typeface="Calibri"/>
                          <a:ea typeface="Calibri"/>
                          <a:cs typeface="Calibri"/>
                        </a:rPr>
                        <a:t>NGÀY / 日期</a:t>
                      </a:r>
                    </a:p>
                  </a:txBody>
                  <a:tcPr anchor="ctr">
                    <a:lnL w="5715">
                      <a:solidFill>
                        <a:srgbClr val="DBE5EC"/>
                      </a:solidFill>
                      <a:prstDash val="solid"/>
                    </a:lnL>
                    <a:lnR w="5715">
                      <a:solidFill>
                        <a:srgbClr val="DBE5EC"/>
                      </a:solidFill>
                      <a:prstDash val="solid"/>
                    </a:lnR>
                    <a:lnT w="5715">
                      <a:solidFill>
                        <a:srgbClr val="DBE5EC"/>
                      </a:solidFill>
                      <a:prstDash val="solid"/>
                    </a:lnT>
                    <a:lnB w="5715">
                      <a:solidFill>
                        <a:srgbClr val="DBE5EC"/>
                      </a:solidFill>
                      <a:prstDash val="solid"/>
                    </a:lnB>
                    <a:solidFill>
                      <a:srgbClr val="12304A"/>
                    </a:solidFill>
                  </a:tcPr>
                </a:tc>
                <a:tc>
                  <a:txBody>
                    <a:bodyPr/>
                    <a:lstStyle/>
                    <a:p>
                      <a:r>
                        <a:rPr sz="1275" b="1">
                          <a:solidFill>
                            <a:srgbClr val="FFFFFF"/>
                          </a:solidFill>
                          <a:latin typeface="Calibri"/>
                          <a:ea typeface="Calibri"/>
                          <a:cs typeface="Calibri"/>
                        </a:rPr>
                        <a:t>SÁNG / 上午  ·  08:00–12:00</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a:solidFill>
                        <a:srgbClr val="DBE5EC"/>
                      </a:solidFill>
                      <a:prstDash val="solid"/>
                    </a:lnT>
                    <a:lnB w="5715">
                      <a:solidFill>
                        <a:srgbClr val="DBE5EC"/>
                      </a:solidFill>
                      <a:prstDash val="solid"/>
                    </a:lnB>
                    <a:solidFill>
                      <a:srgbClr val="12304A"/>
                    </a:solidFill>
                  </a:tcPr>
                </a:tc>
                <a:tc>
                  <a:txBody>
                    <a:bodyPr/>
                    <a:lstStyle/>
                    <a:p>
                      <a:r>
                        <a:rPr sz="1275" b="1">
                          <a:solidFill>
                            <a:srgbClr val="FFFFFF"/>
                          </a:solidFill>
                          <a:latin typeface="Calibri"/>
                          <a:ea typeface="Calibri"/>
                          <a:cs typeface="Calibri"/>
                        </a:rPr>
                        <a:t>CHIỀU / 下午  ·  13:00–17:00</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a:solidFill>
                        <a:srgbClr val="DBE5EC"/>
                      </a:solidFill>
                      <a:prstDash val="solid"/>
                    </a:lnT>
                    <a:lnB w="5715">
                      <a:solidFill>
                        <a:srgbClr val="DBE5EC"/>
                      </a:solidFill>
                      <a:prstDash val="solid"/>
                    </a:lnB>
                    <a:solidFill>
                      <a:srgbClr val="12304A"/>
                    </a:solidFill>
                  </a:tcPr>
                </a:tc>
                <a:extLst>
                  <a:ext uri="{0D108BD9-81ED-4DB2-BD59-A6C34878D82A}">
                    <a16:rowId xmlns:a16="http://schemas.microsoft.com/office/drawing/2014/main" val="10000"/>
                  </a:ext>
                </a:extLst>
              </a:tr>
              <a:tr h="666750">
                <a:tc>
                  <a:txBody>
                    <a:bodyPr/>
                    <a:lstStyle/>
                    <a:p>
                      <a:r>
                        <a:rPr sz="1200" b="1">
                          <a:solidFill>
                            <a:srgbClr val="20384B"/>
                          </a:solidFill>
                          <a:latin typeface="Calibri"/>
                          <a:ea typeface="Calibri"/>
                          <a:cs typeface="Calibri"/>
                        </a:rPr>
                        <a:t>11/02 (一)</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Theo dõi công nợ, kiểm tra danh mục Darfon.</a:t>
                      </a:r>
                    </a:p>
                    <a:p>
                      <a:r>
                        <a:rPr sz="1125" b="0">
                          <a:solidFill>
                            <a:srgbClr val="526777"/>
                          </a:solidFill>
                          <a:latin typeface="Microsoft JhengHei"/>
                          <a:ea typeface="Microsoft JhengHei"/>
                          <a:cs typeface="Microsoft JhengHei"/>
                        </a:rPr>
                        <a:t>追蹤應收帳款，核對達方設備清冊。</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Xử lý các đầu việc được anh Sung bàn giao.</a:t>
                      </a:r>
                    </a:p>
                    <a:p>
                      <a:r>
                        <a:rPr sz="1125" b="0">
                          <a:solidFill>
                            <a:srgbClr val="526777"/>
                          </a:solidFill>
                          <a:latin typeface="Microsoft JhengHei"/>
                          <a:ea typeface="Microsoft JhengHei"/>
                          <a:cs typeface="Microsoft JhengHei"/>
                        </a:rPr>
                        <a:t>落實執行交接之各項專案工作。</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1"/>
                  </a:ext>
                </a:extLst>
              </a:tr>
              <a:tr h="666750">
                <a:tc>
                  <a:txBody>
                    <a:bodyPr/>
                    <a:lstStyle/>
                    <a:p>
                      <a:r>
                        <a:rPr sz="1200" b="1">
                          <a:solidFill>
                            <a:srgbClr val="20384B"/>
                          </a:solidFill>
                          <a:latin typeface="Calibri"/>
                          <a:ea typeface="Calibri"/>
                          <a:cs typeface="Calibri"/>
                        </a:rPr>
                        <a:t>11/03 (二)</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Đôn đốc công nợ Vonmax và các dự án đến hạn.</a:t>
                      </a:r>
                    </a:p>
                    <a:p>
                      <a:r>
                        <a:rPr sz="1125" b="0">
                          <a:solidFill>
                            <a:srgbClr val="526777"/>
                          </a:solidFill>
                          <a:latin typeface="Microsoft JhengHei"/>
                          <a:ea typeface="Microsoft JhengHei"/>
                          <a:cs typeface="Microsoft JhengHei"/>
                        </a:rPr>
                        <a:t>催收 Vonmax 及到期款項。</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Hoàn thiện phương án kỹ thuật sau khảo sát.</a:t>
                      </a:r>
                    </a:p>
                    <a:p>
                      <a:r>
                        <a:rPr sz="1125" b="0">
                          <a:solidFill>
                            <a:srgbClr val="526777"/>
                          </a:solidFill>
                          <a:latin typeface="Microsoft JhengHei"/>
                          <a:ea typeface="Microsoft JhengHei"/>
                          <a:cs typeface="Microsoft JhengHei"/>
                        </a:rPr>
                        <a:t>完善現場實地勘查後技術方案。</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extLst>
                  <a:ext uri="{0D108BD9-81ED-4DB2-BD59-A6C34878D82A}">
                    <a16:rowId xmlns:a16="http://schemas.microsoft.com/office/drawing/2014/main" val="10002"/>
                  </a:ext>
                </a:extLst>
              </a:tr>
              <a:tr h="666750">
                <a:tc>
                  <a:txBody>
                    <a:bodyPr/>
                    <a:lstStyle/>
                    <a:p>
                      <a:r>
                        <a:rPr sz="1200" b="1">
                          <a:solidFill>
                            <a:srgbClr val="20384B"/>
                          </a:solidFill>
                          <a:latin typeface="Calibri"/>
                          <a:ea typeface="Calibri"/>
                          <a:cs typeface="Calibri"/>
                        </a:rPr>
                        <a:t>11/04 (三)</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Theo dõi công nợ, đối chiếu các khoản thu dự án.</a:t>
                      </a:r>
                    </a:p>
                    <a:p>
                      <a:r>
                        <a:rPr sz="1125" b="0">
                          <a:solidFill>
                            <a:srgbClr val="526777"/>
                          </a:solidFill>
                          <a:latin typeface="Microsoft JhengHei"/>
                          <a:ea typeface="Microsoft JhengHei"/>
                          <a:cs typeface="Microsoft JhengHei"/>
                        </a:rPr>
                        <a:t>追蹤各專案應收帳款。</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Chuẩn bị chứng từ giao hàng thiết bị Darfon.</a:t>
                      </a:r>
                    </a:p>
                    <a:p>
                      <a:r>
                        <a:rPr sz="1125" b="0">
                          <a:solidFill>
                            <a:srgbClr val="526777"/>
                          </a:solidFill>
                          <a:latin typeface="Microsoft JhengHei"/>
                          <a:ea typeface="Microsoft JhengHei"/>
                          <a:cs typeface="Microsoft JhengHei"/>
                        </a:rPr>
                        <a:t>準備達方設備出貨交接憑證。</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3"/>
                  </a:ext>
                </a:extLst>
              </a:tr>
              <a:tr h="666750">
                <a:tc>
                  <a:txBody>
                    <a:bodyPr/>
                    <a:lstStyle/>
                    <a:p>
                      <a:r>
                        <a:rPr sz="1200" b="1">
                          <a:solidFill>
                            <a:srgbClr val="20384B"/>
                          </a:solidFill>
                          <a:latin typeface="Calibri"/>
                          <a:ea typeface="Calibri"/>
                          <a:cs typeface="Calibri"/>
                        </a:rPr>
                        <a:t>11/05 (四)</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Rà soát tiến độ các đầu việc anh Sung bàn giao.</a:t>
                      </a:r>
                    </a:p>
                    <a:p>
                      <a:r>
                        <a:rPr sz="1125" b="0">
                          <a:solidFill>
                            <a:srgbClr val="526777"/>
                          </a:solidFill>
                          <a:latin typeface="Microsoft JhengHei"/>
                          <a:ea typeface="Microsoft JhengHei"/>
                          <a:cs typeface="Microsoft JhengHei"/>
                        </a:rPr>
                        <a:t>盤點 Sung 主管交接各專案工作。</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Theo dõi công nợ và cập nhật bảng theo dõi.</a:t>
                      </a:r>
                    </a:p>
                    <a:p>
                      <a:r>
                        <a:rPr sz="1125" b="0">
                          <a:solidFill>
                            <a:srgbClr val="526777"/>
                          </a:solidFill>
                          <a:latin typeface="Microsoft JhengHei"/>
                          <a:ea typeface="Microsoft JhengHei"/>
                          <a:cs typeface="Microsoft JhengHei"/>
                        </a:rPr>
                        <a:t>持續追蹤應收帳款並更新表單。</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extLst>
                  <a:ext uri="{0D108BD9-81ED-4DB2-BD59-A6C34878D82A}">
                    <a16:rowId xmlns:a16="http://schemas.microsoft.com/office/drawing/2014/main" val="10004"/>
                  </a:ext>
                </a:extLst>
              </a:tr>
              <a:tr h="666750">
                <a:tc>
                  <a:txBody>
                    <a:bodyPr/>
                    <a:lstStyle/>
                    <a:p>
                      <a:r>
                        <a:rPr sz="1200" b="1">
                          <a:solidFill>
                            <a:srgbClr val="20384B"/>
                          </a:solidFill>
                          <a:latin typeface="Calibri"/>
                          <a:ea typeface="Calibri"/>
                          <a:cs typeface="Calibri"/>
                        </a:rPr>
                        <a:t>11/06 (五)</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Theo dõi công nợ các dự án đang triển khai.</a:t>
                      </a:r>
                    </a:p>
                    <a:p>
                      <a:r>
                        <a:rPr sz="1125" b="0">
                          <a:solidFill>
                            <a:srgbClr val="526777"/>
                          </a:solidFill>
                          <a:latin typeface="Microsoft JhengHei"/>
                          <a:ea typeface="Microsoft JhengHei"/>
                          <a:cs typeface="Microsoft JhengHei"/>
                        </a:rPr>
                        <a:t>追蹤各在建專案應收帳款。</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pPr>
                        <a:spcAft>
                          <a:spcPts val="2"/>
                        </a:spcAft>
                      </a:pPr>
                      <a:r>
                        <a:rPr sz="1200" b="0">
                          <a:solidFill>
                            <a:srgbClr val="20384B"/>
                          </a:solidFill>
                          <a:latin typeface="Calibri"/>
                          <a:ea typeface="Calibri"/>
                          <a:cs typeface="Calibri"/>
                        </a:rPr>
                        <a:t>Tổng kết công việc tuần, chuẩn bị báo cáo tuần.</a:t>
                      </a:r>
                    </a:p>
                    <a:p>
                      <a:r>
                        <a:rPr sz="1125" b="0">
                          <a:solidFill>
                            <a:srgbClr val="526777"/>
                          </a:solidFill>
                          <a:latin typeface="Microsoft JhengHei"/>
                          <a:ea typeface="Microsoft JhengHei"/>
                          <a:cs typeface="Microsoft JhengHei"/>
                        </a:rPr>
                        <a:t>總結本週各項工作，編製週報。</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5"/>
                  </a:ext>
                </a:extLst>
              </a:tr>
              <a:tr h="666750">
                <a:tc>
                  <a:txBody>
                    <a:bodyPr/>
                    <a:lstStyle/>
                    <a:p>
                      <a:r>
                        <a:rPr sz="1200" b="1">
                          <a:solidFill>
                            <a:srgbClr val="20384B"/>
                          </a:solidFill>
                          <a:latin typeface="Calibri"/>
                          <a:ea typeface="Calibri"/>
                          <a:cs typeface="Calibri"/>
                        </a:rPr>
                        <a:t>11/07 (六)</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Sắp xếp, lưu trữ hồ sơ dự án và công nợ tuần.</a:t>
                      </a:r>
                    </a:p>
                    <a:p>
                      <a:r>
                        <a:rPr sz="1125" b="0">
                          <a:solidFill>
                            <a:srgbClr val="526777"/>
                          </a:solidFill>
                          <a:latin typeface="Microsoft JhengHei"/>
                          <a:ea typeface="Microsoft JhengHei"/>
                          <a:cs typeface="Microsoft JhengHei"/>
                        </a:rPr>
                        <a:t>整理歸檔專案文件與資料。</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tc>
                  <a:txBody>
                    <a:bodyPr/>
                    <a:lstStyle/>
                    <a:p>
                      <a:pPr>
                        <a:spcAft>
                          <a:spcPts val="2"/>
                        </a:spcAft>
                      </a:pPr>
                      <a:r>
                        <a:rPr sz="1200" b="0">
                          <a:solidFill>
                            <a:srgbClr val="20384B"/>
                          </a:solidFill>
                          <a:latin typeface="Calibri"/>
                          <a:ea typeface="Calibri"/>
                          <a:cs typeface="Calibri"/>
                        </a:rPr>
                        <a:t>Rà soát lại toàn bộ công việc tuần mới.</a:t>
                      </a:r>
                    </a:p>
                    <a:p>
                      <a:r>
                        <a:rPr sz="1125" b="0">
                          <a:solidFill>
                            <a:srgbClr val="526777"/>
                          </a:solidFill>
                          <a:latin typeface="Microsoft JhengHei"/>
                          <a:ea typeface="Microsoft JhengHei"/>
                          <a:cs typeface="Microsoft JhengHei"/>
                        </a:rPr>
                        <a:t>盤點各項待辦業務，準備新週排程。</a:t>
                      </a: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FFFFF"/>
                    </a:solidFill>
                  </a:tcPr>
                </a:tc>
                <a:extLst>
                  <a:ext uri="{0D108BD9-81ED-4DB2-BD59-A6C34878D82A}">
                    <a16:rowId xmlns:a16="http://schemas.microsoft.com/office/drawing/2014/main" val="10006"/>
                  </a:ext>
                </a:extLst>
              </a:tr>
              <a:tr h="304800">
                <a:tc>
                  <a:txBody>
                    <a:bodyPr/>
                    <a:lstStyle/>
                    <a:p>
                      <a:r>
                        <a:rPr sz="1200" b="1">
                          <a:solidFill>
                            <a:srgbClr val="20384B"/>
                          </a:solidFill>
                          <a:latin typeface="Calibri"/>
                          <a:ea typeface="Calibri"/>
                          <a:cs typeface="Calibri"/>
                        </a:rPr>
                        <a:t>11/08 (日)</a:t>
                      </a:r>
                    </a:p>
                  </a:txBody>
                  <a:tcPr anchor="ctr">
                    <a:lnL w="5715">
                      <a:solidFill>
                        <a:srgbClr val="DBE5EC"/>
                      </a:solidFill>
                      <a:prstDash val="soli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endParaRP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tc>
                  <a:txBody>
                    <a:bodyPr/>
                    <a:lstStyle/>
                    <a:p>
                      <a:endParaRPr/>
                    </a:p>
                  </a:txBody>
                  <a:tcPr anchor="ctr">
                    <a:lnL w="5715" cap="flat" cmpd="sng" algn="ctr">
                      <a:solidFill>
                        <a:srgbClr val="DBE5EC"/>
                      </a:solidFill>
                      <a:prstDash val="solid"/>
                      <a:round/>
                      <a:headEnd type="none" w="med" len="med"/>
                      <a:tailEnd type="none" w="med" len="med"/>
                    </a:lnL>
                    <a:lnR w="5715">
                      <a:solidFill>
                        <a:srgbClr val="DBE5EC"/>
                      </a:solidFill>
                      <a:prstDash val="solid"/>
                    </a:lnR>
                    <a:lnT w="5715" cap="flat" cmpd="sng" algn="ctr">
                      <a:solidFill>
                        <a:srgbClr val="DBE5EC"/>
                      </a:solidFill>
                      <a:prstDash val="solid"/>
                      <a:round/>
                      <a:headEnd type="none" w="med" len="med"/>
                      <a:tailEnd type="none" w="med" len="med"/>
                    </a:lnT>
                    <a:lnB w="5715">
                      <a:solidFill>
                        <a:srgbClr val="DBE5EC"/>
                      </a:solidFill>
                      <a:prstDash val="solid"/>
                    </a:lnB>
                    <a:solidFill>
                      <a:srgbClr val="F5F8FA"/>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B4136C41-BC00-46A6-8A26-8D13B155D7AB}"/>
              </a:ext>
            </a:extLst>
          </p:cNvPr>
          <p:cNvSpPr>
            <a:spLocks noGrp="1"/>
          </p:cNvSpPr>
          <p:nvPr/>
        </p:nvSpPr>
        <p:spPr>
          <a:xfrm>
            <a:off x="590550" y="6267450"/>
            <a:ext cx="10991850" cy="209550"/>
          </a:xfrm>
          <a:prstGeom prst="rect">
            <a:avLst/>
          </a:prstGeom>
          <a:noFill/>
          <a:ln w="0">
            <a:noFill/>
          </a:ln>
        </p:spPr>
        <p:txBody>
          <a:bodyPr lIns="0" tIns="0" rIns="0" bIns="0" anchor="t"/>
          <a:lstStyle>
            <a:defPPr>
              <a:defRPr sz="1050" b="0">
                <a:solidFill>
                  <a:srgbClr val="526777"/>
                </a:solidFill>
                <a:latin typeface="Microsoft JhengHei"/>
                <a:ea typeface="Microsoft JhengHei"/>
                <a:cs typeface="Microsoft JhengHei"/>
              </a:defRPr>
            </a:defPPr>
            <a:lvl1pPr>
              <a:defRPr sz="1050" b="0">
                <a:solidFill>
                  <a:srgbClr val="526777"/>
                </a:solidFill>
                <a:latin typeface="Microsoft JhengHei"/>
                <a:ea typeface="Microsoft JhengHei"/>
                <a:cs typeface="Microsoft JhengHei"/>
              </a:defRPr>
            </a:lvl1pPr>
            <a:lvl2pPr>
              <a:defRPr sz="1050" b="0">
                <a:solidFill>
                  <a:srgbClr val="526777"/>
                </a:solidFill>
                <a:latin typeface="Microsoft JhengHei"/>
                <a:ea typeface="Microsoft JhengHei"/>
                <a:cs typeface="Microsoft JhengHei"/>
              </a:defRPr>
            </a:lvl2pPr>
            <a:lvl3pPr>
              <a:defRPr sz="1050" b="0">
                <a:solidFill>
                  <a:srgbClr val="526777"/>
                </a:solidFill>
                <a:latin typeface="Microsoft JhengHei"/>
                <a:ea typeface="Microsoft JhengHei"/>
                <a:cs typeface="Microsoft JhengHei"/>
              </a:defRPr>
            </a:lvl3pPr>
            <a:lvl4pPr>
              <a:defRPr sz="1050" b="0">
                <a:solidFill>
                  <a:srgbClr val="526777"/>
                </a:solidFill>
                <a:latin typeface="Microsoft JhengHei"/>
                <a:ea typeface="Microsoft JhengHei"/>
                <a:cs typeface="Microsoft JhengHei"/>
              </a:defRPr>
            </a:lvl4pPr>
            <a:lvl5pPr>
              <a:defRPr sz="1050" b="0">
                <a:solidFill>
                  <a:srgbClr val="526777"/>
                </a:solidFill>
                <a:latin typeface="Microsoft JhengHei"/>
                <a:ea typeface="Microsoft JhengHei"/>
                <a:cs typeface="Microsoft JhengHei"/>
              </a:defRPr>
            </a:lvl5pPr>
            <a:lvl6pPr>
              <a:defRPr sz="1050" b="0">
                <a:solidFill>
                  <a:srgbClr val="526777"/>
                </a:solidFill>
                <a:latin typeface="Microsoft JhengHei"/>
                <a:ea typeface="Microsoft JhengHei"/>
                <a:cs typeface="Microsoft JhengHei"/>
              </a:defRPr>
            </a:lvl6pPr>
            <a:lvl7pPr>
              <a:defRPr sz="1050" b="0">
                <a:solidFill>
                  <a:srgbClr val="526777"/>
                </a:solidFill>
                <a:latin typeface="Microsoft JhengHei"/>
                <a:ea typeface="Microsoft JhengHei"/>
                <a:cs typeface="Microsoft JhengHei"/>
              </a:defRPr>
            </a:lvl7pPr>
            <a:lvl8pPr>
              <a:defRPr sz="1050" b="0">
                <a:solidFill>
                  <a:srgbClr val="526777"/>
                </a:solidFill>
                <a:latin typeface="Microsoft JhengHei"/>
                <a:ea typeface="Microsoft JhengHei"/>
                <a:cs typeface="Microsoft JhengHei"/>
              </a:defRPr>
            </a:lvl8pPr>
            <a:lvl9pPr>
              <a:defRPr sz="1050" b="0">
                <a:solidFill>
                  <a:srgbClr val="526777"/>
                </a:solidFill>
                <a:latin typeface="Microsoft JhengHei"/>
                <a:ea typeface="Microsoft JhengHei"/>
                <a:cs typeface="Microsoft JhengHei"/>
              </a:defRPr>
            </a:lvl9pPr>
          </a:lstStyle>
          <a:p>
            <a:pPr>
              <a:defRPr sz="1050" b="0">
                <a:solidFill>
                  <a:srgbClr val="526777"/>
                </a:solidFill>
                <a:latin typeface="Microsoft JhengHei"/>
                <a:ea typeface="Microsoft JhengHei"/>
                <a:cs typeface="Microsoft JhengHei"/>
              </a:defRPr>
            </a:pPr>
            <a:r>
              <a:rPr sz="1050" b="0">
                <a:solidFill>
                  <a:srgbClr val="526777"/>
                </a:solidFill>
                <a:latin typeface="Microsoft JhengHei"/>
                <a:ea typeface="Microsoft JhengHei"/>
                <a:cs typeface="Microsoft JhengHei"/>
              </a:rPr>
              <a:t>Nghỉ trưa / 午休  12:00–13:00   ·   Tăng ca / 加班  18:00–20:00: chưa có nội dung trong lịch gốc</a:t>
            </a:r>
          </a:p>
        </p:txBody>
      </p:sp>
    </p:spTree>
    <p:extLst>
      <p:ext uri="{BB962C8B-B14F-4D97-AF65-F5344CB8AC3E}">
        <p14:creationId xmlns:p14="http://schemas.microsoft.com/office/powerpoint/2010/main" val="720937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A5A86D-79BA-4F19-9C3D-B15BDA65598E}"/>
              </a:ext>
            </a:extLst>
          </p:cNvPr>
          <p:cNvSpPr>
            <a:spLocks noGrp="1"/>
          </p:cNvSpPr>
          <p:nvPr/>
        </p:nvSpPr>
        <p:spPr>
          <a:xfrm>
            <a:off x="552450" y="361950"/>
            <a:ext cx="11049000" cy="552450"/>
          </a:xfrm>
          <a:prstGeom prst="rect">
            <a:avLst/>
          </a:prstGeom>
          <a:noFill/>
          <a:ln w="0">
            <a:noFill/>
          </a:ln>
        </p:spPr>
        <p:txBody>
          <a:bodyPr lIns="0" tIns="0" rIns="0" bIns="0" anchor="t"/>
          <a:lstStyle>
            <a:defPPr>
              <a:defRPr sz="2850" b="1">
                <a:solidFill>
                  <a:srgbClr val="12304A"/>
                </a:solidFill>
                <a:latin typeface="Calibri"/>
                <a:ea typeface="Calibri"/>
                <a:cs typeface="Calibri"/>
              </a:defRPr>
            </a:defPPr>
            <a:lvl1pPr>
              <a:defRPr sz="2850" b="1">
                <a:solidFill>
                  <a:srgbClr val="12304A"/>
                </a:solidFill>
                <a:latin typeface="Calibri"/>
                <a:ea typeface="Calibri"/>
                <a:cs typeface="Calibri"/>
              </a:defRPr>
            </a:lvl1pPr>
            <a:lvl2pPr>
              <a:defRPr sz="2850" b="1">
                <a:solidFill>
                  <a:srgbClr val="12304A"/>
                </a:solidFill>
                <a:latin typeface="Calibri"/>
                <a:ea typeface="Calibri"/>
                <a:cs typeface="Calibri"/>
              </a:defRPr>
            </a:lvl2pPr>
            <a:lvl3pPr>
              <a:defRPr sz="2850" b="1">
                <a:solidFill>
                  <a:srgbClr val="12304A"/>
                </a:solidFill>
                <a:latin typeface="Calibri"/>
                <a:ea typeface="Calibri"/>
                <a:cs typeface="Calibri"/>
              </a:defRPr>
            </a:lvl3pPr>
            <a:lvl4pPr>
              <a:defRPr sz="2850" b="1">
                <a:solidFill>
                  <a:srgbClr val="12304A"/>
                </a:solidFill>
                <a:latin typeface="Calibri"/>
                <a:ea typeface="Calibri"/>
                <a:cs typeface="Calibri"/>
              </a:defRPr>
            </a:lvl4pPr>
            <a:lvl5pPr>
              <a:defRPr sz="2850" b="1">
                <a:solidFill>
                  <a:srgbClr val="12304A"/>
                </a:solidFill>
                <a:latin typeface="Calibri"/>
                <a:ea typeface="Calibri"/>
                <a:cs typeface="Calibri"/>
              </a:defRPr>
            </a:lvl5pPr>
            <a:lvl6pPr>
              <a:defRPr sz="2850" b="1">
                <a:solidFill>
                  <a:srgbClr val="12304A"/>
                </a:solidFill>
                <a:latin typeface="Calibri"/>
                <a:ea typeface="Calibri"/>
                <a:cs typeface="Calibri"/>
              </a:defRPr>
            </a:lvl6pPr>
            <a:lvl7pPr>
              <a:defRPr sz="2850" b="1">
                <a:solidFill>
                  <a:srgbClr val="12304A"/>
                </a:solidFill>
                <a:latin typeface="Calibri"/>
                <a:ea typeface="Calibri"/>
                <a:cs typeface="Calibri"/>
              </a:defRPr>
            </a:lvl7pPr>
            <a:lvl8pPr>
              <a:defRPr sz="2850" b="1">
                <a:solidFill>
                  <a:srgbClr val="12304A"/>
                </a:solidFill>
                <a:latin typeface="Calibri"/>
                <a:ea typeface="Calibri"/>
                <a:cs typeface="Calibri"/>
              </a:defRPr>
            </a:lvl8pPr>
            <a:lvl9pPr>
              <a:defRPr sz="2850" b="1">
                <a:solidFill>
                  <a:srgbClr val="12304A"/>
                </a:solidFill>
                <a:latin typeface="Calibri"/>
                <a:ea typeface="Calibri"/>
                <a:cs typeface="Calibri"/>
              </a:defRPr>
            </a:lvl9pPr>
          </a:lstStyle>
          <a:p>
            <a:pPr>
              <a:defRPr sz="2850" b="1">
                <a:solidFill>
                  <a:srgbClr val="12304A"/>
                </a:solidFill>
                <a:latin typeface="Calibri"/>
                <a:ea typeface="Calibri"/>
                <a:cs typeface="Calibri"/>
              </a:defRPr>
            </a:pPr>
            <a:r>
              <a:rPr sz="2850" b="1">
                <a:solidFill>
                  <a:srgbClr val="12304A"/>
                </a:solidFill>
                <a:latin typeface="Calibri"/>
                <a:ea typeface="Calibri"/>
                <a:cs typeface="Calibri"/>
              </a:rPr>
              <a:t>Các việc cần tiếp tục theo dõi</a:t>
            </a:r>
          </a:p>
        </p:txBody>
      </p:sp>
      <p:sp>
        <p:nvSpPr>
          <p:cNvPr id="2" name="Rectangle 1">
            <a:extLst>
              <a:ext uri="{FF2B5EF4-FFF2-40B4-BE49-F238E27FC236}">
                <a16:creationId xmlns:a16="http://schemas.microsoft.com/office/drawing/2014/main" id="{EBAAB787-5D2A-472D-8ACA-66FF8493B5E8}"/>
              </a:ext>
            </a:extLst>
          </p:cNvPr>
          <p:cNvSpPr>
            <a:spLocks noGrp="1"/>
          </p:cNvSpPr>
          <p:nvPr/>
        </p:nvSpPr>
        <p:spPr>
          <a:xfrm>
            <a:off x="571500" y="933450"/>
            <a:ext cx="11001375" cy="323850"/>
          </a:xfrm>
          <a:prstGeom prst="rect">
            <a:avLst/>
          </a:prstGeom>
          <a:noFill/>
          <a:ln w="0">
            <a:noFill/>
          </a:ln>
        </p:spPr>
        <p:txBody>
          <a:bodyPr lIns="0" tIns="0" rIns="0" bIns="0" anchor="t"/>
          <a:lstStyle>
            <a:defPPr>
              <a:defRPr sz="1425" b="0">
                <a:solidFill>
                  <a:srgbClr val="526777"/>
                </a:solidFill>
                <a:latin typeface="Microsoft JhengHei"/>
                <a:ea typeface="Microsoft JhengHei"/>
                <a:cs typeface="Microsoft JhengHei"/>
              </a:defRPr>
            </a:defPPr>
            <a:lvl1pPr>
              <a:defRPr sz="1425" b="0">
                <a:solidFill>
                  <a:srgbClr val="526777"/>
                </a:solidFill>
                <a:latin typeface="Microsoft JhengHei"/>
                <a:ea typeface="Microsoft JhengHei"/>
                <a:cs typeface="Microsoft JhengHei"/>
              </a:defRPr>
            </a:lvl1pPr>
            <a:lvl2pPr>
              <a:defRPr sz="1425" b="0">
                <a:solidFill>
                  <a:srgbClr val="526777"/>
                </a:solidFill>
                <a:latin typeface="Microsoft JhengHei"/>
                <a:ea typeface="Microsoft JhengHei"/>
                <a:cs typeface="Microsoft JhengHei"/>
              </a:defRPr>
            </a:lvl2pPr>
            <a:lvl3pPr>
              <a:defRPr sz="1425" b="0">
                <a:solidFill>
                  <a:srgbClr val="526777"/>
                </a:solidFill>
                <a:latin typeface="Microsoft JhengHei"/>
                <a:ea typeface="Microsoft JhengHei"/>
                <a:cs typeface="Microsoft JhengHei"/>
              </a:defRPr>
            </a:lvl3pPr>
            <a:lvl4pPr>
              <a:defRPr sz="1425" b="0">
                <a:solidFill>
                  <a:srgbClr val="526777"/>
                </a:solidFill>
                <a:latin typeface="Microsoft JhengHei"/>
                <a:ea typeface="Microsoft JhengHei"/>
                <a:cs typeface="Microsoft JhengHei"/>
              </a:defRPr>
            </a:lvl4pPr>
            <a:lvl5pPr>
              <a:defRPr sz="1425" b="0">
                <a:solidFill>
                  <a:srgbClr val="526777"/>
                </a:solidFill>
                <a:latin typeface="Microsoft JhengHei"/>
                <a:ea typeface="Microsoft JhengHei"/>
                <a:cs typeface="Microsoft JhengHei"/>
              </a:defRPr>
            </a:lvl5pPr>
            <a:lvl6pPr>
              <a:defRPr sz="1425" b="0">
                <a:solidFill>
                  <a:srgbClr val="526777"/>
                </a:solidFill>
                <a:latin typeface="Microsoft JhengHei"/>
                <a:ea typeface="Microsoft JhengHei"/>
                <a:cs typeface="Microsoft JhengHei"/>
              </a:defRPr>
            </a:lvl6pPr>
            <a:lvl7pPr>
              <a:defRPr sz="1425" b="0">
                <a:solidFill>
                  <a:srgbClr val="526777"/>
                </a:solidFill>
                <a:latin typeface="Microsoft JhengHei"/>
                <a:ea typeface="Microsoft JhengHei"/>
                <a:cs typeface="Microsoft JhengHei"/>
              </a:defRPr>
            </a:lvl7pPr>
            <a:lvl8pPr>
              <a:defRPr sz="1425" b="0">
                <a:solidFill>
                  <a:srgbClr val="526777"/>
                </a:solidFill>
                <a:latin typeface="Microsoft JhengHei"/>
                <a:ea typeface="Microsoft JhengHei"/>
                <a:cs typeface="Microsoft JhengHei"/>
              </a:defRPr>
            </a:lvl8pPr>
            <a:lvl9pPr>
              <a:defRPr sz="1425" b="0">
                <a:solidFill>
                  <a:srgbClr val="526777"/>
                </a:solidFill>
                <a:latin typeface="Microsoft JhengHei"/>
                <a:ea typeface="Microsoft JhengHei"/>
                <a:cs typeface="Microsoft JhengHei"/>
              </a:defRPr>
            </a:lvl9pPr>
          </a:lstStyle>
          <a:p>
            <a:pPr>
              <a:defRPr sz="1425" b="0">
                <a:solidFill>
                  <a:srgbClr val="526777"/>
                </a:solidFill>
                <a:latin typeface="Microsoft JhengHei"/>
                <a:ea typeface="Microsoft JhengHei"/>
                <a:cs typeface="Microsoft JhengHei"/>
              </a:defRPr>
            </a:pPr>
            <a:r>
              <a:rPr sz="1425" b="0">
                <a:solidFill>
                  <a:srgbClr val="526777"/>
                </a:solidFill>
                <a:latin typeface="Microsoft JhengHei"/>
                <a:ea typeface="Microsoft JhengHei"/>
                <a:cs typeface="Microsoft JhengHei"/>
              </a:rPr>
              <a:t>待處理事項  /  Kế hoạch tuần tới · 下週工作計畫</a:t>
            </a:r>
          </a:p>
        </p:txBody>
      </p:sp>
      <p:sp>
        <p:nvSpPr>
          <p:cNvPr id="3" name="Rectangle 2">
            <a:extLst>
              <a:ext uri="{FF2B5EF4-FFF2-40B4-BE49-F238E27FC236}">
                <a16:creationId xmlns:a16="http://schemas.microsoft.com/office/drawing/2014/main" id="{21E46CB3-3D8F-4B6F-B8E8-8CD48818B907}"/>
              </a:ext>
            </a:extLst>
          </p:cNvPr>
          <p:cNvSpPr>
            <a:spLocks noGrp="1"/>
          </p:cNvSpPr>
          <p:nvPr/>
        </p:nvSpPr>
        <p:spPr>
          <a:xfrm>
            <a:off x="571500" y="6505575"/>
            <a:ext cx="10096500" cy="209550"/>
          </a:xfrm>
          <a:prstGeom prst="rect">
            <a:avLst/>
          </a:prstGeom>
          <a:noFill/>
          <a:ln w="0">
            <a:noFill/>
          </a:ln>
        </p:spPr>
        <p:txBody>
          <a:bodyPr lIns="0" tIns="0" rIns="0" bIns="0" anchor="t"/>
          <a:lstStyle>
            <a:defPPr>
              <a:defRPr sz="900" b="0">
                <a:solidFill>
                  <a:srgbClr val="526777"/>
                </a:solidFill>
                <a:latin typeface="Calibri"/>
                <a:ea typeface="Calibri"/>
                <a:cs typeface="Calibri"/>
              </a:defRPr>
            </a:defPPr>
            <a:lvl1pPr>
              <a:defRPr sz="900" b="0">
                <a:solidFill>
                  <a:srgbClr val="526777"/>
                </a:solidFill>
                <a:latin typeface="Calibri"/>
                <a:ea typeface="Calibri"/>
                <a:cs typeface="Calibri"/>
              </a:defRPr>
            </a:lvl1pPr>
            <a:lvl2pPr>
              <a:defRPr sz="900" b="0">
                <a:solidFill>
                  <a:srgbClr val="526777"/>
                </a:solidFill>
                <a:latin typeface="Calibri"/>
                <a:ea typeface="Calibri"/>
                <a:cs typeface="Calibri"/>
              </a:defRPr>
            </a:lvl2pPr>
            <a:lvl3pPr>
              <a:defRPr sz="900" b="0">
                <a:solidFill>
                  <a:srgbClr val="526777"/>
                </a:solidFill>
                <a:latin typeface="Calibri"/>
                <a:ea typeface="Calibri"/>
                <a:cs typeface="Calibri"/>
              </a:defRPr>
            </a:lvl3pPr>
            <a:lvl4pPr>
              <a:defRPr sz="900" b="0">
                <a:solidFill>
                  <a:srgbClr val="526777"/>
                </a:solidFill>
                <a:latin typeface="Calibri"/>
                <a:ea typeface="Calibri"/>
                <a:cs typeface="Calibri"/>
              </a:defRPr>
            </a:lvl4pPr>
            <a:lvl5pPr>
              <a:defRPr sz="900" b="0">
                <a:solidFill>
                  <a:srgbClr val="526777"/>
                </a:solidFill>
                <a:latin typeface="Calibri"/>
                <a:ea typeface="Calibri"/>
                <a:cs typeface="Calibri"/>
              </a:defRPr>
            </a:lvl5pPr>
            <a:lvl6pPr>
              <a:defRPr sz="900" b="0">
                <a:solidFill>
                  <a:srgbClr val="526777"/>
                </a:solidFill>
                <a:latin typeface="Calibri"/>
                <a:ea typeface="Calibri"/>
                <a:cs typeface="Calibri"/>
              </a:defRPr>
            </a:lvl6pPr>
            <a:lvl7pPr>
              <a:defRPr sz="900" b="0">
                <a:solidFill>
                  <a:srgbClr val="526777"/>
                </a:solidFill>
                <a:latin typeface="Calibri"/>
                <a:ea typeface="Calibri"/>
                <a:cs typeface="Calibri"/>
              </a:defRPr>
            </a:lvl7pPr>
            <a:lvl8pPr>
              <a:defRPr sz="900" b="0">
                <a:solidFill>
                  <a:srgbClr val="526777"/>
                </a:solidFill>
                <a:latin typeface="Calibri"/>
                <a:ea typeface="Calibri"/>
                <a:cs typeface="Calibri"/>
              </a:defRPr>
            </a:lvl8pPr>
            <a:lvl9pPr>
              <a:defRPr sz="900" b="0">
                <a:solidFill>
                  <a:srgbClr val="526777"/>
                </a:solidFill>
                <a:latin typeface="Calibri"/>
                <a:ea typeface="Calibri"/>
                <a:cs typeface="Calibri"/>
              </a:defRPr>
            </a:lvl9pPr>
          </a:lstStyle>
          <a:p>
            <a:pPr>
              <a:defRPr sz="900" b="0">
                <a:solidFill>
                  <a:srgbClr val="526777"/>
                </a:solidFill>
                <a:latin typeface="Calibri"/>
                <a:ea typeface="Calibri"/>
                <a:cs typeface="Calibri"/>
              </a:defRPr>
            </a:pPr>
            <a:r>
              <a:rPr sz="900" b="0">
                <a:solidFill>
                  <a:srgbClr val="526777"/>
                </a:solidFill>
                <a:latin typeface="Calibri"/>
                <a:ea typeface="Calibri"/>
                <a:cs typeface="Calibri"/>
              </a:rPr>
              <a:t>HONG MING GLOBAL  ·  NGUYEN SY KIM BANG</a:t>
            </a:r>
          </a:p>
        </p:txBody>
      </p:sp>
      <p:sp>
        <p:nvSpPr>
          <p:cNvPr id="4" name="Rectangle 3">
            <a:extLst>
              <a:ext uri="{FF2B5EF4-FFF2-40B4-BE49-F238E27FC236}">
                <a16:creationId xmlns:a16="http://schemas.microsoft.com/office/drawing/2014/main" id="{A481DBA7-6000-4075-9D6E-25A2FA231B2D}"/>
              </a:ext>
            </a:extLst>
          </p:cNvPr>
          <p:cNvSpPr>
            <a:spLocks noGrp="1"/>
          </p:cNvSpPr>
          <p:nvPr/>
        </p:nvSpPr>
        <p:spPr>
          <a:xfrm>
            <a:off x="10763250" y="6486525"/>
            <a:ext cx="857250" cy="228600"/>
          </a:xfrm>
          <a:prstGeom prst="rect">
            <a:avLst/>
          </a:prstGeom>
          <a:noFill/>
          <a:ln w="0">
            <a:noFill/>
          </a:ln>
        </p:spPr>
        <p:txBody>
          <a:bodyPr lIns="0" tIns="0" rIns="0" bIns="0" anchor="t"/>
          <a:lstStyle>
            <a:defPPr>
              <a:defRPr sz="1050" b="0">
                <a:solidFill>
                  <a:srgbClr val="526777"/>
                </a:solidFill>
                <a:latin typeface="Calibri"/>
                <a:ea typeface="Calibri"/>
                <a:cs typeface="Calibri"/>
              </a:defRPr>
            </a:defPPr>
            <a:lvl1pPr>
              <a:defRPr sz="1050" b="0">
                <a:solidFill>
                  <a:srgbClr val="526777"/>
                </a:solidFill>
                <a:latin typeface="Calibri"/>
                <a:ea typeface="Calibri"/>
                <a:cs typeface="Calibri"/>
              </a:defRPr>
            </a:lvl1pPr>
            <a:lvl2pPr>
              <a:defRPr sz="1050" b="0">
                <a:solidFill>
                  <a:srgbClr val="526777"/>
                </a:solidFill>
                <a:latin typeface="Calibri"/>
                <a:ea typeface="Calibri"/>
                <a:cs typeface="Calibri"/>
              </a:defRPr>
            </a:lvl2pPr>
            <a:lvl3pPr>
              <a:defRPr sz="1050" b="0">
                <a:solidFill>
                  <a:srgbClr val="526777"/>
                </a:solidFill>
                <a:latin typeface="Calibri"/>
                <a:ea typeface="Calibri"/>
                <a:cs typeface="Calibri"/>
              </a:defRPr>
            </a:lvl3pPr>
            <a:lvl4pPr>
              <a:defRPr sz="1050" b="0">
                <a:solidFill>
                  <a:srgbClr val="526777"/>
                </a:solidFill>
                <a:latin typeface="Calibri"/>
                <a:ea typeface="Calibri"/>
                <a:cs typeface="Calibri"/>
              </a:defRPr>
            </a:lvl4pPr>
            <a:lvl5pPr>
              <a:defRPr sz="1050" b="0">
                <a:solidFill>
                  <a:srgbClr val="526777"/>
                </a:solidFill>
                <a:latin typeface="Calibri"/>
                <a:ea typeface="Calibri"/>
                <a:cs typeface="Calibri"/>
              </a:defRPr>
            </a:lvl5pPr>
            <a:lvl6pPr>
              <a:defRPr sz="1050" b="0">
                <a:solidFill>
                  <a:srgbClr val="526777"/>
                </a:solidFill>
                <a:latin typeface="Calibri"/>
                <a:ea typeface="Calibri"/>
                <a:cs typeface="Calibri"/>
              </a:defRPr>
            </a:lvl6pPr>
            <a:lvl7pPr>
              <a:defRPr sz="1050" b="0">
                <a:solidFill>
                  <a:srgbClr val="526777"/>
                </a:solidFill>
                <a:latin typeface="Calibri"/>
                <a:ea typeface="Calibri"/>
                <a:cs typeface="Calibri"/>
              </a:defRPr>
            </a:lvl7pPr>
            <a:lvl8pPr>
              <a:defRPr sz="1050" b="0">
                <a:solidFill>
                  <a:srgbClr val="526777"/>
                </a:solidFill>
                <a:latin typeface="Calibri"/>
                <a:ea typeface="Calibri"/>
                <a:cs typeface="Calibri"/>
              </a:defRPr>
            </a:lvl8pPr>
            <a:lvl9pPr>
              <a:defRPr sz="1050" b="0">
                <a:solidFill>
                  <a:srgbClr val="526777"/>
                </a:solidFill>
                <a:latin typeface="Calibri"/>
                <a:ea typeface="Calibri"/>
                <a:cs typeface="Calibri"/>
              </a:defRPr>
            </a:lvl9pPr>
          </a:lstStyle>
          <a:p>
            <a:pPr>
              <a:defRPr sz="1050" b="0">
                <a:solidFill>
                  <a:srgbClr val="526777"/>
                </a:solidFill>
                <a:latin typeface="Calibri"/>
                <a:ea typeface="Calibri"/>
                <a:cs typeface="Calibri"/>
              </a:defRPr>
            </a:pPr>
            <a:r>
              <a:rPr sz="1050" b="0">
                <a:solidFill>
                  <a:srgbClr val="526777"/>
                </a:solidFill>
                <a:latin typeface="Calibri"/>
                <a:ea typeface="Calibri"/>
                <a:cs typeface="Calibri"/>
              </a:rPr>
              <a:t>11 / 11</a:t>
            </a:r>
          </a:p>
        </p:txBody>
      </p:sp>
      <p:sp>
        <p:nvSpPr>
          <p:cNvPr id="5" name="Rectangle 4">
            <a:extLst>
              <a:ext uri="{FF2B5EF4-FFF2-40B4-BE49-F238E27FC236}">
                <a16:creationId xmlns:a16="http://schemas.microsoft.com/office/drawing/2014/main" id="{85A8F7A5-8BB0-4C4E-9889-BFD663C82043}"/>
              </a:ext>
            </a:extLst>
          </p:cNvPr>
          <p:cNvSpPr>
            <a:spLocks noGrp="1"/>
          </p:cNvSpPr>
          <p:nvPr/>
        </p:nvSpPr>
        <p:spPr>
          <a:xfrm>
            <a:off x="571500" y="1657350"/>
            <a:ext cx="428625" cy="400050"/>
          </a:xfrm>
          <a:prstGeom prst="rect">
            <a:avLst/>
          </a:prstGeom>
          <a:noFill/>
          <a:ln w="0">
            <a:noFill/>
          </a:ln>
        </p:spPr>
        <p:txBody>
          <a:bodyPr lIns="0" tIns="0" rIns="0" bIns="0" anchor="t"/>
          <a:lstStyle>
            <a:defPPr>
              <a:defRPr sz="2250" b="1">
                <a:solidFill>
                  <a:srgbClr val="007F86"/>
                </a:solidFill>
                <a:latin typeface="Calibri"/>
                <a:ea typeface="Calibri"/>
                <a:cs typeface="Calibri"/>
              </a:defRPr>
            </a:defPPr>
            <a:lvl1pPr>
              <a:defRPr sz="2250" b="1">
                <a:solidFill>
                  <a:srgbClr val="007F86"/>
                </a:solidFill>
                <a:latin typeface="Calibri"/>
                <a:ea typeface="Calibri"/>
                <a:cs typeface="Calibri"/>
              </a:defRPr>
            </a:lvl1pPr>
            <a:lvl2pPr>
              <a:defRPr sz="2250" b="1">
                <a:solidFill>
                  <a:srgbClr val="007F86"/>
                </a:solidFill>
                <a:latin typeface="Calibri"/>
                <a:ea typeface="Calibri"/>
                <a:cs typeface="Calibri"/>
              </a:defRPr>
            </a:lvl2pPr>
            <a:lvl3pPr>
              <a:defRPr sz="2250" b="1">
                <a:solidFill>
                  <a:srgbClr val="007F86"/>
                </a:solidFill>
                <a:latin typeface="Calibri"/>
                <a:ea typeface="Calibri"/>
                <a:cs typeface="Calibri"/>
              </a:defRPr>
            </a:lvl3pPr>
            <a:lvl4pPr>
              <a:defRPr sz="2250" b="1">
                <a:solidFill>
                  <a:srgbClr val="007F86"/>
                </a:solidFill>
                <a:latin typeface="Calibri"/>
                <a:ea typeface="Calibri"/>
                <a:cs typeface="Calibri"/>
              </a:defRPr>
            </a:lvl4pPr>
            <a:lvl5pPr>
              <a:defRPr sz="2250" b="1">
                <a:solidFill>
                  <a:srgbClr val="007F86"/>
                </a:solidFill>
                <a:latin typeface="Calibri"/>
                <a:ea typeface="Calibri"/>
                <a:cs typeface="Calibri"/>
              </a:defRPr>
            </a:lvl5pPr>
            <a:lvl6pPr>
              <a:defRPr sz="2250" b="1">
                <a:solidFill>
                  <a:srgbClr val="007F86"/>
                </a:solidFill>
                <a:latin typeface="Calibri"/>
                <a:ea typeface="Calibri"/>
                <a:cs typeface="Calibri"/>
              </a:defRPr>
            </a:lvl6pPr>
            <a:lvl7pPr>
              <a:defRPr sz="2250" b="1">
                <a:solidFill>
                  <a:srgbClr val="007F86"/>
                </a:solidFill>
                <a:latin typeface="Calibri"/>
                <a:ea typeface="Calibri"/>
                <a:cs typeface="Calibri"/>
              </a:defRPr>
            </a:lvl7pPr>
            <a:lvl8pPr>
              <a:defRPr sz="2250" b="1">
                <a:solidFill>
                  <a:srgbClr val="007F86"/>
                </a:solidFill>
                <a:latin typeface="Calibri"/>
                <a:ea typeface="Calibri"/>
                <a:cs typeface="Calibri"/>
              </a:defRPr>
            </a:lvl8pPr>
            <a:lvl9pPr>
              <a:defRPr sz="2250" b="1">
                <a:solidFill>
                  <a:srgbClr val="007F86"/>
                </a:solidFill>
                <a:latin typeface="Calibri"/>
                <a:ea typeface="Calibri"/>
                <a:cs typeface="Calibri"/>
              </a:defRPr>
            </a:lvl9pPr>
          </a:lstStyle>
          <a:p>
            <a:pPr>
              <a:defRPr sz="2250" b="1">
                <a:solidFill>
                  <a:srgbClr val="007F86"/>
                </a:solidFill>
                <a:latin typeface="Calibri"/>
                <a:ea typeface="Calibri"/>
                <a:cs typeface="Calibri"/>
              </a:defRPr>
            </a:pPr>
            <a:r>
              <a:rPr sz="2250" b="1">
                <a:solidFill>
                  <a:srgbClr val="007F86"/>
                </a:solidFill>
                <a:latin typeface="Calibri"/>
                <a:ea typeface="Calibri"/>
                <a:cs typeface="Calibri"/>
              </a:rPr>
              <a:t>01</a:t>
            </a:r>
          </a:p>
        </p:txBody>
      </p:sp>
      <p:sp>
        <p:nvSpPr>
          <p:cNvPr id="6" name="Rectangle 5">
            <a:extLst>
              <a:ext uri="{FF2B5EF4-FFF2-40B4-BE49-F238E27FC236}">
                <a16:creationId xmlns:a16="http://schemas.microsoft.com/office/drawing/2014/main" id="{49F96F32-F915-45D0-AE0C-3D6A531A8FF9}"/>
              </a:ext>
            </a:extLst>
          </p:cNvPr>
          <p:cNvSpPr>
            <a:spLocks noGrp="1"/>
          </p:cNvSpPr>
          <p:nvPr/>
        </p:nvSpPr>
        <p:spPr>
          <a:xfrm>
            <a:off x="1123950" y="1657350"/>
            <a:ext cx="5810250" cy="123825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Tiếp tục theo dõi sát sao công nợ các dự án và đôn đốc các khoản thanh toán của khách hàng (đặc biệt Vonmax, CX).</a:t>
            </a:r>
          </a:p>
        </p:txBody>
      </p:sp>
      <p:sp>
        <p:nvSpPr>
          <p:cNvPr id="7" name="Rectangle 6">
            <a:extLst>
              <a:ext uri="{FF2B5EF4-FFF2-40B4-BE49-F238E27FC236}">
                <a16:creationId xmlns:a16="http://schemas.microsoft.com/office/drawing/2014/main" id="{60C0C6AD-FD89-4BFD-9348-4CEEA098D569}"/>
              </a:ext>
            </a:extLst>
          </p:cNvPr>
          <p:cNvSpPr>
            <a:spLocks noGrp="1"/>
          </p:cNvSpPr>
          <p:nvPr/>
        </p:nvSpPr>
        <p:spPr>
          <a:xfrm>
            <a:off x="7315200" y="1676400"/>
            <a:ext cx="4267200" cy="1238250"/>
          </a:xfrm>
          <a:prstGeom prst="rect">
            <a:avLst/>
          </a:prstGeom>
          <a:noFill/>
          <a:ln w="0">
            <a:noFill/>
          </a:ln>
        </p:spPr>
        <p:txBody>
          <a:bodyPr lIns="0" tIns="0" rIns="0" bIns="0" anchor="t"/>
          <a:lstStyle>
            <a:defPPr>
              <a:defRPr sz="1725" b="0">
                <a:solidFill>
                  <a:srgbClr val="526777"/>
                </a:solidFill>
                <a:latin typeface="Microsoft JhengHei"/>
                <a:ea typeface="Microsoft JhengHei"/>
                <a:cs typeface="Microsoft JhengHei"/>
              </a:defRPr>
            </a:defPPr>
            <a:lvl1pPr>
              <a:defRPr sz="1725" b="0">
                <a:solidFill>
                  <a:srgbClr val="526777"/>
                </a:solidFill>
                <a:latin typeface="Microsoft JhengHei"/>
                <a:ea typeface="Microsoft JhengHei"/>
                <a:cs typeface="Microsoft JhengHei"/>
              </a:defRPr>
            </a:lvl1pPr>
            <a:lvl2pPr>
              <a:defRPr sz="1725" b="0">
                <a:solidFill>
                  <a:srgbClr val="526777"/>
                </a:solidFill>
                <a:latin typeface="Microsoft JhengHei"/>
                <a:ea typeface="Microsoft JhengHei"/>
                <a:cs typeface="Microsoft JhengHei"/>
              </a:defRPr>
            </a:lvl2pPr>
            <a:lvl3pPr>
              <a:defRPr sz="1725" b="0">
                <a:solidFill>
                  <a:srgbClr val="526777"/>
                </a:solidFill>
                <a:latin typeface="Microsoft JhengHei"/>
                <a:ea typeface="Microsoft JhengHei"/>
                <a:cs typeface="Microsoft JhengHei"/>
              </a:defRPr>
            </a:lvl3pPr>
            <a:lvl4pPr>
              <a:defRPr sz="1725" b="0">
                <a:solidFill>
                  <a:srgbClr val="526777"/>
                </a:solidFill>
                <a:latin typeface="Microsoft JhengHei"/>
                <a:ea typeface="Microsoft JhengHei"/>
                <a:cs typeface="Microsoft JhengHei"/>
              </a:defRPr>
            </a:lvl4pPr>
            <a:lvl5pPr>
              <a:defRPr sz="1725" b="0">
                <a:solidFill>
                  <a:srgbClr val="526777"/>
                </a:solidFill>
                <a:latin typeface="Microsoft JhengHei"/>
                <a:ea typeface="Microsoft JhengHei"/>
                <a:cs typeface="Microsoft JhengHei"/>
              </a:defRPr>
            </a:lvl5pPr>
            <a:lvl6pPr>
              <a:defRPr sz="1725" b="0">
                <a:solidFill>
                  <a:srgbClr val="526777"/>
                </a:solidFill>
                <a:latin typeface="Microsoft JhengHei"/>
                <a:ea typeface="Microsoft JhengHei"/>
                <a:cs typeface="Microsoft JhengHei"/>
              </a:defRPr>
            </a:lvl6pPr>
            <a:lvl7pPr>
              <a:defRPr sz="1725" b="0">
                <a:solidFill>
                  <a:srgbClr val="526777"/>
                </a:solidFill>
                <a:latin typeface="Microsoft JhengHei"/>
                <a:ea typeface="Microsoft JhengHei"/>
                <a:cs typeface="Microsoft JhengHei"/>
              </a:defRPr>
            </a:lvl7pPr>
            <a:lvl8pPr>
              <a:defRPr sz="1725" b="0">
                <a:solidFill>
                  <a:srgbClr val="526777"/>
                </a:solidFill>
                <a:latin typeface="Microsoft JhengHei"/>
                <a:ea typeface="Microsoft JhengHei"/>
                <a:cs typeface="Microsoft JhengHei"/>
              </a:defRPr>
            </a:lvl8pPr>
            <a:lvl9pPr>
              <a:defRPr sz="1725" b="0">
                <a:solidFill>
                  <a:srgbClr val="526777"/>
                </a:solidFill>
                <a:latin typeface="Microsoft JhengHei"/>
                <a:ea typeface="Microsoft JhengHei"/>
                <a:cs typeface="Microsoft JhengHei"/>
              </a:defRPr>
            </a:lvl9pPr>
          </a:lstStyle>
          <a:p>
            <a:pPr>
              <a:defRPr sz="1725" b="0">
                <a:solidFill>
                  <a:srgbClr val="526777"/>
                </a:solidFill>
                <a:latin typeface="Microsoft JhengHei"/>
                <a:ea typeface="Microsoft JhengHei"/>
                <a:cs typeface="Microsoft JhengHei"/>
              </a:defRPr>
            </a:pPr>
            <a:r>
              <a:rPr sz="1725" b="0">
                <a:solidFill>
                  <a:srgbClr val="526777"/>
                </a:solidFill>
                <a:latin typeface="Microsoft JhengHei"/>
                <a:ea typeface="Microsoft JhengHei"/>
                <a:cs typeface="Microsoft JhengHei"/>
              </a:rPr>
              <a:t>持續緊盯專案應收帳款，嚴格催收客戶到期款項（特別是 Vonmax、CX 等）。</a:t>
            </a:r>
          </a:p>
        </p:txBody>
      </p:sp>
      <p:sp>
        <p:nvSpPr>
          <p:cNvPr id="8" name="Rectangle 7">
            <a:extLst>
              <a:ext uri="{FF2B5EF4-FFF2-40B4-BE49-F238E27FC236}">
                <a16:creationId xmlns:a16="http://schemas.microsoft.com/office/drawing/2014/main" id="{AEF8C3D7-2160-4329-9A2D-E2509D827977}"/>
              </a:ext>
            </a:extLst>
          </p:cNvPr>
          <p:cNvSpPr>
            <a:spLocks noGrp="1"/>
          </p:cNvSpPr>
          <p:nvPr/>
        </p:nvSpPr>
        <p:spPr>
          <a:xfrm>
            <a:off x="571500" y="3162300"/>
            <a:ext cx="428625" cy="400050"/>
          </a:xfrm>
          <a:prstGeom prst="rect">
            <a:avLst/>
          </a:prstGeom>
          <a:noFill/>
          <a:ln w="0">
            <a:noFill/>
          </a:ln>
        </p:spPr>
        <p:txBody>
          <a:bodyPr lIns="0" tIns="0" rIns="0" bIns="0" anchor="t"/>
          <a:lstStyle>
            <a:defPPr>
              <a:defRPr sz="2250" b="1">
                <a:solidFill>
                  <a:srgbClr val="007F86"/>
                </a:solidFill>
                <a:latin typeface="Calibri"/>
                <a:ea typeface="Calibri"/>
                <a:cs typeface="Calibri"/>
              </a:defRPr>
            </a:defPPr>
            <a:lvl1pPr>
              <a:defRPr sz="2250" b="1">
                <a:solidFill>
                  <a:srgbClr val="007F86"/>
                </a:solidFill>
                <a:latin typeface="Calibri"/>
                <a:ea typeface="Calibri"/>
                <a:cs typeface="Calibri"/>
              </a:defRPr>
            </a:lvl1pPr>
            <a:lvl2pPr>
              <a:defRPr sz="2250" b="1">
                <a:solidFill>
                  <a:srgbClr val="007F86"/>
                </a:solidFill>
                <a:latin typeface="Calibri"/>
                <a:ea typeface="Calibri"/>
                <a:cs typeface="Calibri"/>
              </a:defRPr>
            </a:lvl2pPr>
            <a:lvl3pPr>
              <a:defRPr sz="2250" b="1">
                <a:solidFill>
                  <a:srgbClr val="007F86"/>
                </a:solidFill>
                <a:latin typeface="Calibri"/>
                <a:ea typeface="Calibri"/>
                <a:cs typeface="Calibri"/>
              </a:defRPr>
            </a:lvl3pPr>
            <a:lvl4pPr>
              <a:defRPr sz="2250" b="1">
                <a:solidFill>
                  <a:srgbClr val="007F86"/>
                </a:solidFill>
                <a:latin typeface="Calibri"/>
                <a:ea typeface="Calibri"/>
                <a:cs typeface="Calibri"/>
              </a:defRPr>
            </a:lvl4pPr>
            <a:lvl5pPr>
              <a:defRPr sz="2250" b="1">
                <a:solidFill>
                  <a:srgbClr val="007F86"/>
                </a:solidFill>
                <a:latin typeface="Calibri"/>
                <a:ea typeface="Calibri"/>
                <a:cs typeface="Calibri"/>
              </a:defRPr>
            </a:lvl5pPr>
            <a:lvl6pPr>
              <a:defRPr sz="2250" b="1">
                <a:solidFill>
                  <a:srgbClr val="007F86"/>
                </a:solidFill>
                <a:latin typeface="Calibri"/>
                <a:ea typeface="Calibri"/>
                <a:cs typeface="Calibri"/>
              </a:defRPr>
            </a:lvl6pPr>
            <a:lvl7pPr>
              <a:defRPr sz="2250" b="1">
                <a:solidFill>
                  <a:srgbClr val="007F86"/>
                </a:solidFill>
                <a:latin typeface="Calibri"/>
                <a:ea typeface="Calibri"/>
                <a:cs typeface="Calibri"/>
              </a:defRPr>
            </a:lvl7pPr>
            <a:lvl8pPr>
              <a:defRPr sz="2250" b="1">
                <a:solidFill>
                  <a:srgbClr val="007F86"/>
                </a:solidFill>
                <a:latin typeface="Calibri"/>
                <a:ea typeface="Calibri"/>
                <a:cs typeface="Calibri"/>
              </a:defRPr>
            </a:lvl8pPr>
            <a:lvl9pPr>
              <a:defRPr sz="2250" b="1">
                <a:solidFill>
                  <a:srgbClr val="007F86"/>
                </a:solidFill>
                <a:latin typeface="Calibri"/>
                <a:ea typeface="Calibri"/>
                <a:cs typeface="Calibri"/>
              </a:defRPr>
            </a:lvl9pPr>
          </a:lstStyle>
          <a:p>
            <a:pPr>
              <a:defRPr sz="2250" b="1">
                <a:solidFill>
                  <a:srgbClr val="007F86"/>
                </a:solidFill>
                <a:latin typeface="Calibri"/>
                <a:ea typeface="Calibri"/>
                <a:cs typeface="Calibri"/>
              </a:defRPr>
            </a:pPr>
            <a:r>
              <a:rPr sz="2250" b="1">
                <a:solidFill>
                  <a:srgbClr val="007F86"/>
                </a:solidFill>
                <a:latin typeface="Calibri"/>
                <a:ea typeface="Calibri"/>
                <a:cs typeface="Calibri"/>
              </a:rPr>
              <a:t>02</a:t>
            </a:r>
          </a:p>
        </p:txBody>
      </p:sp>
      <p:sp>
        <p:nvSpPr>
          <p:cNvPr id="9" name="Rectangle 8">
            <a:extLst>
              <a:ext uri="{FF2B5EF4-FFF2-40B4-BE49-F238E27FC236}">
                <a16:creationId xmlns:a16="http://schemas.microsoft.com/office/drawing/2014/main" id="{5D3A4763-47D2-4858-AEF9-8B91DFA14DC9}"/>
              </a:ext>
            </a:extLst>
          </p:cNvPr>
          <p:cNvSpPr>
            <a:spLocks noGrp="1"/>
          </p:cNvSpPr>
          <p:nvPr/>
        </p:nvSpPr>
        <p:spPr>
          <a:xfrm>
            <a:off x="1123950" y="3162300"/>
            <a:ext cx="5810250" cy="123825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Hoàn thiện phương án kỹ thuật và các hồ sơ liên quan sau đợt khảo sát thực tế hiện trường dự án.</a:t>
            </a:r>
          </a:p>
        </p:txBody>
      </p:sp>
      <p:sp>
        <p:nvSpPr>
          <p:cNvPr id="10" name="Rectangle 9">
            <a:extLst>
              <a:ext uri="{FF2B5EF4-FFF2-40B4-BE49-F238E27FC236}">
                <a16:creationId xmlns:a16="http://schemas.microsoft.com/office/drawing/2014/main" id="{1AA76447-CB5F-48A5-84D8-F29286C68E2D}"/>
              </a:ext>
            </a:extLst>
          </p:cNvPr>
          <p:cNvSpPr>
            <a:spLocks noGrp="1"/>
          </p:cNvSpPr>
          <p:nvPr/>
        </p:nvSpPr>
        <p:spPr>
          <a:xfrm>
            <a:off x="7315200" y="3181350"/>
            <a:ext cx="4267200" cy="1238250"/>
          </a:xfrm>
          <a:prstGeom prst="rect">
            <a:avLst/>
          </a:prstGeom>
          <a:noFill/>
          <a:ln w="0">
            <a:noFill/>
          </a:ln>
        </p:spPr>
        <p:txBody>
          <a:bodyPr lIns="0" tIns="0" rIns="0" bIns="0" anchor="t"/>
          <a:lstStyle>
            <a:defPPr>
              <a:defRPr sz="1725" b="0">
                <a:solidFill>
                  <a:srgbClr val="526777"/>
                </a:solidFill>
                <a:latin typeface="Microsoft JhengHei"/>
                <a:ea typeface="Microsoft JhengHei"/>
                <a:cs typeface="Microsoft JhengHei"/>
              </a:defRPr>
            </a:defPPr>
            <a:lvl1pPr>
              <a:defRPr sz="1725" b="0">
                <a:solidFill>
                  <a:srgbClr val="526777"/>
                </a:solidFill>
                <a:latin typeface="Microsoft JhengHei"/>
                <a:ea typeface="Microsoft JhengHei"/>
                <a:cs typeface="Microsoft JhengHei"/>
              </a:defRPr>
            </a:lvl1pPr>
            <a:lvl2pPr>
              <a:defRPr sz="1725" b="0">
                <a:solidFill>
                  <a:srgbClr val="526777"/>
                </a:solidFill>
                <a:latin typeface="Microsoft JhengHei"/>
                <a:ea typeface="Microsoft JhengHei"/>
                <a:cs typeface="Microsoft JhengHei"/>
              </a:defRPr>
            </a:lvl2pPr>
            <a:lvl3pPr>
              <a:defRPr sz="1725" b="0">
                <a:solidFill>
                  <a:srgbClr val="526777"/>
                </a:solidFill>
                <a:latin typeface="Microsoft JhengHei"/>
                <a:ea typeface="Microsoft JhengHei"/>
                <a:cs typeface="Microsoft JhengHei"/>
              </a:defRPr>
            </a:lvl3pPr>
            <a:lvl4pPr>
              <a:defRPr sz="1725" b="0">
                <a:solidFill>
                  <a:srgbClr val="526777"/>
                </a:solidFill>
                <a:latin typeface="Microsoft JhengHei"/>
                <a:ea typeface="Microsoft JhengHei"/>
                <a:cs typeface="Microsoft JhengHei"/>
              </a:defRPr>
            </a:lvl4pPr>
            <a:lvl5pPr>
              <a:defRPr sz="1725" b="0">
                <a:solidFill>
                  <a:srgbClr val="526777"/>
                </a:solidFill>
                <a:latin typeface="Microsoft JhengHei"/>
                <a:ea typeface="Microsoft JhengHei"/>
                <a:cs typeface="Microsoft JhengHei"/>
              </a:defRPr>
            </a:lvl5pPr>
            <a:lvl6pPr>
              <a:defRPr sz="1725" b="0">
                <a:solidFill>
                  <a:srgbClr val="526777"/>
                </a:solidFill>
                <a:latin typeface="Microsoft JhengHei"/>
                <a:ea typeface="Microsoft JhengHei"/>
                <a:cs typeface="Microsoft JhengHei"/>
              </a:defRPr>
            </a:lvl6pPr>
            <a:lvl7pPr>
              <a:defRPr sz="1725" b="0">
                <a:solidFill>
                  <a:srgbClr val="526777"/>
                </a:solidFill>
                <a:latin typeface="Microsoft JhengHei"/>
                <a:ea typeface="Microsoft JhengHei"/>
                <a:cs typeface="Microsoft JhengHei"/>
              </a:defRPr>
            </a:lvl7pPr>
            <a:lvl8pPr>
              <a:defRPr sz="1725" b="0">
                <a:solidFill>
                  <a:srgbClr val="526777"/>
                </a:solidFill>
                <a:latin typeface="Microsoft JhengHei"/>
                <a:ea typeface="Microsoft JhengHei"/>
                <a:cs typeface="Microsoft JhengHei"/>
              </a:defRPr>
            </a:lvl8pPr>
            <a:lvl9pPr>
              <a:defRPr sz="1725" b="0">
                <a:solidFill>
                  <a:srgbClr val="526777"/>
                </a:solidFill>
                <a:latin typeface="Microsoft JhengHei"/>
                <a:ea typeface="Microsoft JhengHei"/>
                <a:cs typeface="Microsoft JhengHei"/>
              </a:defRPr>
            </a:lvl9pPr>
          </a:lstStyle>
          <a:p>
            <a:pPr>
              <a:defRPr sz="1725" b="0">
                <a:solidFill>
                  <a:srgbClr val="526777"/>
                </a:solidFill>
                <a:latin typeface="Microsoft JhengHei"/>
                <a:ea typeface="Microsoft JhengHei"/>
                <a:cs typeface="Microsoft JhengHei"/>
              </a:defRPr>
            </a:pPr>
            <a:r>
              <a:rPr sz="1725" b="0">
                <a:solidFill>
                  <a:srgbClr val="526777"/>
                </a:solidFill>
                <a:latin typeface="Microsoft JhengHei"/>
                <a:ea typeface="Microsoft JhengHei"/>
                <a:cs typeface="Microsoft JhengHei"/>
              </a:rPr>
              <a:t>完善專案現場實地勘查後之工程技術方案與相關對接文件。</a:t>
            </a:r>
          </a:p>
        </p:txBody>
      </p:sp>
      <p:sp>
        <p:nvSpPr>
          <p:cNvPr id="11" name="Rectangle 10">
            <a:extLst>
              <a:ext uri="{FF2B5EF4-FFF2-40B4-BE49-F238E27FC236}">
                <a16:creationId xmlns:a16="http://schemas.microsoft.com/office/drawing/2014/main" id="{92B80DE3-0F39-4A34-BA3A-C15037B06BBD}"/>
              </a:ext>
            </a:extLst>
          </p:cNvPr>
          <p:cNvSpPr>
            <a:spLocks noGrp="1"/>
          </p:cNvSpPr>
          <p:nvPr/>
        </p:nvSpPr>
        <p:spPr>
          <a:xfrm>
            <a:off x="571500" y="4667250"/>
            <a:ext cx="428625" cy="400050"/>
          </a:xfrm>
          <a:prstGeom prst="rect">
            <a:avLst/>
          </a:prstGeom>
          <a:noFill/>
          <a:ln w="0">
            <a:noFill/>
          </a:ln>
        </p:spPr>
        <p:txBody>
          <a:bodyPr lIns="0" tIns="0" rIns="0" bIns="0" anchor="t"/>
          <a:lstStyle>
            <a:defPPr>
              <a:defRPr sz="2250" b="1">
                <a:solidFill>
                  <a:srgbClr val="007F86"/>
                </a:solidFill>
                <a:latin typeface="Calibri"/>
                <a:ea typeface="Calibri"/>
                <a:cs typeface="Calibri"/>
              </a:defRPr>
            </a:defPPr>
            <a:lvl1pPr>
              <a:defRPr sz="2250" b="1">
                <a:solidFill>
                  <a:srgbClr val="007F86"/>
                </a:solidFill>
                <a:latin typeface="Calibri"/>
                <a:ea typeface="Calibri"/>
                <a:cs typeface="Calibri"/>
              </a:defRPr>
            </a:lvl1pPr>
            <a:lvl2pPr>
              <a:defRPr sz="2250" b="1">
                <a:solidFill>
                  <a:srgbClr val="007F86"/>
                </a:solidFill>
                <a:latin typeface="Calibri"/>
                <a:ea typeface="Calibri"/>
                <a:cs typeface="Calibri"/>
              </a:defRPr>
            </a:lvl2pPr>
            <a:lvl3pPr>
              <a:defRPr sz="2250" b="1">
                <a:solidFill>
                  <a:srgbClr val="007F86"/>
                </a:solidFill>
                <a:latin typeface="Calibri"/>
                <a:ea typeface="Calibri"/>
                <a:cs typeface="Calibri"/>
              </a:defRPr>
            </a:lvl3pPr>
            <a:lvl4pPr>
              <a:defRPr sz="2250" b="1">
                <a:solidFill>
                  <a:srgbClr val="007F86"/>
                </a:solidFill>
                <a:latin typeface="Calibri"/>
                <a:ea typeface="Calibri"/>
                <a:cs typeface="Calibri"/>
              </a:defRPr>
            </a:lvl4pPr>
            <a:lvl5pPr>
              <a:defRPr sz="2250" b="1">
                <a:solidFill>
                  <a:srgbClr val="007F86"/>
                </a:solidFill>
                <a:latin typeface="Calibri"/>
                <a:ea typeface="Calibri"/>
                <a:cs typeface="Calibri"/>
              </a:defRPr>
            </a:lvl5pPr>
            <a:lvl6pPr>
              <a:defRPr sz="2250" b="1">
                <a:solidFill>
                  <a:srgbClr val="007F86"/>
                </a:solidFill>
                <a:latin typeface="Calibri"/>
                <a:ea typeface="Calibri"/>
                <a:cs typeface="Calibri"/>
              </a:defRPr>
            </a:lvl6pPr>
            <a:lvl7pPr>
              <a:defRPr sz="2250" b="1">
                <a:solidFill>
                  <a:srgbClr val="007F86"/>
                </a:solidFill>
                <a:latin typeface="Calibri"/>
                <a:ea typeface="Calibri"/>
                <a:cs typeface="Calibri"/>
              </a:defRPr>
            </a:lvl7pPr>
            <a:lvl8pPr>
              <a:defRPr sz="2250" b="1">
                <a:solidFill>
                  <a:srgbClr val="007F86"/>
                </a:solidFill>
                <a:latin typeface="Calibri"/>
                <a:ea typeface="Calibri"/>
                <a:cs typeface="Calibri"/>
              </a:defRPr>
            </a:lvl8pPr>
            <a:lvl9pPr>
              <a:defRPr sz="2250" b="1">
                <a:solidFill>
                  <a:srgbClr val="007F86"/>
                </a:solidFill>
                <a:latin typeface="Calibri"/>
                <a:ea typeface="Calibri"/>
                <a:cs typeface="Calibri"/>
              </a:defRPr>
            </a:lvl9pPr>
          </a:lstStyle>
          <a:p>
            <a:pPr>
              <a:defRPr sz="2250" b="1">
                <a:solidFill>
                  <a:srgbClr val="007F86"/>
                </a:solidFill>
                <a:latin typeface="Calibri"/>
                <a:ea typeface="Calibri"/>
                <a:cs typeface="Calibri"/>
              </a:defRPr>
            </a:pPr>
            <a:r>
              <a:rPr sz="2250" b="1">
                <a:solidFill>
                  <a:srgbClr val="007F86"/>
                </a:solidFill>
                <a:latin typeface="Calibri"/>
                <a:ea typeface="Calibri"/>
                <a:cs typeface="Calibri"/>
              </a:rPr>
              <a:t>03</a:t>
            </a:r>
          </a:p>
        </p:txBody>
      </p:sp>
      <p:sp>
        <p:nvSpPr>
          <p:cNvPr id="12" name="Rectangle 11">
            <a:extLst>
              <a:ext uri="{FF2B5EF4-FFF2-40B4-BE49-F238E27FC236}">
                <a16:creationId xmlns:a16="http://schemas.microsoft.com/office/drawing/2014/main" id="{7520D261-1C3D-48E0-90DF-813D377CDCD4}"/>
              </a:ext>
            </a:extLst>
          </p:cNvPr>
          <p:cNvSpPr>
            <a:spLocks noGrp="1"/>
          </p:cNvSpPr>
          <p:nvPr/>
        </p:nvSpPr>
        <p:spPr>
          <a:xfrm>
            <a:off x="1123950" y="4667250"/>
            <a:ext cx="5810250" cy="1238250"/>
          </a:xfrm>
          <a:prstGeom prst="rect">
            <a:avLst/>
          </a:prstGeom>
          <a:noFill/>
          <a:ln w="0">
            <a:noFill/>
          </a:ln>
        </p:spPr>
        <p:txBody>
          <a:bodyPr lIns="0" tIns="0" rIns="0" bIns="0" anchor="t"/>
          <a:lstStyle>
            <a:defPPr>
              <a:defRPr sz="1875" b="0">
                <a:solidFill>
                  <a:srgbClr val="20384B"/>
                </a:solidFill>
                <a:latin typeface="Calibri"/>
                <a:ea typeface="Calibri"/>
                <a:cs typeface="Calibri"/>
              </a:defRPr>
            </a:defPPr>
            <a:lvl1pPr>
              <a:defRPr sz="1875" b="0">
                <a:solidFill>
                  <a:srgbClr val="20384B"/>
                </a:solidFill>
                <a:latin typeface="Calibri"/>
                <a:ea typeface="Calibri"/>
                <a:cs typeface="Calibri"/>
              </a:defRPr>
            </a:lvl1pPr>
            <a:lvl2pPr>
              <a:defRPr sz="1875" b="0">
                <a:solidFill>
                  <a:srgbClr val="20384B"/>
                </a:solidFill>
                <a:latin typeface="Calibri"/>
                <a:ea typeface="Calibri"/>
                <a:cs typeface="Calibri"/>
              </a:defRPr>
            </a:lvl2pPr>
            <a:lvl3pPr>
              <a:defRPr sz="1875" b="0">
                <a:solidFill>
                  <a:srgbClr val="20384B"/>
                </a:solidFill>
                <a:latin typeface="Calibri"/>
                <a:ea typeface="Calibri"/>
                <a:cs typeface="Calibri"/>
              </a:defRPr>
            </a:lvl3pPr>
            <a:lvl4pPr>
              <a:defRPr sz="1875" b="0">
                <a:solidFill>
                  <a:srgbClr val="20384B"/>
                </a:solidFill>
                <a:latin typeface="Calibri"/>
                <a:ea typeface="Calibri"/>
                <a:cs typeface="Calibri"/>
              </a:defRPr>
            </a:lvl4pPr>
            <a:lvl5pPr>
              <a:defRPr sz="1875" b="0">
                <a:solidFill>
                  <a:srgbClr val="20384B"/>
                </a:solidFill>
                <a:latin typeface="Calibri"/>
                <a:ea typeface="Calibri"/>
                <a:cs typeface="Calibri"/>
              </a:defRPr>
            </a:lvl5pPr>
            <a:lvl6pPr>
              <a:defRPr sz="1875" b="0">
                <a:solidFill>
                  <a:srgbClr val="20384B"/>
                </a:solidFill>
                <a:latin typeface="Calibri"/>
                <a:ea typeface="Calibri"/>
                <a:cs typeface="Calibri"/>
              </a:defRPr>
            </a:lvl6pPr>
            <a:lvl7pPr>
              <a:defRPr sz="1875" b="0">
                <a:solidFill>
                  <a:srgbClr val="20384B"/>
                </a:solidFill>
                <a:latin typeface="Calibri"/>
                <a:ea typeface="Calibri"/>
                <a:cs typeface="Calibri"/>
              </a:defRPr>
            </a:lvl7pPr>
            <a:lvl8pPr>
              <a:defRPr sz="1875" b="0">
                <a:solidFill>
                  <a:srgbClr val="20384B"/>
                </a:solidFill>
                <a:latin typeface="Calibri"/>
                <a:ea typeface="Calibri"/>
                <a:cs typeface="Calibri"/>
              </a:defRPr>
            </a:lvl8pPr>
            <a:lvl9pPr>
              <a:defRPr sz="1875" b="0">
                <a:solidFill>
                  <a:srgbClr val="20384B"/>
                </a:solidFill>
                <a:latin typeface="Calibri"/>
                <a:ea typeface="Calibri"/>
                <a:cs typeface="Calibri"/>
              </a:defRPr>
            </a:lvl9pPr>
          </a:lstStyle>
          <a:p>
            <a:pPr>
              <a:defRPr sz="1875" b="0">
                <a:solidFill>
                  <a:srgbClr val="20384B"/>
                </a:solidFill>
                <a:latin typeface="Calibri"/>
                <a:ea typeface="Calibri"/>
                <a:cs typeface="Calibri"/>
              </a:defRPr>
            </a:pPr>
            <a:r>
              <a:rPr sz="1875" b="0">
                <a:solidFill>
                  <a:srgbClr val="20384B"/>
                </a:solidFill>
                <a:latin typeface="Calibri"/>
                <a:ea typeface="Calibri"/>
                <a:cs typeface="Calibri"/>
              </a:rPr>
              <a:t>Quản lý, kiểm soát danh mục thiết bị Darfon đã nhận và triển khai hiệu quả các nội dung công việc anh Sung bàn giao.</a:t>
            </a:r>
          </a:p>
        </p:txBody>
      </p:sp>
      <p:sp>
        <p:nvSpPr>
          <p:cNvPr id="13" name="Rectangle 12">
            <a:extLst>
              <a:ext uri="{FF2B5EF4-FFF2-40B4-BE49-F238E27FC236}">
                <a16:creationId xmlns:a16="http://schemas.microsoft.com/office/drawing/2014/main" id="{B8C48774-8852-4061-9CC9-F13C181ED49D}"/>
              </a:ext>
            </a:extLst>
          </p:cNvPr>
          <p:cNvSpPr>
            <a:spLocks noGrp="1"/>
          </p:cNvSpPr>
          <p:nvPr/>
        </p:nvSpPr>
        <p:spPr>
          <a:xfrm>
            <a:off x="7315200" y="4686300"/>
            <a:ext cx="4267200" cy="1238250"/>
          </a:xfrm>
          <a:prstGeom prst="rect">
            <a:avLst/>
          </a:prstGeom>
          <a:noFill/>
          <a:ln w="0">
            <a:noFill/>
          </a:ln>
        </p:spPr>
        <p:txBody>
          <a:bodyPr lIns="0" tIns="0" rIns="0" bIns="0" anchor="t"/>
          <a:lstStyle>
            <a:defPPr>
              <a:defRPr sz="1725" b="0">
                <a:solidFill>
                  <a:srgbClr val="526777"/>
                </a:solidFill>
                <a:latin typeface="Microsoft JhengHei"/>
                <a:ea typeface="Microsoft JhengHei"/>
                <a:cs typeface="Microsoft JhengHei"/>
              </a:defRPr>
            </a:defPPr>
            <a:lvl1pPr>
              <a:defRPr sz="1725" b="0">
                <a:solidFill>
                  <a:srgbClr val="526777"/>
                </a:solidFill>
                <a:latin typeface="Microsoft JhengHei"/>
                <a:ea typeface="Microsoft JhengHei"/>
                <a:cs typeface="Microsoft JhengHei"/>
              </a:defRPr>
            </a:lvl1pPr>
            <a:lvl2pPr>
              <a:defRPr sz="1725" b="0">
                <a:solidFill>
                  <a:srgbClr val="526777"/>
                </a:solidFill>
                <a:latin typeface="Microsoft JhengHei"/>
                <a:ea typeface="Microsoft JhengHei"/>
                <a:cs typeface="Microsoft JhengHei"/>
              </a:defRPr>
            </a:lvl2pPr>
            <a:lvl3pPr>
              <a:defRPr sz="1725" b="0">
                <a:solidFill>
                  <a:srgbClr val="526777"/>
                </a:solidFill>
                <a:latin typeface="Microsoft JhengHei"/>
                <a:ea typeface="Microsoft JhengHei"/>
                <a:cs typeface="Microsoft JhengHei"/>
              </a:defRPr>
            </a:lvl3pPr>
            <a:lvl4pPr>
              <a:defRPr sz="1725" b="0">
                <a:solidFill>
                  <a:srgbClr val="526777"/>
                </a:solidFill>
                <a:latin typeface="Microsoft JhengHei"/>
                <a:ea typeface="Microsoft JhengHei"/>
                <a:cs typeface="Microsoft JhengHei"/>
              </a:defRPr>
            </a:lvl4pPr>
            <a:lvl5pPr>
              <a:defRPr sz="1725" b="0">
                <a:solidFill>
                  <a:srgbClr val="526777"/>
                </a:solidFill>
                <a:latin typeface="Microsoft JhengHei"/>
                <a:ea typeface="Microsoft JhengHei"/>
                <a:cs typeface="Microsoft JhengHei"/>
              </a:defRPr>
            </a:lvl5pPr>
            <a:lvl6pPr>
              <a:defRPr sz="1725" b="0">
                <a:solidFill>
                  <a:srgbClr val="526777"/>
                </a:solidFill>
                <a:latin typeface="Microsoft JhengHei"/>
                <a:ea typeface="Microsoft JhengHei"/>
                <a:cs typeface="Microsoft JhengHei"/>
              </a:defRPr>
            </a:lvl6pPr>
            <a:lvl7pPr>
              <a:defRPr sz="1725" b="0">
                <a:solidFill>
                  <a:srgbClr val="526777"/>
                </a:solidFill>
                <a:latin typeface="Microsoft JhengHei"/>
                <a:ea typeface="Microsoft JhengHei"/>
                <a:cs typeface="Microsoft JhengHei"/>
              </a:defRPr>
            </a:lvl7pPr>
            <a:lvl8pPr>
              <a:defRPr sz="1725" b="0">
                <a:solidFill>
                  <a:srgbClr val="526777"/>
                </a:solidFill>
                <a:latin typeface="Microsoft JhengHei"/>
                <a:ea typeface="Microsoft JhengHei"/>
                <a:cs typeface="Microsoft JhengHei"/>
              </a:defRPr>
            </a:lvl8pPr>
            <a:lvl9pPr>
              <a:defRPr sz="1725" b="0">
                <a:solidFill>
                  <a:srgbClr val="526777"/>
                </a:solidFill>
                <a:latin typeface="Microsoft JhengHei"/>
                <a:ea typeface="Microsoft JhengHei"/>
                <a:cs typeface="Microsoft JhengHei"/>
              </a:defRPr>
            </a:lvl9pPr>
          </a:lstStyle>
          <a:p>
            <a:pPr>
              <a:defRPr sz="1725" b="0">
                <a:solidFill>
                  <a:srgbClr val="526777"/>
                </a:solidFill>
                <a:latin typeface="Microsoft JhengHei"/>
                <a:ea typeface="Microsoft JhengHei"/>
                <a:cs typeface="Microsoft JhengHei"/>
              </a:defRPr>
            </a:pPr>
            <a:r>
              <a:rPr sz="1725" b="0">
                <a:solidFill>
                  <a:srgbClr val="526777"/>
                </a:solidFill>
                <a:latin typeface="Microsoft JhengHei"/>
                <a:ea typeface="Microsoft JhengHei"/>
                <a:cs typeface="Microsoft JhengHei"/>
              </a:rPr>
              <a:t>妥善管理達方（Darfon）進貨設備清冊，穩步推進落實 Sung 主管交接之各項專案任務。</a:t>
            </a:r>
          </a:p>
        </p:txBody>
      </p:sp>
    </p:spTree>
    <p:extLst>
      <p:ext uri="{BB962C8B-B14F-4D97-AF65-F5344CB8AC3E}">
        <p14:creationId xmlns:p14="http://schemas.microsoft.com/office/powerpoint/2010/main" val="77402649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1481</Words>
  <Application>Microsoft Office PowerPoint</Application>
  <DocSecurity>0</DocSecurity>
  <PresentationFormat>Widescreen</PresentationFormat>
  <Paragraphs>183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Microsoft JhengHei</vt: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湯唯豊</cp:lastModifiedBy>
  <cp:revision>4</cp:revision>
  <dcterms:created xsi:type="dcterms:W3CDTF">2026-10-30T04:02:25Z</dcterms:created>
  <dcterms:modified xsi:type="dcterms:W3CDTF">2026-10-30T07:47:35Z</dcterms:modified>
</cp:coreProperties>
</file>